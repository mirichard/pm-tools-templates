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896" r:id="rId1"/>
  </p:sldMasterIdLst>
  <p:notesMasterIdLst>
    <p:notesMasterId r:id="rId60"/>
  </p:notesMasterIdLst>
  <p:handoutMasterIdLst>
    <p:handoutMasterId r:id="rId61"/>
  </p:handoutMasterIdLst>
  <p:sldIdLst>
    <p:sldId id="304" r:id="rId2"/>
    <p:sldId id="306" r:id="rId3"/>
    <p:sldId id="309" r:id="rId4"/>
    <p:sldId id="310" r:id="rId5"/>
    <p:sldId id="311" r:id="rId6"/>
    <p:sldId id="364" r:id="rId7"/>
    <p:sldId id="314" r:id="rId8"/>
    <p:sldId id="365" r:id="rId9"/>
    <p:sldId id="366" r:id="rId10"/>
    <p:sldId id="367" r:id="rId11"/>
    <p:sldId id="368" r:id="rId12"/>
    <p:sldId id="369" r:id="rId13"/>
    <p:sldId id="370" r:id="rId14"/>
    <p:sldId id="321" r:id="rId15"/>
    <p:sldId id="322" r:id="rId16"/>
    <p:sldId id="323" r:id="rId17"/>
    <p:sldId id="371" r:id="rId18"/>
    <p:sldId id="325" r:id="rId19"/>
    <p:sldId id="326" r:id="rId20"/>
    <p:sldId id="327" r:id="rId21"/>
    <p:sldId id="328" r:id="rId22"/>
    <p:sldId id="329"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50" r:id="rId42"/>
    <p:sldId id="351" r:id="rId43"/>
    <p:sldId id="352" r:id="rId44"/>
    <p:sldId id="353" r:id="rId45"/>
    <p:sldId id="354" r:id="rId46"/>
    <p:sldId id="355" r:id="rId47"/>
    <p:sldId id="356" r:id="rId48"/>
    <p:sldId id="357" r:id="rId49"/>
    <p:sldId id="358" r:id="rId50"/>
    <p:sldId id="372" r:id="rId51"/>
    <p:sldId id="373" r:id="rId52"/>
    <p:sldId id="374" r:id="rId53"/>
    <p:sldId id="359" r:id="rId54"/>
    <p:sldId id="360" r:id="rId55"/>
    <p:sldId id="361" r:id="rId56"/>
    <p:sldId id="362" r:id="rId57"/>
    <p:sldId id="363" r:id="rId58"/>
    <p:sldId id="275" r:id="rId59"/>
  </p:sldIdLst>
  <p:sldSz cx="9144000" cy="6858000" type="screen4x3"/>
  <p:notesSz cx="6794500" cy="9906000"/>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92D400"/>
    <a:srgbClr val="002776"/>
    <a:srgbClr val="000308"/>
    <a:srgbClr val="00A1DE"/>
    <a:srgbClr val="7F7F7F"/>
    <a:srgbClr val="72C7E7"/>
    <a:srgbClr val="3C8A2D"/>
    <a:srgbClr val="C9DD03"/>
    <a:srgbClr val="97A602"/>
    <a:srgbClr val="0079A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35" autoAdjust="0"/>
    <p:restoredTop sz="98579" autoAdjust="0"/>
  </p:normalViewPr>
  <p:slideViewPr>
    <p:cSldViewPr snapToGrid="0">
      <p:cViewPr varScale="1">
        <p:scale>
          <a:sx n="73" d="100"/>
          <a:sy n="73" d="100"/>
        </p:scale>
        <p:origin x="-1188" y="-102"/>
      </p:cViewPr>
      <p:guideLst>
        <p:guide orient="horz" pos="882"/>
        <p:guide orient="horz" pos="491"/>
        <p:guide orient="horz" pos="158"/>
        <p:guide orient="horz" pos="4166"/>
        <p:guide orient="horz" pos="727"/>
        <p:guide orient="horz" pos="4274"/>
        <p:guide orient="horz" pos="3960"/>
        <p:guide orient="horz" pos="3027"/>
        <p:guide pos="2882"/>
        <p:guide pos="255"/>
        <p:guide pos="5509"/>
        <p:guide pos="2982"/>
        <p:guide pos="2778"/>
        <p:guide pos="369"/>
        <p:guide pos="5391"/>
        <p:guide pos="125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61038"/>
    </p:cViewPr>
  </p:sorterViewPr>
  <p:notesViewPr>
    <p:cSldViewPr snapToGrid="0">
      <p:cViewPr varScale="1">
        <p:scale>
          <a:sx n="47" d="100"/>
          <a:sy n="47" d="100"/>
        </p:scale>
        <p:origin x="-3012" y="-108"/>
      </p:cViewPr>
      <p:guideLst>
        <p:guide orient="horz" pos="3120"/>
        <p:guide pos="214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45857" cy="493947"/>
          </a:xfrm>
          <a:prstGeom prst="rect">
            <a:avLst/>
          </a:prstGeom>
          <a:noFill/>
          <a:ln w="9525">
            <a:noFill/>
            <a:miter lim="800000"/>
            <a:headEnd/>
            <a:tailEnd/>
          </a:ln>
        </p:spPr>
        <p:txBody>
          <a:bodyPr vert="horz" wrap="square" lIns="63442" tIns="31721" rIns="63442" bIns="31721" numCol="1" anchor="t" anchorCtr="0" compatLnSpc="1">
            <a:prstTxWarp prst="textNoShape">
              <a:avLst/>
            </a:prstTxWarp>
          </a:bodyPr>
          <a:lstStyle>
            <a:lvl1pPr algn="l" defTabSz="635000">
              <a:spcBef>
                <a:spcPct val="0"/>
              </a:spcBef>
              <a:defRPr sz="800" b="0"/>
            </a:lvl1pPr>
          </a:lstStyle>
          <a:p>
            <a:endParaRPr lang="en-GB" dirty="0"/>
          </a:p>
        </p:txBody>
      </p:sp>
      <p:sp>
        <p:nvSpPr>
          <p:cNvPr id="3" name="Date Placeholder 2"/>
          <p:cNvSpPr>
            <a:spLocks noGrp="1"/>
          </p:cNvSpPr>
          <p:nvPr>
            <p:ph type="dt" sz="quarter" idx="1"/>
          </p:nvPr>
        </p:nvSpPr>
        <p:spPr bwMode="auto">
          <a:xfrm>
            <a:off x="3848645" y="0"/>
            <a:ext cx="2944283" cy="493947"/>
          </a:xfrm>
          <a:prstGeom prst="rect">
            <a:avLst/>
          </a:prstGeom>
          <a:noFill/>
          <a:ln w="9525">
            <a:noFill/>
            <a:miter lim="800000"/>
            <a:headEnd/>
            <a:tailEnd/>
          </a:ln>
        </p:spPr>
        <p:txBody>
          <a:bodyPr vert="horz" wrap="square" lIns="63442" tIns="31721" rIns="63442" bIns="31721" numCol="1" anchor="t" anchorCtr="0" compatLnSpc="1">
            <a:prstTxWarp prst="textNoShape">
              <a:avLst/>
            </a:prstTxWarp>
          </a:bodyPr>
          <a:lstStyle>
            <a:lvl1pPr algn="r" defTabSz="635000">
              <a:spcBef>
                <a:spcPct val="0"/>
              </a:spcBef>
              <a:defRPr sz="800" b="0"/>
            </a:lvl1pPr>
          </a:lstStyle>
          <a:p>
            <a:fld id="{55F4F54F-BFE9-4158-8CC4-DD040336CB83}" type="datetimeFigureOut">
              <a:rPr lang="en-US"/>
              <a:pPr/>
              <a:t>3/12/2012</a:t>
            </a:fld>
            <a:endParaRPr lang="en-GB" dirty="0"/>
          </a:p>
        </p:txBody>
      </p:sp>
      <p:sp>
        <p:nvSpPr>
          <p:cNvPr id="4" name="Footer Placeholder 3"/>
          <p:cNvSpPr>
            <a:spLocks noGrp="1"/>
          </p:cNvSpPr>
          <p:nvPr>
            <p:ph type="ftr" sz="quarter" idx="2"/>
          </p:nvPr>
        </p:nvSpPr>
        <p:spPr bwMode="auto">
          <a:xfrm>
            <a:off x="0" y="9410362"/>
            <a:ext cx="2945857" cy="493947"/>
          </a:xfrm>
          <a:prstGeom prst="rect">
            <a:avLst/>
          </a:prstGeom>
          <a:noFill/>
          <a:ln w="9525">
            <a:noFill/>
            <a:miter lim="800000"/>
            <a:headEnd/>
            <a:tailEnd/>
          </a:ln>
        </p:spPr>
        <p:txBody>
          <a:bodyPr vert="horz" wrap="square" lIns="63442" tIns="31721" rIns="63442" bIns="31721" numCol="1" anchor="b" anchorCtr="0" compatLnSpc="1">
            <a:prstTxWarp prst="textNoShape">
              <a:avLst/>
            </a:prstTxWarp>
          </a:bodyPr>
          <a:lstStyle>
            <a:lvl1pPr algn="l" defTabSz="635000">
              <a:spcBef>
                <a:spcPct val="0"/>
              </a:spcBef>
              <a:defRPr sz="800" b="0"/>
            </a:lvl1pPr>
          </a:lstStyle>
          <a:p>
            <a:endParaRPr lang="en-GB" dirty="0"/>
          </a:p>
        </p:txBody>
      </p:sp>
      <p:sp>
        <p:nvSpPr>
          <p:cNvPr id="5" name="Slide Number Placeholder 4"/>
          <p:cNvSpPr>
            <a:spLocks noGrp="1"/>
          </p:cNvSpPr>
          <p:nvPr>
            <p:ph type="sldNum" sz="quarter" idx="3"/>
          </p:nvPr>
        </p:nvSpPr>
        <p:spPr bwMode="auto">
          <a:xfrm>
            <a:off x="3848645" y="9410362"/>
            <a:ext cx="2944283" cy="493947"/>
          </a:xfrm>
          <a:prstGeom prst="rect">
            <a:avLst/>
          </a:prstGeom>
          <a:noFill/>
          <a:ln w="9525">
            <a:noFill/>
            <a:miter lim="800000"/>
            <a:headEnd/>
            <a:tailEnd/>
          </a:ln>
        </p:spPr>
        <p:txBody>
          <a:bodyPr vert="horz" wrap="square" lIns="63442" tIns="31721" rIns="63442" bIns="31721" numCol="1" anchor="b" anchorCtr="0" compatLnSpc="1">
            <a:prstTxWarp prst="textNoShape">
              <a:avLst/>
            </a:prstTxWarp>
          </a:bodyPr>
          <a:lstStyle>
            <a:lvl1pPr algn="r" defTabSz="635000">
              <a:spcBef>
                <a:spcPct val="0"/>
              </a:spcBef>
              <a:defRPr sz="800" b="0"/>
            </a:lvl1pPr>
          </a:lstStyle>
          <a:p>
            <a:fld id="{4A1FC2AB-82DE-43D4-878D-2B0CA2799EF2}" type="slidenum">
              <a:rPr lang="en-GB"/>
              <a:pPr/>
              <a:t>‹#›</a:t>
            </a:fld>
            <a:endParaRPr lang="en-GB" dirty="0"/>
          </a:p>
        </p:txBody>
      </p:sp>
    </p:spTree>
    <p:extLst>
      <p:ext uri="{BB962C8B-B14F-4D97-AF65-F5344CB8AC3E}">
        <p14:creationId xmlns:p14="http://schemas.microsoft.com/office/powerpoint/2010/main" xmlns="" val="2330991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45857" cy="493947"/>
          </a:xfrm>
          <a:prstGeom prst="rect">
            <a:avLst/>
          </a:prstGeom>
          <a:noFill/>
          <a:ln w="9525">
            <a:noFill/>
            <a:miter lim="800000"/>
            <a:headEnd/>
            <a:tailEnd/>
          </a:ln>
        </p:spPr>
        <p:txBody>
          <a:bodyPr vert="horz" wrap="square" lIns="96723" tIns="48362" rIns="96723" bIns="48362" numCol="1" anchor="t" anchorCtr="0" compatLnSpc="1">
            <a:prstTxWarp prst="textNoShape">
              <a:avLst/>
            </a:prstTxWarp>
          </a:bodyPr>
          <a:lstStyle>
            <a:lvl1pPr algn="l" defTabSz="635000">
              <a:spcBef>
                <a:spcPct val="0"/>
              </a:spcBef>
              <a:defRPr sz="1200" b="0"/>
            </a:lvl1pPr>
          </a:lstStyle>
          <a:p>
            <a:endParaRPr lang="en-GB" dirty="0"/>
          </a:p>
        </p:txBody>
      </p:sp>
      <p:sp>
        <p:nvSpPr>
          <p:cNvPr id="3" name="Date Placeholder 2"/>
          <p:cNvSpPr>
            <a:spLocks noGrp="1"/>
          </p:cNvSpPr>
          <p:nvPr>
            <p:ph type="dt" idx="1"/>
          </p:nvPr>
        </p:nvSpPr>
        <p:spPr bwMode="auto">
          <a:xfrm>
            <a:off x="3848645" y="0"/>
            <a:ext cx="2944283" cy="493947"/>
          </a:xfrm>
          <a:prstGeom prst="rect">
            <a:avLst/>
          </a:prstGeom>
          <a:noFill/>
          <a:ln w="9525">
            <a:noFill/>
            <a:miter lim="800000"/>
            <a:headEnd/>
            <a:tailEnd/>
          </a:ln>
        </p:spPr>
        <p:txBody>
          <a:bodyPr vert="horz" wrap="square" lIns="96723" tIns="48362" rIns="96723" bIns="48362" numCol="1" anchor="t" anchorCtr="0" compatLnSpc="1">
            <a:prstTxWarp prst="textNoShape">
              <a:avLst/>
            </a:prstTxWarp>
          </a:bodyPr>
          <a:lstStyle>
            <a:lvl1pPr algn="r" defTabSz="635000">
              <a:spcBef>
                <a:spcPct val="0"/>
              </a:spcBef>
              <a:defRPr sz="1200" b="0"/>
            </a:lvl1pPr>
          </a:lstStyle>
          <a:p>
            <a:fld id="{48C56040-B352-4CF8-B5D5-F47EA68AB32D}" type="datetimeFigureOut">
              <a:rPr lang="en-US"/>
              <a:pPr/>
              <a:t>3/12/2012</a:t>
            </a:fld>
            <a:endParaRPr lang="en-GB" dirty="0"/>
          </a:p>
        </p:txBody>
      </p:sp>
      <p:sp>
        <p:nvSpPr>
          <p:cNvPr id="5" name="Notes Placeholder 4"/>
          <p:cNvSpPr>
            <a:spLocks noGrp="1"/>
          </p:cNvSpPr>
          <p:nvPr>
            <p:ph type="body" sz="quarter" idx="3"/>
          </p:nvPr>
        </p:nvSpPr>
        <p:spPr bwMode="gray">
          <a:xfrm>
            <a:off x="677878" y="4706027"/>
            <a:ext cx="5438746" cy="92640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smtClean="0"/>
          </a:p>
        </p:txBody>
      </p:sp>
      <p:sp>
        <p:nvSpPr>
          <p:cNvPr id="6" name="Footer Placeholder 5"/>
          <p:cNvSpPr>
            <a:spLocks noGrp="1"/>
          </p:cNvSpPr>
          <p:nvPr>
            <p:ph type="ftr" sz="quarter" idx="4"/>
          </p:nvPr>
        </p:nvSpPr>
        <p:spPr bwMode="auto">
          <a:xfrm>
            <a:off x="0" y="9410362"/>
            <a:ext cx="2945857" cy="493947"/>
          </a:xfrm>
          <a:prstGeom prst="rect">
            <a:avLst/>
          </a:prstGeom>
          <a:noFill/>
          <a:ln w="9525">
            <a:noFill/>
            <a:miter lim="800000"/>
            <a:headEnd/>
            <a:tailEnd/>
          </a:ln>
        </p:spPr>
        <p:txBody>
          <a:bodyPr vert="horz" wrap="square" lIns="96723" tIns="48362" rIns="96723" bIns="48362" numCol="1" anchor="b" anchorCtr="0" compatLnSpc="1">
            <a:prstTxWarp prst="textNoShape">
              <a:avLst/>
            </a:prstTxWarp>
          </a:bodyPr>
          <a:lstStyle>
            <a:lvl1pPr algn="l" defTabSz="635000">
              <a:spcBef>
                <a:spcPct val="0"/>
              </a:spcBef>
              <a:defRPr sz="1200" b="0"/>
            </a:lvl1pPr>
          </a:lstStyle>
          <a:p>
            <a:endParaRPr lang="en-GB" dirty="0"/>
          </a:p>
        </p:txBody>
      </p:sp>
      <p:sp>
        <p:nvSpPr>
          <p:cNvPr id="7" name="Slide Number Placeholder 6"/>
          <p:cNvSpPr>
            <a:spLocks noGrp="1"/>
          </p:cNvSpPr>
          <p:nvPr>
            <p:ph type="sldNum" sz="quarter" idx="5"/>
          </p:nvPr>
        </p:nvSpPr>
        <p:spPr bwMode="auto">
          <a:xfrm>
            <a:off x="3848645" y="9410362"/>
            <a:ext cx="2944283" cy="493947"/>
          </a:xfrm>
          <a:prstGeom prst="rect">
            <a:avLst/>
          </a:prstGeom>
          <a:noFill/>
          <a:ln w="9525">
            <a:noFill/>
            <a:miter lim="800000"/>
            <a:headEnd/>
            <a:tailEnd/>
          </a:ln>
        </p:spPr>
        <p:txBody>
          <a:bodyPr vert="horz" wrap="square" lIns="96723" tIns="48362" rIns="96723" bIns="48362" numCol="1" anchor="b" anchorCtr="0" compatLnSpc="1">
            <a:prstTxWarp prst="textNoShape">
              <a:avLst/>
            </a:prstTxWarp>
          </a:bodyPr>
          <a:lstStyle>
            <a:lvl1pPr algn="r" defTabSz="635000">
              <a:spcBef>
                <a:spcPct val="0"/>
              </a:spcBef>
              <a:defRPr sz="1200" b="0"/>
            </a:lvl1pPr>
          </a:lstStyle>
          <a:p>
            <a:fld id="{F6715F80-3722-40A8-A13B-913CAEEA0A98}" type="slidenum">
              <a:rPr lang="en-GB"/>
              <a:pPr/>
              <a:t>‹#›</a:t>
            </a:fld>
            <a:endParaRPr lang="en-GB" dirty="0"/>
          </a:p>
        </p:txBody>
      </p:sp>
      <p:sp>
        <p:nvSpPr>
          <p:cNvPr id="8" name="Slide Image Placeholder 7"/>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xmlns="" val="995997941"/>
      </p:ext>
    </p:extLst>
  </p:cSld>
  <p:clrMap bg1="lt1" tx1="dk1" bg2="lt2" tx2="dk2" accent1="accent1" accent2="accent2" accent3="accent3" accent4="accent4" accent5="accent5" accent6="accent6" hlink="hlink" folHlink="folHlink"/>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4" name="Rectangle 4"/>
          <p:cNvSpPr>
            <a:spLocks noGrp="1" noRot="1" noChangeAspect="1" noTextEdit="1"/>
          </p:cNvSpPr>
          <p:nvPr>
            <p:ph type="sldImg"/>
          </p:nvPr>
        </p:nvSpPr>
        <p:spPr bwMode="auto">
          <a:xfrm>
            <a:off x="920750" y="744538"/>
            <a:ext cx="4953000" cy="3714750"/>
          </a:xfrm>
          <a:prstGeom prst="rect">
            <a:avLst/>
          </a:prstGeom>
          <a:noFill/>
          <a:ln>
            <a:solidFill>
              <a:srgbClr val="000000"/>
            </a:solidFill>
            <a:miter lim="800000"/>
            <a:headEnd/>
            <a:tailEnd/>
          </a:ln>
        </p:spPr>
      </p:sp>
      <p:sp>
        <p:nvSpPr>
          <p:cNvPr id="281605" name="Rectangle 5"/>
          <p:cNvSpPr>
            <a:spLocks noGrp="1"/>
          </p:cNvSpPr>
          <p:nvPr>
            <p:ph type="body" idx="1"/>
          </p:nvPr>
        </p:nvSpPr>
        <p:spPr>
          <a:xfrm>
            <a:off x="677878" y="4706027"/>
            <a:ext cx="5438746" cy="169277"/>
          </a:xfrm>
        </p:spPr>
        <p:txBody>
          <a:bodyPr/>
          <a:lstStyle/>
          <a:p>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TextEdit="1"/>
          </p:cNvSpPr>
          <p:nvPr>
            <p:ph type="sldImg"/>
          </p:nvPr>
        </p:nvSpPr>
        <p:spPr bwMode="auto">
          <a:xfrm>
            <a:off x="920750" y="744538"/>
            <a:ext cx="4953000" cy="3714750"/>
          </a:xfrm>
          <a:prstGeom prst="rect">
            <a:avLst/>
          </a:prstGeom>
          <a:noFill/>
          <a:ln>
            <a:solidFill>
              <a:srgbClr val="000000"/>
            </a:solidFill>
            <a:miter lim="800000"/>
            <a:headEnd/>
            <a:tailEnd/>
          </a:ln>
        </p:spPr>
      </p:sp>
      <p:sp>
        <p:nvSpPr>
          <p:cNvPr id="283651" name="Rectangle 3"/>
          <p:cNvSpPr>
            <a:spLocks noGrp="1"/>
          </p:cNvSpPr>
          <p:nvPr>
            <p:ph type="body" idx="1"/>
          </p:nvPr>
        </p:nvSpPr>
        <p:spPr>
          <a:xfrm>
            <a:off x="677878" y="4706027"/>
            <a:ext cx="5438746" cy="169277"/>
          </a:xfrm>
        </p:spPr>
        <p:txBody>
          <a:bodyPr/>
          <a:lstStyle/>
          <a:p>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Rot="1" noChangeAspect="1" noTextEdit="1"/>
          </p:cNvSpPr>
          <p:nvPr>
            <p:ph type="sldImg"/>
          </p:nvPr>
        </p:nvSpPr>
        <p:spPr bwMode="auto">
          <a:xfrm>
            <a:off x="920750" y="744538"/>
            <a:ext cx="4953000" cy="3714750"/>
          </a:xfrm>
          <a:prstGeom prst="rect">
            <a:avLst/>
          </a:prstGeo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6867" name="Rectangle 5"/>
          <p:cNvSpPr>
            <a:spLocks noGrp="1"/>
          </p:cNvSpPr>
          <p:nvPr>
            <p:ph type="body" idx="1"/>
          </p:nvPr>
        </p:nvSpPr>
        <p:spPr bwMode="auto">
          <a:xfrm>
            <a:off x="677880" y="4705353"/>
            <a:ext cx="5438746" cy="169277"/>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27</a:t>
            </a:fld>
            <a:endParaRPr lang="en-GB" dirty="0"/>
          </a:p>
        </p:txBody>
      </p:sp>
    </p:spTree>
    <p:extLst>
      <p:ext uri="{BB962C8B-B14F-4D97-AF65-F5344CB8AC3E}">
        <p14:creationId xmlns:p14="http://schemas.microsoft.com/office/powerpoint/2010/main" xmlns="" val="552359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744538"/>
            <a:ext cx="4953000" cy="3714750"/>
          </a:xfrm>
          <a:prstGeom prst="rect">
            <a:avLst/>
          </a:prstGeom>
        </p:spPr>
      </p:sp>
      <p:sp>
        <p:nvSpPr>
          <p:cNvPr id="3" name="Notes Placeholder 2"/>
          <p:cNvSpPr>
            <a:spLocks noGrp="1"/>
          </p:cNvSpPr>
          <p:nvPr>
            <p:ph type="body" idx="1"/>
          </p:nvPr>
        </p:nvSpPr>
        <p:spPr/>
        <p:txBody>
          <a:bodyPr>
            <a:normAutofit/>
          </a:bodyPr>
          <a:lstStyle/>
          <a:p>
            <a:pPr lvl="1"/>
            <a:endParaRPr lang="en-US" sz="1600" dirty="0"/>
          </a:p>
        </p:txBody>
      </p:sp>
      <p:sp>
        <p:nvSpPr>
          <p:cNvPr id="4" name="Slide Number Placeholder 3"/>
          <p:cNvSpPr>
            <a:spLocks noGrp="1"/>
          </p:cNvSpPr>
          <p:nvPr>
            <p:ph type="sldNum" sz="quarter" idx="10"/>
          </p:nvPr>
        </p:nvSpPr>
        <p:spPr/>
        <p:txBody>
          <a:bodyPr/>
          <a:lstStyle/>
          <a:p>
            <a:fld id="{88D295AA-E39E-45FF-9345-1CD43C5A01DE}" type="slidenum">
              <a:rPr lang="en-US" smtClean="0">
                <a:solidFill>
                  <a:prstClr val="black"/>
                </a:solidFill>
              </a:rPr>
              <a:pPr/>
              <a:t>32</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33</a:t>
            </a:fld>
            <a:endParaRPr lang="en-GB" dirty="0"/>
          </a:p>
        </p:txBody>
      </p:sp>
    </p:spTree>
    <p:extLst>
      <p:ext uri="{BB962C8B-B14F-4D97-AF65-F5344CB8AC3E}">
        <p14:creationId xmlns:p14="http://schemas.microsoft.com/office/powerpoint/2010/main" xmlns="" val="1331598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878" y="4706027"/>
            <a:ext cx="5438746" cy="169277"/>
          </a:xfrm>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34</a:t>
            </a:fld>
            <a:endParaRPr lang="en-GB" dirty="0"/>
          </a:p>
        </p:txBody>
      </p:sp>
    </p:spTree>
    <p:extLst>
      <p:ext uri="{BB962C8B-B14F-4D97-AF65-F5344CB8AC3E}">
        <p14:creationId xmlns:p14="http://schemas.microsoft.com/office/powerpoint/2010/main" xmlns="" val="3073142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35</a:t>
            </a:fld>
            <a:endParaRPr lang="en-GB" dirty="0"/>
          </a:p>
        </p:txBody>
      </p:sp>
    </p:spTree>
    <p:extLst>
      <p:ext uri="{BB962C8B-B14F-4D97-AF65-F5344CB8AC3E}">
        <p14:creationId xmlns:p14="http://schemas.microsoft.com/office/powerpoint/2010/main" xmlns="" val="3869879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36</a:t>
            </a:fld>
            <a:endParaRPr lang="en-GB" dirty="0"/>
          </a:p>
        </p:txBody>
      </p:sp>
    </p:spTree>
    <p:extLst>
      <p:ext uri="{BB962C8B-B14F-4D97-AF65-F5344CB8AC3E}">
        <p14:creationId xmlns:p14="http://schemas.microsoft.com/office/powerpoint/2010/main" xmlns="" val="670162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37</a:t>
            </a:fld>
            <a:endParaRPr lang="en-GB" dirty="0"/>
          </a:p>
        </p:txBody>
      </p:sp>
    </p:spTree>
    <p:extLst>
      <p:ext uri="{BB962C8B-B14F-4D97-AF65-F5344CB8AC3E}">
        <p14:creationId xmlns:p14="http://schemas.microsoft.com/office/powerpoint/2010/main" xmlns="" val="1501113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41</a:t>
            </a:fld>
            <a:endParaRPr lang="en-GB" dirty="0"/>
          </a:p>
        </p:txBody>
      </p:sp>
    </p:spTree>
    <p:extLst>
      <p:ext uri="{BB962C8B-B14F-4D97-AF65-F5344CB8AC3E}">
        <p14:creationId xmlns:p14="http://schemas.microsoft.com/office/powerpoint/2010/main" xmlns="" val="3836637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42</a:t>
            </a:fld>
            <a:endParaRPr lang="en-GB" dirty="0"/>
          </a:p>
        </p:txBody>
      </p:sp>
    </p:spTree>
    <p:extLst>
      <p:ext uri="{BB962C8B-B14F-4D97-AF65-F5344CB8AC3E}">
        <p14:creationId xmlns:p14="http://schemas.microsoft.com/office/powerpoint/2010/main" xmlns="" val="630166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45</a:t>
            </a:fld>
            <a:endParaRPr lang="en-GB" dirty="0"/>
          </a:p>
        </p:txBody>
      </p:sp>
    </p:spTree>
    <p:extLst>
      <p:ext uri="{BB962C8B-B14F-4D97-AF65-F5344CB8AC3E}">
        <p14:creationId xmlns:p14="http://schemas.microsoft.com/office/powerpoint/2010/main" xmlns="" val="568922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46</a:t>
            </a:fld>
            <a:endParaRPr lang="en-GB" dirty="0"/>
          </a:p>
        </p:txBody>
      </p:sp>
    </p:spTree>
    <p:extLst>
      <p:ext uri="{BB962C8B-B14F-4D97-AF65-F5344CB8AC3E}">
        <p14:creationId xmlns:p14="http://schemas.microsoft.com/office/powerpoint/2010/main" xmlns="" val="3728752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715F80-3722-40A8-A13B-913CAEEA0A98}" type="slidenum">
              <a:rPr lang="en-GB" smtClean="0"/>
              <a:pPr/>
              <a:t>47</a:t>
            </a:fld>
            <a:endParaRPr lang="en-GB" dirty="0"/>
          </a:p>
        </p:txBody>
      </p:sp>
    </p:spTree>
    <p:extLst>
      <p:ext uri="{BB962C8B-B14F-4D97-AF65-F5344CB8AC3E}">
        <p14:creationId xmlns:p14="http://schemas.microsoft.com/office/powerpoint/2010/main" xmlns="" val="396915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55454" y="9545408"/>
            <a:ext cx="169918" cy="184666"/>
          </a:xfrm>
          <a:prstGeom prst="rect">
            <a:avLst/>
          </a:prstGeom>
          <a:noFill/>
          <a:ln w="9525">
            <a:noFill/>
            <a:miter lim="800000"/>
            <a:headEnd/>
            <a:tailEnd/>
          </a:ln>
        </p:spPr>
        <p:txBody>
          <a:bodyPr wrap="none" lIns="0" tIns="0" rIns="0" bIns="0" anchor="b">
            <a:spAutoFit/>
          </a:bodyPr>
          <a:lstStyle/>
          <a:p>
            <a:pPr algn="l" defTabSz="635000">
              <a:spcBef>
                <a:spcPct val="0"/>
              </a:spcBef>
            </a:pPr>
            <a:fld id="{C48ED56A-DF9C-45A7-8469-0591366F9524}" type="slidenum">
              <a:rPr lang="en-GB" sz="1200" b="0"/>
              <a:pPr algn="l" defTabSz="635000">
                <a:spcBef>
                  <a:spcPct val="0"/>
                </a:spcBef>
              </a:pPr>
              <a:t>57</a:t>
            </a:fld>
            <a:endParaRPr lang="en-GB" sz="1200" b="0" dirty="0"/>
          </a:p>
        </p:txBody>
      </p:sp>
      <p:sp>
        <p:nvSpPr>
          <p:cNvPr id="66565" name="Rectangle 5"/>
          <p:cNvSpPr>
            <a:spLocks noGrp="1" noRot="1" noChangeAspect="1" noTextEdit="1"/>
          </p:cNvSpPr>
          <p:nvPr>
            <p:ph type="sldImg"/>
          </p:nvPr>
        </p:nvSpPr>
        <p:spPr bwMode="auto">
          <a:xfrm>
            <a:off x="920750" y="744538"/>
            <a:ext cx="4953000" cy="3714750"/>
          </a:xfrm>
          <a:prstGeom prst="rect">
            <a:avLst/>
          </a:prstGeom>
          <a:noFill/>
          <a:ln>
            <a:solidFill>
              <a:srgbClr val="000000"/>
            </a:solidFill>
            <a:miter lim="800000"/>
            <a:headEnd/>
            <a:tailEnd/>
          </a:ln>
        </p:spPr>
      </p:sp>
      <p:sp>
        <p:nvSpPr>
          <p:cNvPr id="66566" name="Rectangle 6"/>
          <p:cNvSpPr>
            <a:spLocks noGrp="1"/>
          </p:cNvSpPr>
          <p:nvPr>
            <p:ph type="body" idx="1"/>
          </p:nvPr>
        </p:nvSpPr>
        <p:spPr>
          <a:xfrm>
            <a:off x="677878" y="4706027"/>
            <a:ext cx="5438746" cy="169277"/>
          </a:xfrm>
        </p:spPr>
        <p:txBody>
          <a:bodyP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142999" y="2538374"/>
            <a:ext cx="4690872" cy="835761"/>
          </a:xfrm>
          <a:prstGeom prst="rect">
            <a:avLst/>
          </a:prstGeom>
        </p:spPr>
        <p:txBody>
          <a:bodyPr anchor="b" anchorCtr="0">
            <a:spAutoFit/>
          </a:bodyPr>
          <a:lstStyle>
            <a:lvl1pPr>
              <a:lnSpc>
                <a:spcPct val="85000"/>
              </a:lnSpc>
              <a:defRPr sz="3200" b="0" smtClean="0">
                <a:latin typeface="Times New Roman" pitchFamily="18" charset="0"/>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gray">
          <a:xfrm>
            <a:off x="1142999" y="3689350"/>
            <a:ext cx="4690872" cy="319380"/>
          </a:xfrm>
          <a:prstGeom prst="rect">
            <a:avLst/>
          </a:prstGeom>
        </p:spPr>
        <p:txBody>
          <a:bodyPr>
            <a:spAutoFit/>
          </a:bodyPr>
          <a:lstStyle>
            <a:lvl1pPr>
              <a:lnSpc>
                <a:spcPct val="100000"/>
              </a:lnSpc>
              <a:defRPr sz="2000" b="1" smtClean="0">
                <a:latin typeface="Arial" pitchFamily="34" charset="0"/>
              </a:defRPr>
            </a:lvl1pPr>
          </a:lstStyle>
          <a:p>
            <a:r>
              <a:rPr lang="en-US" smtClean="0"/>
              <a:t>Click to edit Master subtitle style</a:t>
            </a:r>
            <a:endParaRPr smtClean="0"/>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04813" y="303213"/>
            <a:ext cx="1636712" cy="307975"/>
          </a:xfrm>
          <a:prstGeom prst="rect">
            <a:avLst/>
          </a:prstGeom>
          <a:noFill/>
        </p:spPr>
      </p:pic>
    </p:spTree>
  </p:cSld>
  <p:clrMapOvr>
    <a:masterClrMapping/>
  </p:clrMapOv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11480" y="2773363"/>
            <a:ext cx="4325112" cy="731520"/>
          </a:xfrm>
          <a:prstGeom prst="rect">
            <a:avLst/>
          </a:prstGeom>
        </p:spPr>
        <p:txBody>
          <a:bodyPr>
            <a:spAutoFit/>
          </a:bodyPr>
          <a:lstStyle>
            <a:lvl1pPr>
              <a:lnSpc>
                <a:spcPct val="85000"/>
              </a:lnSpc>
              <a:defRPr sz="2800" b="1" smtClean="0">
                <a:latin typeface="+mj-lt"/>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gray">
          <a:xfrm>
            <a:off x="411480" y="3694176"/>
            <a:ext cx="4325112" cy="738664"/>
          </a:xfrm>
          <a:prstGeom prst="rect">
            <a:avLst/>
          </a:prstGeom>
        </p:spPr>
        <p:txBody>
          <a:bodyPr>
            <a:spAutoFit/>
          </a:bodyPr>
          <a:lstStyle>
            <a:lvl1pPr>
              <a:lnSpc>
                <a:spcPct val="100000"/>
              </a:lnSpc>
              <a:defRPr sz="2400" b="0" smtClean="0">
                <a:latin typeface="Arial" pitchFamily="34" charset="0"/>
              </a:defRPr>
            </a:lvl1pPr>
          </a:lstStyle>
          <a:p>
            <a:r>
              <a:rPr lang="en-US" smtClean="0"/>
              <a:t>Click to edit Master subtitle style</a:t>
            </a:r>
            <a:endParaRPr smtClean="0"/>
          </a:p>
        </p:txBody>
      </p:sp>
    </p:spTree>
  </p:cSld>
  <p:clrMapOvr>
    <a:masterClrMapping/>
  </p:clrMapOvr>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11480" y="2824696"/>
            <a:ext cx="8330184" cy="680186"/>
          </a:xfrm>
          <a:prstGeom prst="rect">
            <a:avLst/>
          </a:prstGeom>
        </p:spPr>
        <p:txBody>
          <a:bodyPr anchor="b" anchorCtr="0">
            <a:spAutoFit/>
          </a:bodyPr>
          <a:lstStyle>
            <a:lvl1pPr>
              <a:lnSpc>
                <a:spcPct val="85000"/>
              </a:lnSpc>
              <a:defRPr sz="5200" b="0" smtClean="0">
                <a:solidFill>
                  <a:schemeClr val="bg1"/>
                </a:solidFill>
                <a:latin typeface="Times New Roman" pitchFamily="18" charset="0"/>
                <a:cs typeface="Times New Roman" pitchFamily="18" charset="0"/>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auto">
          <a:xfrm>
            <a:off x="411480" y="3694176"/>
            <a:ext cx="8330184" cy="492443"/>
          </a:xfrm>
          <a:prstGeom prst="rect">
            <a:avLst/>
          </a:prstGeom>
        </p:spPr>
        <p:txBody>
          <a:bodyPr>
            <a:spAutoFit/>
          </a:bodyPr>
          <a:lstStyle>
            <a:lvl1pPr>
              <a:lnSpc>
                <a:spcPct val="100000"/>
              </a:lnSpc>
              <a:defRPr sz="3200" b="0" smtClean="0">
                <a:solidFill>
                  <a:schemeClr val="bg1"/>
                </a:solidFill>
                <a:latin typeface="Arial" pitchFamily="34" charset="0"/>
              </a:defRPr>
            </a:lvl1pPr>
          </a:lstStyle>
          <a:p>
            <a:r>
              <a:rPr lang="en-US" smtClean="0"/>
              <a:t>Click to edit Master subtitle style</a:t>
            </a:r>
            <a:endParaRPr smtClean="0"/>
          </a:p>
        </p:txBody>
      </p:sp>
    </p:spTree>
  </p:cSld>
  <p:clrMapOvr>
    <a:masterClrMapping/>
  </p:clrMapOvr>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5117451" cy="4882896"/>
          </a:xfrm>
          <a:prstGeom prst="rect">
            <a:avLst/>
          </a:prstGeom>
        </p:spPr>
        <p:txBody>
          <a:bodyPr vert="horz" wrap="square"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tab pos="5029200"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tab pos="5029200"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5029200" algn="r"/>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5029200"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5029200"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2896"/>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30"/>
            <a:ext cx="3999155" cy="4882896"/>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5" name="Content Placeholder 20"/>
          <p:cNvSpPr>
            <a:spLocks noGrp="1"/>
          </p:cNvSpPr>
          <p:nvPr>
            <p:ph sz="quarter" idx="12"/>
          </p:nvPr>
        </p:nvSpPr>
        <p:spPr bwMode="gray">
          <a:xfrm>
            <a:off x="4724400" y="1399030"/>
            <a:ext cx="3999155" cy="4882896"/>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1"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6" name="Content Placeholder 20"/>
          <p:cNvSpPr>
            <a:spLocks noGrp="1"/>
          </p:cNvSpPr>
          <p:nvPr>
            <p:ph sz="quarter" idx="12"/>
          </p:nvPr>
        </p:nvSpPr>
        <p:spPr bwMode="gray">
          <a:xfrm>
            <a:off x="411479" y="1399030"/>
            <a:ext cx="2651760" cy="4882896"/>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0"/>
          <p:cNvSpPr>
            <a:spLocks noGrp="1"/>
          </p:cNvSpPr>
          <p:nvPr>
            <p:ph sz="quarter" idx="13"/>
          </p:nvPr>
        </p:nvSpPr>
        <p:spPr bwMode="gray">
          <a:xfrm>
            <a:off x="3239786" y="1399030"/>
            <a:ext cx="2651760" cy="4882896"/>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0"/>
          <p:cNvSpPr>
            <a:spLocks noGrp="1"/>
          </p:cNvSpPr>
          <p:nvPr>
            <p:ph sz="quarter" idx="14"/>
          </p:nvPr>
        </p:nvSpPr>
        <p:spPr bwMode="gray">
          <a:xfrm>
            <a:off x="6060896" y="1399030"/>
            <a:ext cx="2651760" cy="4882896"/>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70248"/>
          </a:xfrm>
          <a:prstGeom prst="rect">
            <a:avLst/>
          </a:prstGeom>
        </p:spPr>
        <p:txBody>
          <a:bodyPr/>
          <a:lstStyle>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noAutofit/>
          </a:bodyPr>
          <a:lstStyle>
            <a:lvl1pPr>
              <a:defRPr sz="2000" b="1">
                <a:latin typeface="+mj-lt"/>
              </a:defRPr>
            </a:lvl1pPr>
          </a:lstStyle>
          <a:p>
            <a:pPr lvl="0"/>
            <a:r>
              <a:rPr lang="en-US" smtClean="0"/>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ts val="1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70248"/>
          </a:xfrm>
          <a:prstGeom prst="rect">
            <a:avLst/>
          </a:prstGeom>
        </p:spPr>
        <p:txBody>
          <a:bodyPr/>
          <a:lstStyle>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noAutofit/>
          </a:bodyPr>
          <a:lstStyle>
            <a:lvl1pPr>
              <a:defRPr sz="2000" b="1">
                <a:latin typeface="+mj-lt"/>
              </a:defRPr>
            </a:lvl1pPr>
          </a:lstStyle>
          <a:p>
            <a:pPr lvl="0"/>
            <a:r>
              <a:rPr lang="en-US" smtClean="0"/>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ts val="1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
        <p:nvSpPr>
          <p:cNvPr id="16"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9" name="Content Placeholder 20"/>
          <p:cNvSpPr>
            <a:spLocks noGrp="1"/>
          </p:cNvSpPr>
          <p:nvPr>
            <p:ph sz="quarter" idx="16"/>
          </p:nvPr>
        </p:nvSpPr>
        <p:spPr bwMode="gray">
          <a:xfrm>
            <a:off x="4724400" y="1873248"/>
            <a:ext cx="3999155" cy="4270248"/>
          </a:xfrm>
          <a:prstGeom prst="rect">
            <a:avLst/>
          </a:prstGeom>
        </p:spPr>
        <p:txBody>
          <a:bodyPr/>
          <a:lstStyle>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11"/>
          <p:cNvSpPr>
            <a:spLocks noGrp="1"/>
          </p:cNvSpPr>
          <p:nvPr>
            <p:ph type="body" sz="quarter" idx="17"/>
          </p:nvPr>
        </p:nvSpPr>
        <p:spPr bwMode="gray">
          <a:xfrm>
            <a:off x="4727259" y="1397000"/>
            <a:ext cx="3995928" cy="276999"/>
          </a:xfrm>
          <a:prstGeom prst="rect">
            <a:avLst/>
          </a:prstGeom>
        </p:spPr>
        <p:txBody>
          <a:bodyPr>
            <a:noAutofit/>
          </a:bodyPr>
          <a:lstStyle>
            <a:lvl1pPr>
              <a:defRPr sz="2000" b="1">
                <a:latin typeface="+mj-lt"/>
              </a:defRPr>
            </a:lvl1pPr>
          </a:lstStyle>
          <a:p>
            <a:pPr lvl="0"/>
            <a:r>
              <a:rPr lang="en-US" smtClean="0"/>
              <a:t>Click to edit Master text styles</a:t>
            </a:r>
          </a:p>
        </p:txBody>
      </p:sp>
      <p:sp>
        <p:nvSpPr>
          <p:cNvPr id="11" name="Text Placeholder 13"/>
          <p:cNvSpPr>
            <a:spLocks noGrp="1"/>
          </p:cNvSpPr>
          <p:nvPr>
            <p:ph type="body" sz="quarter" idx="18"/>
          </p:nvPr>
        </p:nvSpPr>
        <p:spPr bwMode="gray">
          <a:xfrm>
            <a:off x="4724400" y="6153912"/>
            <a:ext cx="3995928" cy="128016"/>
          </a:xfrm>
          <a:prstGeom prst="rect">
            <a:avLst/>
          </a:prstGeom>
          <a:noFill/>
          <a:ln w="12700" algn="ctr">
            <a:noFill/>
            <a:miter lim="800000"/>
            <a:headEnd/>
            <a:tailEnd/>
          </a:ln>
        </p:spPr>
        <p:txBody>
          <a:bodyPr lIns="0" tIns="0" rIns="0" bIns="0" anchor="b">
            <a:spAutoFit/>
          </a:bodyPr>
          <a:lstStyle>
            <a:lvl1pPr algn="l" rtl="0" fontAlgn="base">
              <a:lnSpc>
                <a:spcPts val="1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smtClean="0"/>
              <a:t>Click to edit Master text styles</a:t>
            </a:r>
          </a:p>
        </p:txBody>
      </p:sp>
    </p:spTree>
  </p:cSld>
  <p:clrMapOvr>
    <a:masterClrMapping/>
  </p:clrMapOvr>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4FDCBFA-1817-4C6F-951F-D51073B2E44C}" type="datetime1">
              <a:rPr lang="en-US" smtClean="0">
                <a:solidFill>
                  <a:prstClr val="black">
                    <a:tint val="75000"/>
                  </a:prstClr>
                </a:solidFill>
              </a:rPr>
              <a:pPr/>
              <a:t>3/12/2012</a:t>
            </a:fld>
            <a:endParaRPr lang="en-US" dirty="0">
              <a:solidFill>
                <a:prstClr val="black">
                  <a:tint val="75000"/>
                </a:prstClr>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D735C3C-4A40-4819-AB96-022ADC1715F5}"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xmlns="" val="3805427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6C5843E-ADF4-42F5-9BBC-307E86D361C9}" type="datetime1">
              <a:rPr lang="en-US" smtClean="0">
                <a:solidFill>
                  <a:prstClr val="black">
                    <a:tint val="75000"/>
                  </a:prstClr>
                </a:solidFill>
              </a:rPr>
              <a:pPr/>
              <a:t>3/12/2012</a:t>
            </a:fld>
            <a:endParaRPr lang="en-US" dirty="0">
              <a:solidFill>
                <a:prstClr val="black">
                  <a:tint val="75000"/>
                </a:prstClr>
              </a:solidFill>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D735C3C-4A40-4819-AB96-022ADC1715F5}"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xmlns="" val="848253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5965825" y="6656388"/>
            <a:ext cx="2774950" cy="107722"/>
          </a:xfrm>
          <a:prstGeom prst="rect">
            <a:avLst/>
          </a:prstGeom>
          <a:noFill/>
          <a:ln w="25400" algn="ctr">
            <a:noFill/>
            <a:miter lim="800000"/>
            <a:headEnd/>
            <a:tailEnd/>
          </a:ln>
        </p:spPr>
        <p:txBody>
          <a:bodyPr lIns="0" tIns="0" rIns="0" bIns="0" anchor="b">
            <a:spAutoFit/>
          </a:bodyPr>
          <a:lstStyle/>
          <a:p>
            <a:pPr algn="r">
              <a:spcBef>
                <a:spcPct val="0"/>
              </a:spcBef>
            </a:pPr>
            <a:r>
              <a:rPr lang="en-US" sz="700" b="0" dirty="0">
                <a:solidFill>
                  <a:schemeClr val="tx2"/>
                </a:solidFill>
              </a:rPr>
              <a:t>Copyright © </a:t>
            </a:r>
            <a:r>
              <a:rPr lang="en-US" sz="700" b="0" dirty="0" smtClean="0">
                <a:solidFill>
                  <a:schemeClr val="tx2"/>
                </a:solidFill>
              </a:rPr>
              <a:t>2011 Deloitte </a:t>
            </a:r>
            <a:r>
              <a:rPr lang="en-US" sz="700" b="0" dirty="0">
                <a:solidFill>
                  <a:schemeClr val="tx2"/>
                </a:solidFill>
              </a:rPr>
              <a:t>Development LLC. </a:t>
            </a:r>
            <a:r>
              <a:rPr lang="en-US" sz="700" b="0" dirty="0" smtClean="0">
                <a:solidFill>
                  <a:schemeClr val="tx2"/>
                </a:solidFill>
              </a:rPr>
              <a:t>All rights reserved.</a:t>
            </a:r>
            <a:endParaRPr lang="en-US" sz="700" b="0" dirty="0">
              <a:solidFill>
                <a:schemeClr val="tx2"/>
              </a:solidFill>
            </a:endParaRPr>
          </a:p>
        </p:txBody>
      </p:sp>
      <p:sp>
        <p:nvSpPr>
          <p:cNvPr id="19" name="Slide Number Placeholder 9"/>
          <p:cNvSpPr>
            <a:spLocks/>
          </p:cNvSpPr>
          <p:nvPr/>
        </p:nvSpPr>
        <p:spPr bwMode="gray">
          <a:xfrm>
            <a:off x="414338" y="6625883"/>
            <a:ext cx="268287" cy="153888"/>
          </a:xfrm>
          <a:prstGeom prst="rect">
            <a:avLst/>
          </a:prstGeom>
          <a:noFill/>
          <a:ln w="9525">
            <a:noFill/>
            <a:miter lim="800000"/>
            <a:headEnd/>
            <a:tailEnd/>
          </a:ln>
        </p:spPr>
        <p:txBody>
          <a:bodyPr lIns="0" tIns="0" rIns="0" bIns="0" anchor="b">
            <a:spAutoFit/>
          </a:bodyPr>
          <a:lstStyle/>
          <a:p>
            <a:pPr algn="l">
              <a:spcBef>
                <a:spcPct val="0"/>
              </a:spcBef>
            </a:pPr>
            <a:fld id="{86C77FDF-45C5-4665-AAEE-45520AE6BEA9}" type="slidenum">
              <a:rPr lang="en-US" sz="1000">
                <a:solidFill>
                  <a:schemeClr val="tx2"/>
                </a:solidFill>
              </a:rPr>
              <a:pPr algn="l">
                <a:spcBef>
                  <a:spcPct val="0"/>
                </a:spcBef>
              </a:pPr>
              <a:t>‹#›</a:t>
            </a:fld>
            <a:endParaRPr lang="en-US" sz="1000" dirty="0">
              <a:solidFill>
                <a:schemeClr val="tx2"/>
              </a:solidFill>
            </a:endParaRPr>
          </a:p>
        </p:txBody>
      </p:sp>
      <p:sp>
        <p:nvSpPr>
          <p:cNvPr id="20" name="Footer Placeholder 10"/>
          <p:cNvSpPr>
            <a:spLocks/>
          </p:cNvSpPr>
          <p:nvPr/>
        </p:nvSpPr>
        <p:spPr bwMode="gray">
          <a:xfrm>
            <a:off x="803275" y="6625883"/>
            <a:ext cx="4318000" cy="153888"/>
          </a:xfrm>
          <a:prstGeom prst="rect">
            <a:avLst/>
          </a:prstGeom>
          <a:noFill/>
          <a:ln w="9525">
            <a:noFill/>
            <a:miter lim="800000"/>
            <a:headEnd/>
            <a:tailEnd/>
          </a:ln>
        </p:spPr>
        <p:txBody>
          <a:bodyPr lIns="0" tIns="0" rIns="0" bIns="0" anchor="b">
            <a:spAutoFit/>
          </a:bodyPr>
          <a:lstStyle/>
          <a:p>
            <a:pPr algn="l">
              <a:spcBef>
                <a:spcPct val="0"/>
              </a:spcBef>
            </a:pPr>
            <a:r>
              <a:rPr lang="nb-NO" sz="1000" b="1" dirty="0" smtClean="0">
                <a:solidFill>
                  <a:schemeClr val="tx1"/>
                </a:solidFill>
              </a:rPr>
              <a:t>Deloitte -  </a:t>
            </a:r>
            <a:r>
              <a:rPr lang="en-US" sz="1000" b="1" dirty="0" smtClean="0">
                <a:solidFill>
                  <a:schemeClr val="tx1"/>
                </a:solidFill>
              </a:rPr>
              <a:t>User guide for SI practitioners</a:t>
            </a:r>
            <a:endParaRPr lang="nb-NO" sz="1000" b="1" dirty="0" smtClean="0">
              <a:solidFill>
                <a:schemeClr val="tx1"/>
              </a:solidFill>
            </a:endParaRP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16" name="Text Placeholder 15"/>
          <p:cNvSpPr>
            <a:spLocks noGrp="1"/>
          </p:cNvSpPr>
          <p:nvPr>
            <p:ph type="body" idx="1"/>
          </p:nvPr>
        </p:nvSpPr>
        <p:spPr bwMode="gray">
          <a:xfrm>
            <a:off x="411480" y="1400175"/>
            <a:ext cx="8330184" cy="1679947"/>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7" r:id="rId3"/>
    <p:sldLayoutId id="2147483908" r:id="rId4"/>
    <p:sldLayoutId id="2147483898" r:id="rId5"/>
    <p:sldLayoutId id="2147483904" r:id="rId6"/>
    <p:sldLayoutId id="2147483906" r:id="rId7"/>
    <p:sldLayoutId id="2147483905" r:id="rId8"/>
    <p:sldLayoutId id="2147483897" r:id="rId9"/>
    <p:sldLayoutId id="2147483899" r:id="rId10"/>
    <p:sldLayoutId id="2147483900" r:id="rId11"/>
    <p:sldLayoutId id="2147483909" r:id="rId12"/>
    <p:sldLayoutId id="2147483910" r:id="rId13"/>
  </p:sldLayoutIdLst>
  <p:hf hd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p:titleStyle>
    <p:bodyStyle>
      <a:lvl1pPr marR="0" indent="0" algn="l" defTabSz="914400" rtl="0" eaLnBrk="1" fontAlgn="base" latinLnBrk="0" hangingPunct="1">
        <a:lnSpc>
          <a:spcPct val="100000"/>
        </a:lnSpc>
        <a:spcBef>
          <a:spcPts val="1900"/>
        </a:spcBef>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500"/>
        </a:spcBef>
        <a:spcAft>
          <a:spcPct val="0"/>
        </a:spcAft>
        <a:buFont typeface="Arial" pitchFamily="34" charset="0"/>
        <a:buChar cha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L="401638" indent="-231775" algn="l" rtl="0" eaLnBrk="1" fontAlgn="base" hangingPunct="1">
        <a:lnSpc>
          <a:spcPct val="100000"/>
        </a:lnSpc>
        <a:spcBef>
          <a:spcPts val="400"/>
        </a:spcBef>
        <a:spcAft>
          <a:spcPct val="0"/>
        </a:spcAft>
        <a:buFont typeface="Arial" pitchFamily="34" charset="0"/>
        <a:buChar char="–"/>
        <a:defRPr lang="en-US" sz="1800" kern="1200" dirty="0" smtClean="0">
          <a:solidFill>
            <a:schemeClr val="tx2"/>
          </a:solidFill>
          <a:latin typeface="+mn-lt"/>
          <a:ea typeface="+mn-ea"/>
          <a:cs typeface="+mn-cs"/>
        </a:defRPr>
      </a:lvl3pPr>
      <a:lvl4pPr marL="569913" marR="0" indent="-16827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796925" marR="0" indent="-227013"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a:stretch/>
        </p:blipFill>
        <p:spPr bwMode="gray">
          <a:xfrm>
            <a:off x="4733925" y="2519645"/>
            <a:ext cx="3518020" cy="4338356"/>
          </a:xfrm>
          <a:prstGeom prst="rect">
            <a:avLst/>
          </a:prstGeom>
          <a:noFill/>
          <a:ln w="9525">
            <a:noFill/>
            <a:miter lim="800000"/>
            <a:headEnd/>
            <a:tailEnd/>
          </a:ln>
        </p:spPr>
      </p:pic>
      <p:sp>
        <p:nvSpPr>
          <p:cNvPr id="121890" name="Rectangle 34"/>
          <p:cNvSpPr>
            <a:spLocks noGrp="1"/>
          </p:cNvSpPr>
          <p:nvPr>
            <p:ph type="ctrTitle"/>
          </p:nvPr>
        </p:nvSpPr>
        <p:spPr>
          <a:xfrm>
            <a:off x="475012" y="2066437"/>
            <a:ext cx="5391398" cy="1674305"/>
          </a:xfrm>
        </p:spPr>
        <p:txBody>
          <a:bodyPr/>
          <a:lstStyle/>
          <a:p>
            <a:r>
              <a:rPr lang="en-US" dirty="0" smtClean="0"/>
              <a:t>SI Project Estimator Prototype</a:t>
            </a:r>
            <a:br>
              <a:rPr lang="en-US" dirty="0" smtClean="0"/>
            </a:br>
            <a:r>
              <a:rPr lang="en-US" dirty="0" smtClean="0"/>
              <a:t/>
            </a:r>
            <a:br>
              <a:rPr lang="en-US" dirty="0" smtClean="0"/>
            </a:br>
            <a:r>
              <a:rPr lang="en-US" dirty="0" smtClean="0">
                <a:solidFill>
                  <a:schemeClr val="accent2"/>
                </a:solidFill>
              </a:rPr>
              <a:t>User Guide for SI </a:t>
            </a:r>
            <a:br>
              <a:rPr lang="en-US" dirty="0" smtClean="0">
                <a:solidFill>
                  <a:schemeClr val="accent2"/>
                </a:solidFill>
              </a:rPr>
            </a:br>
            <a:r>
              <a:rPr lang="en-US" dirty="0" smtClean="0">
                <a:solidFill>
                  <a:schemeClr val="accent2"/>
                </a:solidFill>
              </a:rPr>
              <a:t>Practitioners</a:t>
            </a:r>
            <a:endParaRPr lang="en-US" dirty="0">
              <a:solidFill>
                <a:schemeClr val="accent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2608724" y="5327374"/>
            <a:ext cx="1037960" cy="964450"/>
          </a:xfrm>
          <a:prstGeom prst="rect">
            <a:avLst/>
          </a:prstGeom>
        </p:spPr>
      </p:pic>
      <p:sp>
        <p:nvSpPr>
          <p:cNvPr id="141328" name="Rectangle 16"/>
          <p:cNvSpPr>
            <a:spLocks noGrp="1"/>
          </p:cNvSpPr>
          <p:nvPr>
            <p:ph sz="quarter" idx="12"/>
          </p:nvPr>
        </p:nvSpPr>
        <p:spPr bwMode="gray">
          <a:xfrm>
            <a:off x="411481" y="914400"/>
            <a:ext cx="3855719" cy="5367528"/>
          </a:xfrm>
        </p:spPr>
        <p:txBody>
          <a:bodyPr/>
          <a:lstStyle/>
          <a:p>
            <a:r>
              <a:rPr lang="en-US" sz="1800" dirty="0" smtClean="0"/>
              <a:t>Goals </a:t>
            </a:r>
            <a:r>
              <a:rPr lang="en-US" sz="1800" dirty="0"/>
              <a:t>and </a:t>
            </a:r>
            <a:r>
              <a:rPr lang="en-US" sz="1800" dirty="0" smtClean="0"/>
              <a:t>Objectives</a:t>
            </a:r>
            <a:r>
              <a:rPr lang="en-US" sz="1800" dirty="0"/>
              <a:t>	2</a:t>
            </a:r>
          </a:p>
          <a:p>
            <a:r>
              <a:rPr lang="en-US" sz="1800" dirty="0"/>
              <a:t>Detailed </a:t>
            </a:r>
            <a:r>
              <a:rPr lang="en-US" sz="1800" dirty="0" smtClean="0"/>
              <a:t>Estimation </a:t>
            </a:r>
            <a:r>
              <a:rPr lang="en-US" sz="1800" dirty="0"/>
              <a:t>P</a:t>
            </a:r>
            <a:r>
              <a:rPr lang="en-US" sz="1800" dirty="0" smtClean="0"/>
              <a:t>rocess</a:t>
            </a:r>
            <a:r>
              <a:rPr lang="en-US" sz="1800" dirty="0"/>
              <a:t>	</a:t>
            </a:r>
            <a:r>
              <a:rPr lang="en-US" sz="1800" dirty="0" smtClean="0"/>
              <a:t>4</a:t>
            </a:r>
          </a:p>
          <a:p>
            <a:pPr marL="228600" lvl="2" indent="0" defTabSz="3657600">
              <a:spcBef>
                <a:spcPts val="600"/>
              </a:spcBef>
              <a:buNone/>
              <a:tabLst>
                <a:tab pos="3832225" algn="r"/>
              </a:tabLst>
            </a:pPr>
            <a:r>
              <a:rPr lang="en-US" sz="1400" dirty="0"/>
              <a:t>Overview	5</a:t>
            </a:r>
          </a:p>
          <a:p>
            <a:pPr marL="228600" lvl="2" indent="0" defTabSz="3657600">
              <a:spcBef>
                <a:spcPts val="600"/>
              </a:spcBef>
              <a:buNone/>
              <a:tabLst>
                <a:tab pos="3832225" algn="r"/>
              </a:tabLst>
            </a:pPr>
            <a:r>
              <a:rPr lang="en-US" sz="1400" dirty="0"/>
              <a:t>Set up Project	6</a:t>
            </a:r>
          </a:p>
          <a:p>
            <a:pPr marL="228600" lvl="2" indent="0" defTabSz="3657600">
              <a:spcBef>
                <a:spcPts val="600"/>
              </a:spcBef>
              <a:buNone/>
              <a:tabLst>
                <a:tab pos="3832225" algn="r"/>
              </a:tabLst>
            </a:pPr>
            <a:r>
              <a:rPr lang="en-US" sz="1400" dirty="0"/>
              <a:t>Define Estimation Scope	7</a:t>
            </a:r>
          </a:p>
          <a:p>
            <a:pPr marL="228600" lvl="2" indent="0" defTabSz="3657600">
              <a:spcBef>
                <a:spcPts val="600"/>
              </a:spcBef>
              <a:buNone/>
              <a:tabLst>
                <a:tab pos="3832225" algn="r"/>
              </a:tabLst>
            </a:pPr>
            <a:r>
              <a:rPr lang="en-US" sz="1400" dirty="0"/>
              <a:t>Fixed Resources	8</a:t>
            </a:r>
          </a:p>
          <a:p>
            <a:pPr marL="228600" lvl="2" indent="0" defTabSz="3657600">
              <a:spcBef>
                <a:spcPts val="600"/>
              </a:spcBef>
              <a:buNone/>
              <a:tabLst>
                <a:tab pos="3832225" algn="r"/>
              </a:tabLst>
            </a:pPr>
            <a:r>
              <a:rPr lang="en-US" sz="1400" dirty="0"/>
              <a:t>Select Phase Deliverables	9</a:t>
            </a:r>
          </a:p>
          <a:p>
            <a:pPr marL="228600" lvl="2" indent="0" defTabSz="3657600">
              <a:spcBef>
                <a:spcPts val="600"/>
              </a:spcBef>
              <a:buNone/>
              <a:tabLst>
                <a:tab pos="3832225" algn="r"/>
              </a:tabLst>
            </a:pPr>
            <a:r>
              <a:rPr lang="en-US" sz="1400" dirty="0"/>
              <a:t>Define System Objects	10</a:t>
            </a:r>
          </a:p>
          <a:p>
            <a:pPr marL="228600" lvl="2" indent="0" defTabSz="3657600">
              <a:spcBef>
                <a:spcPts val="600"/>
              </a:spcBef>
              <a:buNone/>
              <a:tabLst>
                <a:tab pos="3832225" algn="r"/>
              </a:tabLst>
            </a:pPr>
            <a:r>
              <a:rPr lang="en-US" sz="1400" dirty="0"/>
              <a:t>Define Testing Requirements	11</a:t>
            </a:r>
          </a:p>
          <a:p>
            <a:pPr marL="228600" lvl="2" indent="0" defTabSz="3657600">
              <a:spcBef>
                <a:spcPts val="600"/>
              </a:spcBef>
              <a:buNone/>
              <a:tabLst>
                <a:tab pos="3832225" algn="r"/>
              </a:tabLst>
            </a:pPr>
            <a:r>
              <a:rPr lang="en-US" sz="1400" dirty="0"/>
              <a:t>Summary	</a:t>
            </a:r>
            <a:r>
              <a:rPr lang="en-US" sz="1400" dirty="0" smtClean="0"/>
              <a:t>12</a:t>
            </a:r>
          </a:p>
          <a:p>
            <a:r>
              <a:rPr lang="en-US" sz="1800" dirty="0"/>
              <a:t>Detailed Process Overview	13</a:t>
            </a:r>
          </a:p>
          <a:p>
            <a:pPr marL="228600" lvl="2" indent="0" defTabSz="3657600">
              <a:spcBef>
                <a:spcPts val="600"/>
              </a:spcBef>
              <a:buNone/>
              <a:tabLst>
                <a:tab pos="3832225" algn="r"/>
              </a:tabLst>
            </a:pPr>
            <a:r>
              <a:rPr lang="en-US" sz="1400" dirty="0"/>
              <a:t>Overview	14</a:t>
            </a:r>
          </a:p>
          <a:p>
            <a:pPr marL="228600" lvl="2" indent="0" defTabSz="3657600">
              <a:spcBef>
                <a:spcPts val="600"/>
              </a:spcBef>
              <a:buNone/>
              <a:tabLst>
                <a:tab pos="3832225" algn="r"/>
              </a:tabLst>
            </a:pPr>
            <a:r>
              <a:rPr lang="en-US" sz="1400" dirty="0"/>
              <a:t>Prototype Overview	15</a:t>
            </a:r>
          </a:p>
          <a:p>
            <a:pPr marL="228600" lvl="2" indent="0" defTabSz="3657600">
              <a:spcBef>
                <a:spcPts val="600"/>
              </a:spcBef>
              <a:buNone/>
              <a:tabLst>
                <a:tab pos="3832225" algn="r"/>
              </a:tabLst>
            </a:pPr>
            <a:r>
              <a:rPr lang="en-US" sz="1400" dirty="0"/>
              <a:t>Menu	16</a:t>
            </a:r>
          </a:p>
          <a:p>
            <a:pPr marL="228600" lvl="2" indent="0" defTabSz="3657600">
              <a:spcBef>
                <a:spcPts val="600"/>
              </a:spcBef>
              <a:buNone/>
              <a:tabLst>
                <a:tab pos="3832225" algn="r"/>
              </a:tabLst>
            </a:pPr>
            <a:r>
              <a:rPr lang="en-US" sz="1400" dirty="0"/>
              <a:t>Project Details	17</a:t>
            </a:r>
          </a:p>
          <a:p>
            <a:pPr marL="228600" lvl="2" indent="0" defTabSz="3657600">
              <a:spcBef>
                <a:spcPts val="600"/>
              </a:spcBef>
              <a:buNone/>
              <a:tabLst>
                <a:tab pos="3832225" algn="r"/>
              </a:tabLst>
            </a:pPr>
            <a:r>
              <a:rPr lang="en-US" sz="1400" dirty="0"/>
              <a:t>Estimation Scope	19</a:t>
            </a:r>
          </a:p>
          <a:p>
            <a:pPr marL="228600" lvl="2" indent="0" defTabSz="3657600">
              <a:spcBef>
                <a:spcPts val="600"/>
              </a:spcBef>
              <a:buNone/>
              <a:tabLst>
                <a:tab pos="3832225" algn="r"/>
              </a:tabLst>
            </a:pPr>
            <a:r>
              <a:rPr lang="en-US" sz="1400" dirty="0"/>
              <a:t>Fixed Resources	21</a:t>
            </a:r>
          </a:p>
          <a:p>
            <a:pPr marL="228600" lvl="2" indent="0" defTabSz="3657600">
              <a:spcBef>
                <a:spcPts val="600"/>
              </a:spcBef>
              <a:buNone/>
              <a:tabLst>
                <a:tab pos="3832225" algn="r"/>
              </a:tabLst>
            </a:pPr>
            <a:endParaRPr lang="en-US" sz="1400" dirty="0"/>
          </a:p>
        </p:txBody>
      </p:sp>
      <p:sp>
        <p:nvSpPr>
          <p:cNvPr id="141327" name="Rectangle 15"/>
          <p:cNvSpPr>
            <a:spLocks noGrp="1"/>
          </p:cNvSpPr>
          <p:nvPr>
            <p:ph type="title"/>
          </p:nvPr>
        </p:nvSpPr>
        <p:spPr bwMode="gray"/>
        <p:txBody>
          <a:bodyPr/>
          <a:lstStyle/>
          <a:p>
            <a:r>
              <a:rPr lang="en-GB" dirty="0" smtClean="0"/>
              <a:t>Contents</a:t>
            </a:r>
            <a:endParaRPr lang="en-US" dirty="0" smtClean="0"/>
          </a:p>
        </p:txBody>
      </p:sp>
      <p:sp>
        <p:nvSpPr>
          <p:cNvPr id="6" name="Rectangle 16"/>
          <p:cNvSpPr txBox="1">
            <a:spLocks/>
          </p:cNvSpPr>
          <p:nvPr/>
        </p:nvSpPr>
        <p:spPr bwMode="gray">
          <a:xfrm>
            <a:off x="4954452" y="914400"/>
            <a:ext cx="3957320" cy="5665304"/>
          </a:xfrm>
          <a:prstGeom prst="rect">
            <a:avLst/>
          </a:prstGeom>
        </p:spPr>
        <p:txBody>
          <a:bodyPr vert="horz" wrap="square"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tab pos="5029200"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Bef>
                <a:spcPts val="500"/>
              </a:spcBef>
              <a:spcAft>
                <a:spcPct val="0"/>
              </a:spcAft>
              <a:buFont typeface="Arial" pitchFamily="34" charset="0"/>
              <a:buChar char="•"/>
              <a:tabLst>
                <a:tab pos="5029200"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L="401638" marR="0" indent="-231775" algn="l" defTabSz="914400" rtl="0" eaLnBrk="1" fontAlgn="base" latinLnBrk="0" hangingPunct="1">
              <a:lnSpc>
                <a:spcPct val="100000"/>
              </a:lnSpc>
              <a:spcBef>
                <a:spcPts val="400"/>
              </a:spcBef>
              <a:spcAft>
                <a:spcPct val="0"/>
              </a:spcAft>
              <a:buFont typeface="Arial" pitchFamily="34" charset="0"/>
              <a:buChar char="–"/>
              <a:tabLst>
                <a:tab pos="5029200" algn="r"/>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L="569913" marR="0" indent="-168275" algn="l" defTabSz="914400" rtl="0" eaLnBrk="1" fontAlgn="base" latinLnBrk="0" hangingPunct="1">
              <a:lnSpc>
                <a:spcPct val="100000"/>
              </a:lnSpc>
              <a:spcBef>
                <a:spcPts val="400"/>
              </a:spcBef>
              <a:spcAft>
                <a:spcPct val="0"/>
              </a:spcAft>
              <a:buFont typeface="Arial" pitchFamily="34" charset="0"/>
              <a:buChar char="•"/>
              <a:tabLst>
                <a:tab pos="5029200"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L="796925" marR="0" indent="-227013" algn="l" defTabSz="914400" rtl="0" eaLnBrk="1" fontAlgn="base" latinLnBrk="0" hangingPunct="1">
              <a:lnSpc>
                <a:spcPct val="100000"/>
              </a:lnSpc>
              <a:spcBef>
                <a:spcPts val="400"/>
              </a:spcBef>
              <a:spcAft>
                <a:spcPct val="0"/>
              </a:spcAft>
              <a:buFont typeface="Arial" pitchFamily="34" charset="0"/>
              <a:buChar char="–"/>
              <a:tabLst>
                <a:tab pos="5029200"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28600" lvl="2" indent="0" defTabSz="3657600">
              <a:spcBef>
                <a:spcPts val="600"/>
              </a:spcBef>
              <a:buNone/>
              <a:tabLst>
                <a:tab pos="3832225" algn="r"/>
              </a:tabLst>
            </a:pPr>
            <a:r>
              <a:rPr lang="en-US" sz="1400" dirty="0"/>
              <a:t>Fixed Resources Limitation	24</a:t>
            </a:r>
          </a:p>
          <a:p>
            <a:pPr marL="228600" lvl="2" indent="0" defTabSz="3657600">
              <a:spcBef>
                <a:spcPts val="600"/>
              </a:spcBef>
              <a:buNone/>
              <a:tabLst>
                <a:tab pos="3832225" algn="r"/>
              </a:tabLst>
            </a:pPr>
            <a:r>
              <a:rPr lang="en-US" sz="1400" dirty="0"/>
              <a:t>Entering Details of Standard </a:t>
            </a:r>
            <a:br>
              <a:rPr lang="en-US" sz="1400" dirty="0"/>
            </a:br>
            <a:r>
              <a:rPr lang="en-US" sz="1400" dirty="0"/>
              <a:t>  Deliverables 	27</a:t>
            </a:r>
          </a:p>
          <a:p>
            <a:pPr marL="228600" lvl="2" indent="0" defTabSz="3657600">
              <a:spcBef>
                <a:spcPts val="600"/>
              </a:spcBef>
              <a:buNone/>
              <a:tabLst>
                <a:tab pos="3832225" algn="r"/>
              </a:tabLst>
            </a:pPr>
            <a:r>
              <a:rPr lang="en-US" sz="1400" dirty="0"/>
              <a:t>Entering User Defined Deliverable</a:t>
            </a:r>
            <a:br>
              <a:rPr lang="en-US" sz="1400" dirty="0"/>
            </a:br>
            <a:r>
              <a:rPr lang="en-US" sz="1400" dirty="0"/>
              <a:t>  to a discipline	30</a:t>
            </a:r>
          </a:p>
          <a:p>
            <a:pPr marL="228600" lvl="2" indent="0" defTabSz="3657600">
              <a:spcBef>
                <a:spcPts val="600"/>
              </a:spcBef>
              <a:buNone/>
              <a:tabLst>
                <a:tab pos="3832225" algn="r"/>
              </a:tabLst>
            </a:pPr>
            <a:r>
              <a:rPr lang="en-US" sz="1400" dirty="0"/>
              <a:t>Entering Details of User Defined</a:t>
            </a:r>
            <a:br>
              <a:rPr lang="en-US" sz="1400" dirty="0"/>
            </a:br>
            <a:r>
              <a:rPr lang="en-US" sz="1400" dirty="0"/>
              <a:t>  Deliverables	31</a:t>
            </a:r>
          </a:p>
          <a:p>
            <a:pPr marL="228600" lvl="2" indent="0" defTabSz="3657600">
              <a:spcBef>
                <a:spcPts val="600"/>
              </a:spcBef>
              <a:buNone/>
              <a:tabLst>
                <a:tab pos="3832225" algn="r"/>
              </a:tabLst>
            </a:pPr>
            <a:r>
              <a:rPr lang="en-US" sz="1400" dirty="0"/>
              <a:t>Initiate and Plan	32</a:t>
            </a:r>
          </a:p>
          <a:p>
            <a:pPr marL="228600" lvl="2" indent="0" defTabSz="3657600">
              <a:spcBef>
                <a:spcPts val="600"/>
              </a:spcBef>
              <a:buNone/>
              <a:tabLst>
                <a:tab pos="3832225" algn="r"/>
              </a:tabLst>
            </a:pPr>
            <a:r>
              <a:rPr lang="en-US" sz="1400" dirty="0"/>
              <a:t>Manage	33</a:t>
            </a:r>
          </a:p>
          <a:p>
            <a:pPr marL="228600" lvl="2" indent="0" defTabSz="3657600">
              <a:spcBef>
                <a:spcPts val="600"/>
              </a:spcBef>
              <a:buNone/>
              <a:tabLst>
                <a:tab pos="3832225" algn="r"/>
              </a:tabLst>
            </a:pPr>
            <a:r>
              <a:rPr lang="en-US" sz="1400" dirty="0"/>
              <a:t>Define	34</a:t>
            </a:r>
          </a:p>
          <a:p>
            <a:pPr marL="228600" lvl="2" indent="0" defTabSz="3657600">
              <a:spcBef>
                <a:spcPts val="600"/>
              </a:spcBef>
              <a:buNone/>
              <a:tabLst>
                <a:tab pos="3832225" algn="r"/>
              </a:tabLst>
            </a:pPr>
            <a:r>
              <a:rPr lang="en-US" sz="1400" dirty="0"/>
              <a:t>Design	35</a:t>
            </a:r>
          </a:p>
          <a:p>
            <a:pPr marL="228600" lvl="2" indent="0" defTabSz="3657600">
              <a:spcBef>
                <a:spcPts val="600"/>
              </a:spcBef>
              <a:buNone/>
              <a:tabLst>
                <a:tab pos="3832225" algn="r"/>
              </a:tabLst>
            </a:pPr>
            <a:r>
              <a:rPr lang="en-US" sz="1400" dirty="0"/>
              <a:t>Develop	36</a:t>
            </a:r>
          </a:p>
          <a:p>
            <a:pPr marL="228600" lvl="2" indent="0" defTabSz="3657600">
              <a:spcBef>
                <a:spcPts val="600"/>
              </a:spcBef>
              <a:buNone/>
              <a:tabLst>
                <a:tab pos="3832225" algn="r"/>
              </a:tabLst>
            </a:pPr>
            <a:r>
              <a:rPr lang="en-US" sz="1400" dirty="0"/>
              <a:t>Entering Details of Develop	38</a:t>
            </a:r>
          </a:p>
          <a:p>
            <a:pPr marL="228600" lvl="2" indent="0" defTabSz="3657600">
              <a:spcBef>
                <a:spcPts val="600"/>
              </a:spcBef>
              <a:buNone/>
              <a:tabLst>
                <a:tab pos="3832225" algn="r"/>
              </a:tabLst>
            </a:pPr>
            <a:r>
              <a:rPr lang="en-US" sz="1400" dirty="0"/>
              <a:t>Testing	42</a:t>
            </a:r>
          </a:p>
          <a:p>
            <a:pPr marL="228600" lvl="2" indent="0" defTabSz="3657600">
              <a:spcBef>
                <a:spcPts val="600"/>
              </a:spcBef>
              <a:buNone/>
              <a:tabLst>
                <a:tab pos="3832225" algn="r"/>
              </a:tabLst>
            </a:pPr>
            <a:r>
              <a:rPr lang="en-US" sz="1400" dirty="0"/>
              <a:t>Deploy	45</a:t>
            </a:r>
          </a:p>
          <a:p>
            <a:pPr marL="228600" lvl="2" indent="0" defTabSz="3657600">
              <a:spcBef>
                <a:spcPts val="600"/>
              </a:spcBef>
              <a:buNone/>
              <a:tabLst>
                <a:tab pos="3832225" algn="r"/>
              </a:tabLst>
            </a:pPr>
            <a:r>
              <a:rPr lang="en-US" sz="1400" dirty="0"/>
              <a:t>Close	46</a:t>
            </a:r>
          </a:p>
          <a:p>
            <a:pPr marL="228600" lvl="2" indent="0" defTabSz="3657600">
              <a:spcBef>
                <a:spcPts val="600"/>
              </a:spcBef>
              <a:buNone/>
              <a:tabLst>
                <a:tab pos="3832225" algn="r"/>
              </a:tabLst>
            </a:pPr>
            <a:r>
              <a:rPr lang="en-US" sz="1400" dirty="0"/>
              <a:t>Summary	</a:t>
            </a:r>
            <a:r>
              <a:rPr lang="en-US" sz="1400" dirty="0" smtClean="0"/>
              <a:t>47</a:t>
            </a:r>
          </a:p>
          <a:p>
            <a:pPr marL="228600" lvl="2" indent="0" defTabSz="3657600">
              <a:spcBef>
                <a:spcPts val="600"/>
              </a:spcBef>
              <a:buNone/>
              <a:tabLst>
                <a:tab pos="3832225" algn="r"/>
              </a:tabLst>
            </a:pPr>
            <a:r>
              <a:rPr lang="en-US" sz="1400" dirty="0" smtClean="0"/>
              <a:t>Dashboard	50</a:t>
            </a:r>
            <a:endParaRPr lang="en-US" sz="1400" dirty="0"/>
          </a:p>
          <a:p>
            <a:pPr marL="228600" lvl="2" indent="0" defTabSz="3657600">
              <a:spcBef>
                <a:spcPts val="600"/>
              </a:spcBef>
              <a:buNone/>
              <a:tabLst>
                <a:tab pos="3832225" algn="r"/>
              </a:tabLst>
            </a:pPr>
            <a:r>
              <a:rPr lang="en-US" sz="1400" dirty="0"/>
              <a:t>Metrics	</a:t>
            </a:r>
            <a:r>
              <a:rPr lang="en-US" sz="1400" dirty="0" smtClean="0"/>
              <a:t>52</a:t>
            </a:r>
            <a:endParaRPr lang="en-US" sz="1400" dirty="0"/>
          </a:p>
          <a:p>
            <a:pPr>
              <a:tabLst>
                <a:tab pos="3836988" algn="r"/>
                <a:tab pos="5029200" algn="r"/>
              </a:tabLst>
            </a:pPr>
            <a:r>
              <a:rPr lang="en-US" sz="1800" dirty="0"/>
              <a:t>Appendix — Admin Tab	</a:t>
            </a:r>
            <a:r>
              <a:rPr lang="en-US" sz="1800" dirty="0" smtClean="0"/>
              <a:t>54</a:t>
            </a:r>
            <a:endParaRPr lang="en-US"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Goals and Objectives</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9"/>
          <p:cNvSpPr>
            <a:spLocks noGrp="1"/>
          </p:cNvSpPr>
          <p:nvPr>
            <p:ph type="title"/>
          </p:nvPr>
        </p:nvSpPr>
        <p:spPr>
          <a:xfrm>
            <a:off x="414338" y="450279"/>
            <a:ext cx="8330184" cy="333425"/>
          </a:xfrm>
        </p:spPr>
        <p:txBody>
          <a:bodyPr/>
          <a:lstStyle/>
          <a:p>
            <a:r>
              <a:rPr lang="en-US" dirty="0" smtClean="0"/>
              <a:t>Goals and Objectives of SI Project Estimator </a:t>
            </a:r>
            <a:r>
              <a:rPr lang="en-US" dirty="0"/>
              <a:t>P</a:t>
            </a:r>
            <a:r>
              <a:rPr lang="en-US" dirty="0" smtClean="0"/>
              <a:t>rototype</a:t>
            </a:r>
          </a:p>
        </p:txBody>
      </p:sp>
      <p:graphicFrame>
        <p:nvGraphicFramePr>
          <p:cNvPr id="6" name="Group 244"/>
          <p:cNvGraphicFramePr>
            <a:graphicFrameLocks noGrp="1"/>
          </p:cNvGraphicFramePr>
          <p:nvPr>
            <p:extLst>
              <p:ext uri="{D42A27DB-BD31-4B8C-83A1-F6EECF244321}">
                <p14:modId xmlns:p14="http://schemas.microsoft.com/office/powerpoint/2010/main" xmlns="" val="1853891720"/>
              </p:ext>
            </p:extLst>
          </p:nvPr>
        </p:nvGraphicFramePr>
        <p:xfrm>
          <a:off x="404813" y="3556785"/>
          <a:ext cx="8332787" cy="2092862"/>
        </p:xfrm>
        <a:graphic>
          <a:graphicData uri="http://schemas.openxmlformats.org/drawingml/2006/table">
            <a:tbl>
              <a:tblPr/>
              <a:tblGrid>
                <a:gridCol w="1262062"/>
                <a:gridCol w="7070725"/>
              </a:tblGrid>
              <a:tr h="1943149">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600" b="1" i="0" u="none" strike="noStrike" cap="none" normalizeH="0" baseline="0" dirty="0" smtClean="0">
                          <a:ln>
                            <a:noFill/>
                          </a:ln>
                          <a:solidFill>
                            <a:schemeClr val="bg1"/>
                          </a:solidFill>
                          <a:effectLst/>
                          <a:latin typeface="+mj-lt"/>
                          <a:cs typeface="Arial" pitchFamily="34" charset="0"/>
                        </a:rPr>
                        <a:t>Objectives</a:t>
                      </a:r>
                    </a:p>
                  </a:txBody>
                  <a:tcPr marT="91391" marB="9139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600" b="0" i="0" u="none" strike="noStrike" kern="1200" cap="none" normalizeH="0" baseline="0" dirty="0" smtClean="0">
                          <a:ln>
                            <a:noFill/>
                          </a:ln>
                          <a:solidFill>
                            <a:schemeClr val="tx1"/>
                          </a:solidFill>
                          <a:effectLst/>
                          <a:latin typeface="Arial" pitchFamily="34" charset="0"/>
                          <a:ea typeface="+mn-ea"/>
                          <a:cs typeface="+mn-cs"/>
                        </a:rPr>
                        <a:t>Implement a parameter-driven approach to estimate work efforts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600" b="0" i="0" u="none" strike="noStrike" kern="1200" cap="none" normalizeH="0" baseline="0" dirty="0" smtClean="0">
                          <a:ln>
                            <a:noFill/>
                          </a:ln>
                          <a:solidFill>
                            <a:schemeClr val="tx1"/>
                          </a:solidFill>
                          <a:effectLst/>
                          <a:latin typeface="Arial" pitchFamily="34" charset="0"/>
                          <a:ea typeface="+mn-ea"/>
                          <a:cs typeface="+mn-cs"/>
                        </a:rPr>
                        <a:t>Consistent SI estimates based on known efforts and recommends approaches to handle the unknowns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600" b="0" i="0" u="none" strike="noStrike" kern="1200" cap="none" normalizeH="0" baseline="0" dirty="0" smtClean="0">
                          <a:ln>
                            <a:noFill/>
                          </a:ln>
                          <a:solidFill>
                            <a:schemeClr val="tx1"/>
                          </a:solidFill>
                          <a:effectLst/>
                          <a:latin typeface="Arial" pitchFamily="34" charset="0"/>
                          <a:ea typeface="+mn-ea"/>
                          <a:cs typeface="+mn-cs"/>
                        </a:rPr>
                        <a:t>Allows users to apply consistent systems integration aspects of custom development methodology while estimating work efforts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600" b="0" i="0" u="none" strike="noStrike" kern="1200" cap="none" normalizeH="0" baseline="0" dirty="0" smtClean="0">
                          <a:ln>
                            <a:noFill/>
                          </a:ln>
                          <a:solidFill>
                            <a:schemeClr val="tx1"/>
                          </a:solidFill>
                          <a:effectLst/>
                          <a:latin typeface="Arial" pitchFamily="34" charset="0"/>
                          <a:ea typeface="+mn-ea"/>
                          <a:cs typeface="+mn-cs"/>
                        </a:rPr>
                        <a:t>Input our firm pricing model to estimate total project price</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600" b="0" i="0" u="none" strike="noStrike" kern="1200" cap="none" normalizeH="0" baseline="0" dirty="0" smtClean="0">
                          <a:ln>
                            <a:noFill/>
                          </a:ln>
                          <a:solidFill>
                            <a:schemeClr val="tx1"/>
                          </a:solidFill>
                          <a:effectLst/>
                          <a:latin typeface="Arial" pitchFamily="34" charset="0"/>
                          <a:ea typeface="+mn-ea"/>
                          <a:cs typeface="+mn-cs"/>
                        </a:rPr>
                        <a:t>Capture and document assumptions made during the efforts estimation </a:t>
                      </a:r>
                    </a:p>
                  </a:txBody>
                  <a:tcPr marT="91391" marB="9139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9" name="Group 244"/>
          <p:cNvGraphicFramePr>
            <a:graphicFrameLocks noGrp="1"/>
          </p:cNvGraphicFramePr>
          <p:nvPr>
            <p:extLst>
              <p:ext uri="{D42A27DB-BD31-4B8C-83A1-F6EECF244321}">
                <p14:modId xmlns:p14="http://schemas.microsoft.com/office/powerpoint/2010/main" xmlns="" val="1009363937"/>
              </p:ext>
            </p:extLst>
          </p:nvPr>
        </p:nvGraphicFramePr>
        <p:xfrm>
          <a:off x="404813" y="1400175"/>
          <a:ext cx="8332787" cy="1747520"/>
        </p:xfrm>
        <a:graphic>
          <a:graphicData uri="http://schemas.openxmlformats.org/drawingml/2006/table">
            <a:tbl>
              <a:tblPr/>
              <a:tblGrid>
                <a:gridCol w="1243012"/>
                <a:gridCol w="7089775"/>
              </a:tblGrid>
              <a:tr h="1567375">
                <a:tc>
                  <a:txBody>
                    <a:bodyPr/>
                    <a:lstStyle/>
                    <a:p>
                      <a:pPr marL="0" marR="0" lvl="0" indent="0" algn="ctr" defTabSz="914400" rtl="0" eaLnBrk="0" fontAlgn="base" latinLnBrk="0" hangingPunct="0">
                        <a:lnSpc>
                          <a:spcPct val="100000"/>
                        </a:lnSpc>
                        <a:spcBef>
                          <a:spcPct val="100000"/>
                        </a:spcBef>
                        <a:spcAft>
                          <a:spcPct val="0"/>
                        </a:spcAft>
                        <a:buClrTx/>
                        <a:buSzTx/>
                        <a:buFont typeface="Arial" pitchFamily="34" charset="0"/>
                        <a:buNone/>
                        <a:tabLst/>
                      </a:pPr>
                      <a:r>
                        <a:rPr kumimoji="0" lang="en-US" sz="1600" b="1" i="0" u="none" strike="noStrike" kern="1200" cap="none" normalizeH="0" baseline="0" dirty="0" smtClean="0">
                          <a:ln>
                            <a:noFill/>
                          </a:ln>
                          <a:solidFill>
                            <a:srgbClr val="FFFFFF"/>
                          </a:solidFill>
                          <a:effectLst/>
                          <a:latin typeface="Arial" pitchFamily="34" charset="0"/>
                          <a:ea typeface="+mn-ea"/>
                          <a:cs typeface="Arial" pitchFamily="34" charset="0"/>
                        </a:rPr>
                        <a:t>Goals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defRPr/>
                      </a:pPr>
                      <a:r>
                        <a:rPr kumimoji="0" lang="en-US" sz="1600" b="0" i="0" u="none" strike="noStrike" kern="1200" cap="none" normalizeH="0" baseline="0" dirty="0" smtClean="0">
                          <a:ln>
                            <a:noFill/>
                          </a:ln>
                          <a:solidFill>
                            <a:schemeClr val="tx1"/>
                          </a:solidFill>
                          <a:effectLst/>
                          <a:latin typeface="Arial" pitchFamily="34" charset="0"/>
                          <a:ea typeface="+mn-ea"/>
                          <a:cs typeface="+mn-cs"/>
                        </a:rPr>
                        <a:t>Provide a streamlined approach for defining and estimating work efforts, </a:t>
                      </a:r>
                      <a:br>
                        <a:rPr kumimoji="0" lang="en-US" sz="1600" b="0" i="0" u="none" strike="noStrike" kern="1200" cap="none" normalizeH="0" baseline="0" dirty="0" smtClean="0">
                          <a:ln>
                            <a:noFill/>
                          </a:ln>
                          <a:solidFill>
                            <a:schemeClr val="tx1"/>
                          </a:solidFill>
                          <a:effectLst/>
                          <a:latin typeface="Arial" pitchFamily="34" charset="0"/>
                          <a:ea typeface="+mn-ea"/>
                          <a:cs typeface="+mn-cs"/>
                        </a:rPr>
                      </a:br>
                      <a:r>
                        <a:rPr kumimoji="0" lang="en-US" sz="1600" b="0" i="0" u="none" strike="noStrike" kern="1200" cap="none" normalizeH="0" baseline="0" dirty="0" smtClean="0">
                          <a:ln>
                            <a:noFill/>
                          </a:ln>
                          <a:solidFill>
                            <a:schemeClr val="tx1"/>
                          </a:solidFill>
                          <a:effectLst/>
                          <a:latin typeface="Arial" pitchFamily="34" charset="0"/>
                          <a:ea typeface="+mn-ea"/>
                          <a:cs typeface="+mn-cs"/>
                        </a:rPr>
                        <a:t>calculate resource needs, and determine costs for implementation of systems integration projects. </a:t>
                      </a:r>
                    </a:p>
                    <a:p>
                      <a:pPr marL="115888" marR="0" lvl="1" indent="-114300" algn="l" defTabSz="914400" rtl="0" eaLnBrk="0" fontAlgn="base" latinLnBrk="0" hangingPunct="0">
                        <a:lnSpc>
                          <a:spcPct val="100000"/>
                        </a:lnSpc>
                        <a:spcBef>
                          <a:spcPts val="400"/>
                        </a:spcBef>
                        <a:spcAft>
                          <a:spcPct val="0"/>
                        </a:spcAft>
                        <a:buClrTx/>
                        <a:buSzTx/>
                        <a:buFontTx/>
                        <a:buChar char="•"/>
                        <a:tabLst/>
                        <a:defRPr/>
                      </a:pPr>
                      <a:r>
                        <a:rPr kumimoji="0" lang="en-US" sz="1600" b="0" i="0" u="none" strike="noStrike" kern="1200" cap="none" normalizeH="0" baseline="0" dirty="0" smtClean="0">
                          <a:ln>
                            <a:noFill/>
                          </a:ln>
                          <a:solidFill>
                            <a:schemeClr val="tx1"/>
                          </a:solidFill>
                          <a:effectLst/>
                          <a:latin typeface="Arial" pitchFamily="34" charset="0"/>
                          <a:ea typeface="+mn-ea"/>
                          <a:cs typeface="+mn-cs"/>
                        </a:rPr>
                        <a:t>Collect metrics information. The information will then be fed into the upcoming System Integration (SI) PE&amp;PS tool.</a:t>
                      </a:r>
                    </a:p>
                    <a:p>
                      <a:pPr marL="115888" marR="0" lvl="1" indent="-114300" algn="l" defTabSz="914400" rtl="0" eaLnBrk="0" fontAlgn="base" latinLnBrk="0" hangingPunct="0">
                        <a:lnSpc>
                          <a:spcPct val="100000"/>
                        </a:lnSpc>
                        <a:spcBef>
                          <a:spcPts val="400"/>
                        </a:spcBef>
                        <a:spcAft>
                          <a:spcPct val="0"/>
                        </a:spcAft>
                        <a:buClrTx/>
                        <a:buSzTx/>
                        <a:buFontTx/>
                        <a:buChar char="•"/>
                        <a:tabLst/>
                        <a:defRPr/>
                      </a:pPr>
                      <a:r>
                        <a:rPr kumimoji="0" lang="en-US" sz="1600" b="0" i="0" u="none" strike="noStrike" kern="1200" cap="none" normalizeH="0" baseline="0" dirty="0" smtClean="0">
                          <a:ln>
                            <a:noFill/>
                          </a:ln>
                          <a:solidFill>
                            <a:schemeClr val="tx1"/>
                          </a:solidFill>
                          <a:effectLst/>
                          <a:latin typeface="Arial" pitchFamily="34" charset="0"/>
                          <a:ea typeface="+mn-ea"/>
                          <a:cs typeface="+mn-cs"/>
                        </a:rPr>
                        <a:t>An interim solution of the SI Project Estimation tool.</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xmlns="" val="38157401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1480" y="2824696"/>
            <a:ext cx="8330184" cy="680186"/>
          </a:xfrm>
        </p:spPr>
        <p:txBody>
          <a:bodyPr/>
          <a:lstStyle/>
          <a:p>
            <a:r>
              <a:rPr lang="en-GB" dirty="0" smtClean="0"/>
              <a:t>Detailed Estimation </a:t>
            </a:r>
            <a:r>
              <a:rPr lang="en-GB" dirty="0"/>
              <a:t>P</a:t>
            </a:r>
            <a:r>
              <a:rPr lang="en-GB" dirty="0" smtClean="0"/>
              <a:t>rocess</a:t>
            </a:r>
            <a:endParaRPr lang="en-US" dirty="0"/>
          </a:p>
        </p:txBody>
      </p:sp>
    </p:spTree>
    <p:extLst>
      <p:ext uri="{BB962C8B-B14F-4D97-AF65-F5344CB8AC3E}">
        <p14:creationId xmlns:p14="http://schemas.microsoft.com/office/powerpoint/2010/main" xmlns="" val="338833052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p:cNvSpPr>
            <a:spLocks noGrp="1"/>
          </p:cNvSpPr>
          <p:nvPr>
            <p:ph sz="quarter" idx="12"/>
          </p:nvPr>
        </p:nvSpPr>
        <p:spPr/>
        <p:txBody>
          <a:bodyPr/>
          <a:lstStyle/>
          <a:p>
            <a:r>
              <a:rPr lang="en-US" sz="1600" dirty="0" smtClean="0"/>
              <a:t>Below is an overview of the steps to estimate a project using the SI Estimator Prototype:</a:t>
            </a:r>
          </a:p>
          <a:p>
            <a:endParaRPr lang="en-US" sz="1600" dirty="0" smtClean="0"/>
          </a:p>
          <a:p>
            <a:endParaRPr lang="en-US" sz="1600" dirty="0"/>
          </a:p>
          <a:p>
            <a:endParaRPr lang="en-US" sz="1600" dirty="0" smtClean="0"/>
          </a:p>
          <a:p>
            <a:pPr lvl="1"/>
            <a:r>
              <a:rPr lang="en-US" sz="1600" dirty="0" smtClean="0"/>
              <a:t>Begin the estimation process by documenting project details in the Project Details tab.</a:t>
            </a:r>
          </a:p>
          <a:p>
            <a:pPr lvl="1"/>
            <a:r>
              <a:rPr lang="en-US" sz="1600" dirty="0" smtClean="0"/>
              <a:t>Select SDLC phases that are in scope in the Scope Estimation tab.</a:t>
            </a:r>
          </a:p>
          <a:p>
            <a:pPr lvl="1"/>
            <a:r>
              <a:rPr lang="en-US" sz="1600" dirty="0" smtClean="0"/>
              <a:t>Add fixed resources of the project in the Fixed Resources tab.</a:t>
            </a:r>
          </a:p>
          <a:p>
            <a:pPr lvl="1"/>
            <a:r>
              <a:rPr lang="en-US" sz="1600" dirty="0" smtClean="0"/>
              <a:t>Select applicable deliverables for all phases that are in scope.</a:t>
            </a:r>
          </a:p>
          <a:p>
            <a:pPr lvl="1"/>
            <a:r>
              <a:rPr lang="en-US" sz="1600" dirty="0" smtClean="0"/>
              <a:t>Select system objects that are in scope and define testing requirements.</a:t>
            </a:r>
          </a:p>
          <a:p>
            <a:pPr lvl="1"/>
            <a:r>
              <a:rPr lang="en-US" sz="1600" dirty="0" smtClean="0"/>
              <a:t>Review detailed estimate in the Summary tab and take corrective actions, if necessary.</a:t>
            </a:r>
            <a:endParaRPr lang="en-US" sz="1600" dirty="0"/>
          </a:p>
        </p:txBody>
      </p:sp>
      <p:sp>
        <p:nvSpPr>
          <p:cNvPr id="29" name="Title 28"/>
          <p:cNvSpPr>
            <a:spLocks noGrp="1"/>
          </p:cNvSpPr>
          <p:nvPr>
            <p:ph type="title"/>
          </p:nvPr>
        </p:nvSpPr>
        <p:spPr>
          <a:xfrm>
            <a:off x="414338" y="450279"/>
            <a:ext cx="8330184" cy="333425"/>
          </a:xfrm>
        </p:spPr>
        <p:txBody>
          <a:bodyPr/>
          <a:lstStyle/>
          <a:p>
            <a:r>
              <a:rPr lang="en-US" dirty="0" smtClean="0"/>
              <a:t>Overview</a:t>
            </a:r>
            <a:endParaRPr lang="en-US" dirty="0"/>
          </a:p>
        </p:txBody>
      </p:sp>
      <p:grpSp>
        <p:nvGrpSpPr>
          <p:cNvPr id="2" name="Group 1"/>
          <p:cNvGrpSpPr/>
          <p:nvPr/>
        </p:nvGrpSpPr>
        <p:grpSpPr>
          <a:xfrm>
            <a:off x="405939" y="2054164"/>
            <a:ext cx="8331661" cy="817274"/>
            <a:chOff x="405939" y="2054164"/>
            <a:chExt cx="8359927" cy="817274"/>
          </a:xfrm>
        </p:grpSpPr>
        <p:sp>
          <p:nvSpPr>
            <p:cNvPr id="27"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smtClean="0">
                  <a:solidFill>
                    <a:schemeClr val="bg1"/>
                  </a:solidFill>
                </a:rPr>
                <a:t>Define System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28"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3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3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34"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a:solidFill>
                    <a:schemeClr val="bg1"/>
                  </a:solidFill>
                </a:rPr>
                <a:t>Define </a:t>
              </a:r>
              <a:r>
                <a:rPr lang="en-US" sz="1000" dirty="0" smtClean="0">
                  <a:solidFill>
                    <a:schemeClr val="bg1"/>
                  </a:solidFill>
                </a:rPr>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35"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36"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smtClean="0">
                  <a:solidFill>
                    <a:schemeClr val="bg1"/>
                  </a:solidFill>
                </a:rPr>
                <a:t>Set 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spTree>
    <p:extLst>
      <p:ext uri="{BB962C8B-B14F-4D97-AF65-F5344CB8AC3E}">
        <p14:creationId xmlns:p14="http://schemas.microsoft.com/office/powerpoint/2010/main" xmlns="" val="10105670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a:solidFill>
                  <a:schemeClr val="accent1"/>
                </a:solidFill>
              </a:rPr>
              <a:t>Set </a:t>
            </a:r>
            <a:r>
              <a:rPr lang="en-US" dirty="0" smtClean="0">
                <a:solidFill>
                  <a:schemeClr val="accent1"/>
                </a:solidFill>
              </a:rPr>
              <a:t>up Project</a:t>
            </a:r>
            <a:endParaRPr lang="en-US" dirty="0">
              <a:solidFill>
                <a:schemeClr val="accent1"/>
              </a:solidFill>
            </a:endParaRPr>
          </a:p>
        </p:txBody>
      </p:sp>
      <p:sp>
        <p:nvSpPr>
          <p:cNvPr id="29" name="Round Single Corner Rectangle 28"/>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smtClean="0">
                <a:solidFill>
                  <a:schemeClr val="accent1"/>
                </a:solidFill>
                <a:cs typeface="+mn-cs"/>
              </a:rPr>
              <a:t>Objective: </a:t>
            </a:r>
            <a:r>
              <a:rPr lang="en-US" sz="1500" b="0" dirty="0" smtClean="0">
                <a:solidFill>
                  <a:schemeClr val="accent1"/>
                </a:solidFill>
                <a:cs typeface="+mn-cs"/>
              </a:rPr>
              <a:t>The purpose of this step is to establish a project in the SI Estimator prototype for which an estimate is to be determined.</a:t>
            </a:r>
            <a:endParaRPr lang="en-US" sz="1500" b="0" dirty="0">
              <a:solidFill>
                <a:schemeClr val="accent1"/>
              </a:solidFill>
              <a:cs typeface="+mn-cs"/>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P</a:t>
              </a:r>
              <a:r>
                <a:rPr lang="en-US" sz="1000" dirty="0" smtClean="0">
                  <a:solidFill>
                    <a:schemeClr val="bg1"/>
                  </a:solidFill>
                </a:rPr>
                <a:t>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a:solidFill>
                    <a:schemeClr val="bg1"/>
                  </a:solidFill>
                </a:rPr>
                <a:t>Define </a:t>
              </a:r>
              <a:r>
                <a:rPr lang="en-US" sz="1000" dirty="0" smtClean="0">
                  <a:solidFill>
                    <a:schemeClr val="bg1"/>
                  </a:solidFill>
                </a:rPr>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smtClean="0">
                  <a:solidFill>
                    <a:schemeClr val="bg1"/>
                  </a:solidFill>
                </a:rPr>
                <a:t>Set 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2292626556"/>
              </p:ext>
            </p:extLst>
          </p:nvPr>
        </p:nvGraphicFramePr>
        <p:xfrm>
          <a:off x="400050" y="3203929"/>
          <a:ext cx="8337550" cy="29362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During project setup, the user is required to create a project based on information received from the pursuit team or the current project team. Examples of information needed to set up a project are client name, project details, project start and end date etc.</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Client Name and Project Name.</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Start and End Date.</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Project Partner, Project Manager.</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duration of the project plays a critical role in estimation process and it must be collected prior to setting up a project. Rework will be required in the Fixed Resources tab if the Start and/or End Date of the project is modified.</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xmlns="" val="126940735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a:solidFill>
                  <a:schemeClr val="accent1"/>
                </a:solidFill>
              </a:rPr>
              <a:t>Define E</a:t>
            </a:r>
            <a:r>
              <a:rPr lang="en-US" dirty="0" smtClean="0">
                <a:solidFill>
                  <a:schemeClr val="accent1"/>
                </a:solidFill>
              </a:rPr>
              <a:t>stimation </a:t>
            </a:r>
            <a:r>
              <a:rPr lang="en-US" dirty="0">
                <a:solidFill>
                  <a:schemeClr val="accent1"/>
                </a:solidFill>
              </a:rPr>
              <a:t>S</a:t>
            </a:r>
            <a:r>
              <a:rPr lang="en-US" dirty="0" smtClean="0">
                <a:solidFill>
                  <a:schemeClr val="accent1"/>
                </a:solidFill>
              </a:rPr>
              <a:t>cope</a:t>
            </a:r>
            <a:endParaRPr lang="en-US" dirty="0">
              <a:solidFill>
                <a:schemeClr val="accent1"/>
              </a:solidFill>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a:t>
              </a:r>
              <a:r>
                <a:rPr lang="en-US" sz="1000" dirty="0" smtClean="0">
                  <a:solidFill>
                    <a:schemeClr val="bg1"/>
                  </a:solidFill>
                </a:rPr>
                <a:t>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3939899858"/>
              </p:ext>
            </p:extLst>
          </p:nvPr>
        </p:nvGraphicFramePr>
        <p:xfrm>
          <a:off x="400050" y="3203929"/>
          <a:ext cx="8337550" cy="26060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During this step, the user defines the scope of the project by selecting the applicable SDLC phases. Note that the phases included in the prototype are consistent with the Playbook methodology.</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Which SDLC phases are in scope for the project?</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user should think through the phase and discipline scope, as this may reduce the number of tasks that need to be analyzed. A task/deliverable cannot be included in scope if the associated phase is not selected as in-scope in the Estimation Scope tab.</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smtClean="0">
                <a:solidFill>
                  <a:schemeClr val="accent1"/>
                </a:solidFill>
                <a:cs typeface="+mn-cs"/>
              </a:rPr>
              <a:t>To define the scope by selecting SDLC phases </a:t>
            </a:r>
            <a:r>
              <a:rPr lang="en-US" sz="1500" b="0" dirty="0">
                <a:solidFill>
                  <a:schemeClr val="accent1"/>
                </a:solidFill>
                <a:cs typeface="+mn-cs"/>
              </a:rPr>
              <a:t>that </a:t>
            </a:r>
            <a:r>
              <a:rPr lang="en-US" sz="1500" b="0" dirty="0" smtClean="0">
                <a:solidFill>
                  <a:schemeClr val="accent1"/>
                </a:solidFill>
                <a:cs typeface="+mn-cs"/>
              </a:rPr>
              <a:t>apply to the project. </a:t>
            </a:r>
            <a:endParaRPr lang="en-US" sz="1500" b="0" dirty="0">
              <a:solidFill>
                <a:schemeClr val="accent1"/>
              </a:solidFill>
              <a:cs typeface="+mn-cs"/>
            </a:endParaRPr>
          </a:p>
        </p:txBody>
      </p:sp>
    </p:spTree>
    <p:extLst>
      <p:ext uri="{BB962C8B-B14F-4D97-AF65-F5344CB8AC3E}">
        <p14:creationId xmlns:p14="http://schemas.microsoft.com/office/powerpoint/2010/main" xmlns="" val="170156265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a:solidFill>
                  <a:schemeClr val="accent1"/>
                </a:solidFill>
              </a:rPr>
              <a:t>Fixed R</a:t>
            </a:r>
            <a:r>
              <a:rPr lang="en-US" dirty="0" smtClean="0">
                <a:solidFill>
                  <a:schemeClr val="accent1"/>
                </a:solidFill>
              </a:rPr>
              <a:t>esources</a:t>
            </a:r>
            <a:endParaRPr lang="en-US" dirty="0">
              <a:solidFill>
                <a:schemeClr val="accent1"/>
              </a:solidFill>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a:t>
              </a:r>
              <a:r>
                <a:rPr lang="en-US" sz="1000" dirty="0" smtClean="0">
                  <a:solidFill>
                    <a:schemeClr val="bg1"/>
                  </a:solidFill>
                </a:rPr>
                <a:t>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2139458405"/>
              </p:ext>
            </p:extLst>
          </p:nvPr>
        </p:nvGraphicFramePr>
        <p:xfrm>
          <a:off x="400050" y="3211625"/>
          <a:ext cx="8337550" cy="3147904"/>
        </p:xfrm>
        <a:graphic>
          <a:graphicData uri="http://schemas.openxmlformats.org/drawingml/2006/table">
            <a:tbl>
              <a:tblPr/>
              <a:tblGrid>
                <a:gridCol w="1600200"/>
                <a:gridCol w="6737350"/>
              </a:tblGrid>
              <a:tr h="1021209">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Fixed resources in a project are those who contribute to the overall project or selective phases, independent of any specific SDLC Phase deliverables. Examples of fixed resources are Project Manager, Quality Manager, Project Controller etc.</a:t>
                      </a:r>
                    </a:p>
                  </a:txBody>
                  <a:tcPr marT="91440" marB="9144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644449">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A high-level understanding of the Deloitte allocation of fixed roles.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A defined start and end date for the project and the fixed resources.</a:t>
                      </a:r>
                    </a:p>
                  </a:txBody>
                  <a:tcPr marT="91440" marB="9144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1359744">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Think through specifying the fixed resources carefully so that their efforts are not counted in duplicates from deliverable efforts.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prototype is an excel-based tool and thus there are some limitations (please see Fixed Resources Limitations slide).</a:t>
                      </a:r>
                    </a:p>
                  </a:txBody>
                  <a:tcPr marT="91440" marB="9144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1"/>
            <a:ext cx="8332787" cy="594360"/>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a:solidFill>
                  <a:schemeClr val="accent1"/>
                </a:solidFill>
                <a:cs typeface="+mn-cs"/>
              </a:rPr>
              <a:t>To </a:t>
            </a:r>
            <a:r>
              <a:rPr lang="en-US" sz="1500" b="0" dirty="0" smtClean="0">
                <a:solidFill>
                  <a:schemeClr val="accent1"/>
                </a:solidFill>
                <a:cs typeface="+mn-cs"/>
              </a:rPr>
              <a:t>identify the fixed </a:t>
            </a:r>
            <a:r>
              <a:rPr lang="en-US" sz="1500" b="0" dirty="0">
                <a:solidFill>
                  <a:schemeClr val="accent1"/>
                </a:solidFill>
                <a:cs typeface="+mn-cs"/>
              </a:rPr>
              <a:t>resources </a:t>
            </a:r>
            <a:r>
              <a:rPr lang="en-US" sz="1500" b="0" dirty="0" smtClean="0">
                <a:solidFill>
                  <a:schemeClr val="accent1"/>
                </a:solidFill>
                <a:cs typeface="+mn-cs"/>
              </a:rPr>
              <a:t>who </a:t>
            </a:r>
            <a:r>
              <a:rPr lang="en-US" sz="1500" b="0" dirty="0">
                <a:solidFill>
                  <a:schemeClr val="accent1"/>
                </a:solidFill>
                <a:cs typeface="+mn-cs"/>
              </a:rPr>
              <a:t>are </a:t>
            </a:r>
            <a:r>
              <a:rPr lang="en-US" sz="1500" b="0" dirty="0" smtClean="0">
                <a:solidFill>
                  <a:schemeClr val="accent1"/>
                </a:solidFill>
                <a:cs typeface="+mn-cs"/>
              </a:rPr>
              <a:t>to be counted for estimating the project.</a:t>
            </a:r>
            <a:endParaRPr lang="en-US" sz="1500" b="0" dirty="0">
              <a:solidFill>
                <a:schemeClr val="accent1"/>
              </a:solidFill>
              <a:cs typeface="+mn-cs"/>
            </a:endParaRPr>
          </a:p>
        </p:txBody>
      </p:sp>
    </p:spTree>
    <p:extLst>
      <p:ext uri="{BB962C8B-B14F-4D97-AF65-F5344CB8AC3E}">
        <p14:creationId xmlns:p14="http://schemas.microsoft.com/office/powerpoint/2010/main" xmlns="" val="329591826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a:solidFill>
                  <a:schemeClr val="accent1"/>
                </a:solidFill>
              </a:rPr>
              <a:t>Select P</a:t>
            </a:r>
            <a:r>
              <a:rPr lang="en-US" dirty="0" smtClean="0">
                <a:solidFill>
                  <a:schemeClr val="accent1"/>
                </a:solidFill>
              </a:rPr>
              <a:t>hase </a:t>
            </a:r>
            <a:r>
              <a:rPr lang="en-US" dirty="0">
                <a:solidFill>
                  <a:schemeClr val="accent1"/>
                </a:solidFill>
              </a:rPr>
              <a:t>D</a:t>
            </a:r>
            <a:r>
              <a:rPr lang="en-US" dirty="0" smtClean="0">
                <a:solidFill>
                  <a:schemeClr val="accent1"/>
                </a:solidFill>
              </a:rPr>
              <a:t>eliverables</a:t>
            </a:r>
            <a:endParaRPr lang="en-US" dirty="0">
              <a:solidFill>
                <a:schemeClr val="accent1"/>
              </a:solidFill>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a:t>
              </a:r>
              <a:r>
                <a:rPr lang="en-US" sz="1000" dirty="0" smtClean="0">
                  <a:solidFill>
                    <a:schemeClr val="bg1"/>
                  </a:solidFill>
                </a:rPr>
                <a:t>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3995996009"/>
              </p:ext>
            </p:extLst>
          </p:nvPr>
        </p:nvGraphicFramePr>
        <p:xfrm>
          <a:off x="400050" y="3203929"/>
          <a:ext cx="8337550" cy="29362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The user selects all the project deliverables that are included in the effort. The user will also need to include the quantity and complexity of each deliverable or work product throughout the SDLC phases.</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A high-level understanding of the project deliverables and work products.</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Determination of the technology components to be used in the project (e.g., Java, .NET, Mainframe).</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Some of the deliverables have metrics (i.e., SI standard estimates) associated with them; however, the user can adjust the metrics as necessary.</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Please see the deliverables slides for more details.</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a:solidFill>
                  <a:schemeClr val="accent1"/>
                </a:solidFill>
                <a:cs typeface="+mn-cs"/>
              </a:rPr>
              <a:t>To select deliverables </a:t>
            </a:r>
            <a:r>
              <a:rPr lang="en-US" sz="1500" b="0" dirty="0" smtClean="0">
                <a:solidFill>
                  <a:schemeClr val="accent1"/>
                </a:solidFill>
                <a:cs typeface="+mn-cs"/>
              </a:rPr>
              <a:t>for </a:t>
            </a:r>
            <a:r>
              <a:rPr lang="en-US" sz="1500" b="0" dirty="0">
                <a:solidFill>
                  <a:schemeClr val="accent1"/>
                </a:solidFill>
                <a:cs typeface="+mn-cs"/>
              </a:rPr>
              <a:t>all </a:t>
            </a:r>
            <a:r>
              <a:rPr lang="en-US" sz="1500" b="0" dirty="0" smtClean="0">
                <a:solidFill>
                  <a:schemeClr val="accent1"/>
                </a:solidFill>
                <a:cs typeface="+mn-cs"/>
              </a:rPr>
              <a:t>SDLC phases </a:t>
            </a:r>
            <a:r>
              <a:rPr lang="en-US" sz="1500" b="0" dirty="0">
                <a:solidFill>
                  <a:schemeClr val="accent1"/>
                </a:solidFill>
              </a:rPr>
              <a:t>that </a:t>
            </a:r>
            <a:r>
              <a:rPr lang="en-US" sz="1500" b="0" dirty="0" smtClean="0">
                <a:solidFill>
                  <a:schemeClr val="accent1"/>
                </a:solidFill>
              </a:rPr>
              <a:t>are to be included </a:t>
            </a:r>
            <a:r>
              <a:rPr lang="en-US" sz="1500" b="0" dirty="0">
                <a:solidFill>
                  <a:schemeClr val="accent1"/>
                </a:solidFill>
              </a:rPr>
              <a:t>in </a:t>
            </a:r>
            <a:r>
              <a:rPr lang="en-US" sz="1500" b="0" dirty="0" smtClean="0">
                <a:solidFill>
                  <a:schemeClr val="accent1"/>
                </a:solidFill>
              </a:rPr>
              <a:t>estimating the project</a:t>
            </a:r>
            <a:r>
              <a:rPr lang="en-US" sz="1500" b="0" dirty="0" smtClean="0">
                <a:solidFill>
                  <a:schemeClr val="accent1"/>
                </a:solidFill>
                <a:cs typeface="+mn-cs"/>
              </a:rPr>
              <a:t>.</a:t>
            </a:r>
            <a:endParaRPr lang="en-US" sz="1500" b="0" dirty="0">
              <a:solidFill>
                <a:schemeClr val="accent1"/>
              </a:solidFill>
              <a:cs typeface="+mn-cs"/>
            </a:endParaRPr>
          </a:p>
        </p:txBody>
      </p:sp>
    </p:spTree>
    <p:extLst>
      <p:ext uri="{BB962C8B-B14F-4D97-AF65-F5344CB8AC3E}">
        <p14:creationId xmlns:p14="http://schemas.microsoft.com/office/powerpoint/2010/main" xmlns="" val="364193496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smtClean="0">
                <a:solidFill>
                  <a:schemeClr val="accent1"/>
                </a:solidFill>
              </a:rPr>
              <a:t>Define System </a:t>
            </a:r>
            <a:r>
              <a:rPr lang="en-US" dirty="0">
                <a:solidFill>
                  <a:schemeClr val="accent1"/>
                </a:solidFill>
              </a:rPr>
              <a:t>O</a:t>
            </a:r>
            <a:r>
              <a:rPr lang="en-US" dirty="0" smtClean="0">
                <a:solidFill>
                  <a:schemeClr val="accent1"/>
                </a:solidFill>
              </a:rPr>
              <a:t>bjects</a:t>
            </a:r>
            <a:endParaRPr lang="en-US" dirty="0">
              <a:solidFill>
                <a:schemeClr val="accent1"/>
              </a:solidFill>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u</a:t>
              </a:r>
              <a:r>
                <a:rPr lang="en-US" sz="1000" dirty="0" smtClean="0">
                  <a:solidFill>
                    <a:schemeClr val="bg1"/>
                  </a:solidFill>
                </a:rPr>
                <a:t>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3680409282"/>
              </p:ext>
            </p:extLst>
          </p:nvPr>
        </p:nvGraphicFramePr>
        <p:xfrm>
          <a:off x="400050" y="3203929"/>
          <a:ext cx="8337550" cy="24282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The user identifies all the technology objects in the design, and develop life cycle of the project. The user also enters the quantity and complexity of each object.</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Determination of the technology components to be used in the project (e.g., Java, .NET, Mainframe).</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Some of the technology objects have metrics associated with them; however, the user can adjust the metrics as necessary.</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Please see the deliverables slides for more details.</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a:solidFill>
                  <a:schemeClr val="accent1"/>
                </a:solidFill>
                <a:cs typeface="+mn-cs"/>
              </a:rPr>
              <a:t>To select the </a:t>
            </a:r>
            <a:r>
              <a:rPr lang="en-US" sz="1500" b="0" dirty="0" smtClean="0">
                <a:solidFill>
                  <a:schemeClr val="accent1"/>
                </a:solidFill>
                <a:cs typeface="+mn-cs"/>
              </a:rPr>
              <a:t>technology </a:t>
            </a:r>
            <a:r>
              <a:rPr lang="en-US" sz="1500" b="0" dirty="0">
                <a:solidFill>
                  <a:schemeClr val="accent1"/>
                </a:solidFill>
                <a:cs typeface="+mn-cs"/>
              </a:rPr>
              <a:t>objects required to develop and design the project.</a:t>
            </a:r>
          </a:p>
        </p:txBody>
      </p:sp>
    </p:spTree>
    <p:extLst>
      <p:ext uri="{BB962C8B-B14F-4D97-AF65-F5344CB8AC3E}">
        <p14:creationId xmlns:p14="http://schemas.microsoft.com/office/powerpoint/2010/main" xmlns="" val="295832829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smtClean="0">
                <a:solidFill>
                  <a:schemeClr val="accent1"/>
                </a:solidFill>
              </a:rPr>
              <a:t>Define Testing </a:t>
            </a:r>
            <a:r>
              <a:rPr lang="en-US" dirty="0">
                <a:solidFill>
                  <a:schemeClr val="accent1"/>
                </a:solidFill>
              </a:rPr>
              <a:t>R</a:t>
            </a:r>
            <a:r>
              <a:rPr lang="en-US" dirty="0" smtClean="0">
                <a:solidFill>
                  <a:schemeClr val="accent1"/>
                </a:solidFill>
              </a:rPr>
              <a:t>equirements</a:t>
            </a:r>
            <a:endParaRPr lang="en-US" dirty="0">
              <a:solidFill>
                <a:schemeClr val="accent1"/>
              </a:solidFill>
            </a:endParaRP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5</a:t>
              </a:r>
            </a:p>
            <a:p>
              <a:pPr>
                <a:defRPr/>
              </a:pPr>
              <a:r>
                <a:rPr lang="en-US" sz="1000" dirty="0">
                  <a:solidFill>
                    <a:schemeClr val="bg1"/>
                  </a:solidFill>
                </a:rPr>
                <a:t>Define S</a:t>
              </a:r>
              <a:r>
                <a:rPr lang="en-US" sz="1000" dirty="0" smtClean="0">
                  <a:solidFill>
                    <a:schemeClr val="bg1"/>
                  </a:solidFill>
                </a:rPr>
                <a:t>ystem </a:t>
              </a:r>
              <a:br>
                <a:rPr lang="en-US" sz="1000" dirty="0" smtClean="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6</a:t>
              </a:r>
            </a:p>
            <a:p>
              <a:pPr>
                <a:defRPr/>
              </a:pPr>
              <a:r>
                <a:rPr lang="en-US" sz="1000" dirty="0">
                  <a:solidFill>
                    <a:schemeClr val="bg1"/>
                  </a:solidFill>
                </a:rPr>
                <a:t>Define T</a:t>
              </a:r>
              <a:r>
                <a:rPr lang="en-US" sz="1000" dirty="0" smtClean="0">
                  <a:solidFill>
                    <a:schemeClr val="bg1"/>
                  </a:solidFill>
                </a:rPr>
                <a:t>esting </a:t>
              </a:r>
              <a:br>
                <a:rPr lang="en-US" sz="1000" dirty="0" smtClean="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 7 </a:t>
              </a:r>
            </a:p>
            <a:p>
              <a:pPr>
                <a:defRPr/>
              </a:pPr>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a:t>
              </a:r>
              <a:r>
                <a:rPr lang="en-US" sz="1000" dirty="0" smtClean="0">
                  <a:solidFill>
                    <a:schemeClr val="bg1"/>
                  </a:solidFill>
                </a:rPr>
                <a:t>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4150718176"/>
              </p:ext>
            </p:extLst>
          </p:nvPr>
        </p:nvGraphicFramePr>
        <p:xfrm>
          <a:off x="400050" y="3203929"/>
          <a:ext cx="8337550" cy="32156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The user determines all the testing phases and the number of testing iterations needed for the project. The user also determines deliverables associated with the testing phases.</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Determination of the testing phases and iterations required for each phase.</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Determination of number of deliverables and complexities associated for each deliverable.</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Some of the testing deliverables have metrics associated with them; however, the user can adjust the metrics as necessary.</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user should determine which test phases are in scope (e.g., performance, integration, user acceptance etc.)</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user is limited to 10 testing iterations per testing phase.</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a:solidFill>
                  <a:schemeClr val="accent1"/>
                </a:solidFill>
                <a:cs typeface="+mn-cs"/>
              </a:rPr>
              <a:t>To select the testing phases and number of testing </a:t>
            </a:r>
            <a:r>
              <a:rPr lang="en-US" sz="1500" b="0" dirty="0" smtClean="0">
                <a:solidFill>
                  <a:schemeClr val="accent1"/>
                </a:solidFill>
                <a:cs typeface="+mn-cs"/>
              </a:rPr>
              <a:t>iterations </a:t>
            </a:r>
            <a:r>
              <a:rPr lang="en-US" sz="1500" b="0" dirty="0">
                <a:solidFill>
                  <a:schemeClr val="accent1"/>
                </a:solidFill>
                <a:cs typeface="+mn-cs"/>
              </a:rPr>
              <a:t>needed for the project.</a:t>
            </a:r>
          </a:p>
        </p:txBody>
      </p:sp>
    </p:spTree>
    <p:extLst>
      <p:ext uri="{BB962C8B-B14F-4D97-AF65-F5344CB8AC3E}">
        <p14:creationId xmlns:p14="http://schemas.microsoft.com/office/powerpoint/2010/main" xmlns="" val="59967880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4338" y="450279"/>
            <a:ext cx="8330184" cy="333425"/>
          </a:xfrm>
        </p:spPr>
        <p:txBody>
          <a:bodyPr/>
          <a:lstStyle/>
          <a:p>
            <a:r>
              <a:rPr lang="en-US" dirty="0">
                <a:solidFill>
                  <a:schemeClr val="accent1"/>
                </a:solidFill>
              </a:rPr>
              <a:t>Summary</a:t>
            </a:r>
          </a:p>
        </p:txBody>
      </p:sp>
      <p:grpSp>
        <p:nvGrpSpPr>
          <p:cNvPr id="38" name="Group 37"/>
          <p:cNvGrpSpPr/>
          <p:nvPr/>
        </p:nvGrpSpPr>
        <p:grpSpPr>
          <a:xfrm>
            <a:off x="405939" y="1400175"/>
            <a:ext cx="8331661" cy="817274"/>
            <a:chOff x="405939" y="2054164"/>
            <a:chExt cx="8359927" cy="817274"/>
          </a:xfrm>
        </p:grpSpPr>
        <p:sp>
          <p:nvSpPr>
            <p:cNvPr id="39" name="AutoShape 24"/>
            <p:cNvSpPr>
              <a:spLocks noChangeArrowheads="1"/>
            </p:cNvSpPr>
            <p:nvPr/>
          </p:nvSpPr>
          <p:spPr bwMode="auto">
            <a:xfrm>
              <a:off x="510139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r>
                <a:rPr lang="en-US" sz="1000" dirty="0">
                  <a:solidFill>
                    <a:schemeClr val="bg1"/>
                  </a:solidFill>
                </a:rPr>
                <a:t>5</a:t>
              </a:r>
            </a:p>
            <a:p>
              <a:r>
                <a:rPr lang="en-US" sz="1000" dirty="0">
                  <a:solidFill>
                    <a:schemeClr val="bg1"/>
                  </a:solidFill>
                </a:rPr>
                <a:t>Define </a:t>
              </a:r>
              <a:r>
                <a:rPr lang="en-US" sz="1000" dirty="0" smtClean="0">
                  <a:solidFill>
                    <a:schemeClr val="bg1"/>
                  </a:solidFill>
                </a:rPr>
                <a:t>System </a:t>
              </a:r>
              <a:r>
                <a:rPr lang="en-US" sz="1000" dirty="0">
                  <a:solidFill>
                    <a:schemeClr val="bg1"/>
                  </a:solidFill>
                </a:rPr>
                <a:t/>
              </a:r>
              <a:br>
                <a:rPr lang="en-US" sz="1000" dirty="0">
                  <a:solidFill>
                    <a:schemeClr val="bg1"/>
                  </a:solidFill>
                </a:rPr>
              </a:br>
              <a:r>
                <a:rPr lang="en-US" sz="1000" dirty="0" smtClean="0">
                  <a:solidFill>
                    <a:schemeClr val="bg1"/>
                  </a:solidFill>
                </a:rPr>
                <a:t>Objects</a:t>
              </a:r>
              <a:endParaRPr lang="en-US" sz="1000" dirty="0">
                <a:solidFill>
                  <a:schemeClr val="bg1"/>
                </a:solidFill>
              </a:endParaRPr>
            </a:p>
          </p:txBody>
        </p:sp>
        <p:sp>
          <p:nvSpPr>
            <p:cNvPr id="40" name="AutoShape 25"/>
            <p:cNvSpPr>
              <a:spLocks noChangeArrowheads="1"/>
            </p:cNvSpPr>
            <p:nvPr/>
          </p:nvSpPr>
          <p:spPr bwMode="auto">
            <a:xfrm>
              <a:off x="392753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4</a:t>
              </a:r>
            </a:p>
            <a:p>
              <a:pPr>
                <a:defRPr/>
              </a:pPr>
              <a:r>
                <a:rPr lang="en-US" sz="1000" dirty="0">
                  <a:solidFill>
                    <a:schemeClr val="bg1"/>
                  </a:solidFill>
                </a:rPr>
                <a:t>Select </a:t>
              </a:r>
              <a:r>
                <a:rPr lang="en-US" sz="1000" dirty="0" smtClean="0">
                  <a:solidFill>
                    <a:schemeClr val="bg1"/>
                  </a:solidFill>
                </a:rPr>
                <a:t>Phase </a:t>
              </a:r>
              <a:br>
                <a:rPr lang="en-US" sz="1000" dirty="0" smtClean="0">
                  <a:solidFill>
                    <a:schemeClr val="bg1"/>
                  </a:solidFill>
                </a:rPr>
              </a:br>
              <a:r>
                <a:rPr lang="en-US" sz="1000" dirty="0" smtClean="0">
                  <a:solidFill>
                    <a:schemeClr val="bg1"/>
                  </a:solidFill>
                </a:rPr>
                <a:t>Deliverables</a:t>
              </a:r>
              <a:endParaRPr lang="en-US" sz="1000" dirty="0">
                <a:solidFill>
                  <a:schemeClr val="bg1"/>
                </a:solidFill>
              </a:endParaRPr>
            </a:p>
          </p:txBody>
        </p:sp>
        <p:sp>
          <p:nvSpPr>
            <p:cNvPr id="41" name="AutoShape 26"/>
            <p:cNvSpPr>
              <a:spLocks noChangeArrowheads="1"/>
            </p:cNvSpPr>
            <p:nvPr/>
          </p:nvSpPr>
          <p:spPr bwMode="auto">
            <a:xfrm>
              <a:off x="627526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r>
                <a:rPr lang="en-US" sz="1000" dirty="0">
                  <a:solidFill>
                    <a:schemeClr val="bg1"/>
                  </a:solidFill>
                </a:rPr>
                <a:t>6</a:t>
              </a:r>
            </a:p>
            <a:p>
              <a:r>
                <a:rPr lang="en-US" sz="1000" dirty="0">
                  <a:solidFill>
                    <a:schemeClr val="bg1"/>
                  </a:solidFill>
                </a:rPr>
                <a:t>Define </a:t>
              </a:r>
              <a:r>
                <a:rPr lang="en-US" sz="1000" dirty="0" smtClean="0">
                  <a:solidFill>
                    <a:schemeClr val="bg1"/>
                  </a:solidFill>
                </a:rPr>
                <a:t>Testing </a:t>
              </a:r>
              <a:r>
                <a:rPr lang="en-US" sz="1000" dirty="0">
                  <a:solidFill>
                    <a:schemeClr val="bg1"/>
                  </a:solidFill>
                </a:rPr>
                <a:t/>
              </a:r>
              <a:br>
                <a:rPr lang="en-US" sz="1000" dirty="0">
                  <a:solidFill>
                    <a:schemeClr val="bg1"/>
                  </a:solidFill>
                </a:rPr>
              </a:br>
              <a:r>
                <a:rPr lang="en-US" sz="1000" dirty="0" smtClean="0">
                  <a:solidFill>
                    <a:schemeClr val="bg1"/>
                  </a:solidFill>
                </a:rPr>
                <a:t>Requirements </a:t>
              </a:r>
              <a:endParaRPr lang="en-US" sz="1000" dirty="0">
                <a:solidFill>
                  <a:schemeClr val="bg1"/>
                </a:solidFill>
              </a:endParaRPr>
            </a:p>
          </p:txBody>
        </p:sp>
        <p:sp>
          <p:nvSpPr>
            <p:cNvPr id="42" name="AutoShape 35"/>
            <p:cNvSpPr>
              <a:spLocks noChangeArrowheads="1"/>
            </p:cNvSpPr>
            <p:nvPr/>
          </p:nvSpPr>
          <p:spPr bwMode="auto">
            <a:xfrm>
              <a:off x="275366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3</a:t>
              </a:r>
            </a:p>
            <a:p>
              <a:pPr>
                <a:defRPr/>
              </a:pPr>
              <a:r>
                <a:rPr lang="en-US" sz="1000" dirty="0">
                  <a:solidFill>
                    <a:schemeClr val="bg1"/>
                  </a:solidFill>
                </a:rPr>
                <a:t>Fixed </a:t>
              </a:r>
              <a:r>
                <a:rPr lang="en-US" sz="1000" dirty="0" smtClean="0">
                  <a:solidFill>
                    <a:schemeClr val="bg1"/>
                  </a:solidFill>
                </a:rPr>
                <a:t/>
              </a:r>
              <a:br>
                <a:rPr lang="en-US" sz="1000" dirty="0" smtClean="0">
                  <a:solidFill>
                    <a:schemeClr val="bg1"/>
                  </a:solidFill>
                </a:rPr>
              </a:br>
              <a:r>
                <a:rPr lang="en-US" sz="1000" dirty="0" smtClean="0">
                  <a:solidFill>
                    <a:schemeClr val="bg1"/>
                  </a:solidFill>
                </a:rPr>
                <a:t>Resources</a:t>
              </a:r>
              <a:endParaRPr lang="en-US" sz="1000" dirty="0">
                <a:solidFill>
                  <a:schemeClr val="bg1"/>
                </a:solidFill>
              </a:endParaRPr>
            </a:p>
          </p:txBody>
        </p:sp>
        <p:sp>
          <p:nvSpPr>
            <p:cNvPr id="43" name="AutoShape 35"/>
            <p:cNvSpPr>
              <a:spLocks noChangeArrowheads="1"/>
            </p:cNvSpPr>
            <p:nvPr/>
          </p:nvSpPr>
          <p:spPr bwMode="auto">
            <a:xfrm>
              <a:off x="1579804"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2</a:t>
              </a:r>
            </a:p>
            <a:p>
              <a:pPr>
                <a:defRPr/>
              </a:pPr>
              <a:r>
                <a:rPr lang="en-US" sz="1000" dirty="0" smtClean="0">
                  <a:solidFill>
                    <a:schemeClr val="bg1"/>
                  </a:solidFill>
                </a:rPr>
                <a:t>Define </a:t>
              </a:r>
              <a:br>
                <a:rPr lang="en-US" sz="1000" dirty="0" smtClean="0">
                  <a:solidFill>
                    <a:schemeClr val="bg1"/>
                  </a:solidFill>
                </a:rPr>
              </a:br>
              <a:r>
                <a:rPr lang="en-US" sz="1000" dirty="0" smtClean="0">
                  <a:solidFill>
                    <a:schemeClr val="bg1"/>
                  </a:solidFill>
                </a:rPr>
                <a:t>Estimation </a:t>
              </a:r>
              <a:br>
                <a:rPr lang="en-US" sz="1000" dirty="0" smtClean="0">
                  <a:solidFill>
                    <a:schemeClr val="bg1"/>
                  </a:solidFill>
                </a:rPr>
              </a:br>
              <a:r>
                <a:rPr lang="en-US" sz="1000" dirty="0" smtClean="0">
                  <a:solidFill>
                    <a:schemeClr val="bg1"/>
                  </a:solidFill>
                </a:rPr>
                <a:t>Scope</a:t>
              </a:r>
              <a:endParaRPr lang="en-US" sz="1000" dirty="0">
                <a:solidFill>
                  <a:schemeClr val="bg1"/>
                </a:solidFill>
              </a:endParaRPr>
            </a:p>
          </p:txBody>
        </p:sp>
        <p:sp>
          <p:nvSpPr>
            <p:cNvPr id="44" name="AutoShape 26"/>
            <p:cNvSpPr>
              <a:spLocks noChangeArrowheads="1"/>
            </p:cNvSpPr>
            <p:nvPr/>
          </p:nvSpPr>
          <p:spPr bwMode="auto">
            <a:xfrm>
              <a:off x="7449130" y="2054164"/>
              <a:ext cx="1316736" cy="817274"/>
            </a:xfrm>
            <a:prstGeom prst="chevron">
              <a:avLst>
                <a:gd name="adj" fmla="val 24096"/>
              </a:avLst>
            </a:prstGeom>
            <a:solidFill>
              <a:schemeClr val="accent2"/>
            </a:solidFill>
            <a:ln w="12700" cap="sq">
              <a:noFill/>
              <a:miter lim="800000"/>
              <a:headEnd type="none" w="sm" len="sm"/>
              <a:tailEnd type="none" w="sm" len="sm"/>
            </a:ln>
            <a:effectLst/>
          </p:spPr>
          <p:txBody>
            <a:bodyPr wrap="none" lIns="45720" rIns="45720" anchor="ctr"/>
            <a:lstStyle/>
            <a:p>
              <a:r>
                <a:rPr lang="en-US" sz="1000" dirty="0">
                  <a:solidFill>
                    <a:schemeClr val="bg1"/>
                  </a:solidFill>
                </a:rPr>
                <a:t> 7 </a:t>
              </a:r>
            </a:p>
            <a:p>
              <a:r>
                <a:rPr lang="en-US" sz="1000" dirty="0">
                  <a:solidFill>
                    <a:schemeClr val="bg1"/>
                  </a:solidFill>
                </a:rPr>
                <a:t>Summary</a:t>
              </a:r>
            </a:p>
          </p:txBody>
        </p:sp>
        <p:sp>
          <p:nvSpPr>
            <p:cNvPr id="45" name="AutoShape 35"/>
            <p:cNvSpPr>
              <a:spLocks noChangeArrowheads="1"/>
            </p:cNvSpPr>
            <p:nvPr/>
          </p:nvSpPr>
          <p:spPr bwMode="auto">
            <a:xfrm>
              <a:off x="405939" y="2054164"/>
              <a:ext cx="1316736" cy="817274"/>
            </a:xfrm>
            <a:prstGeom prst="chevron">
              <a:avLst>
                <a:gd name="adj" fmla="val 24096"/>
              </a:avLst>
            </a:prstGeom>
            <a:solidFill>
              <a:schemeClr val="accent3"/>
            </a:solidFill>
            <a:ln w="12700" cap="sq">
              <a:noFill/>
              <a:miter lim="800000"/>
              <a:headEnd type="none" w="sm" len="sm"/>
              <a:tailEnd type="none" w="sm" len="sm"/>
            </a:ln>
            <a:effectLst/>
          </p:spPr>
          <p:txBody>
            <a:bodyPr wrap="none" lIns="45720" rIns="45720" anchor="ctr"/>
            <a:lstStyle/>
            <a:p>
              <a:pPr>
                <a:defRPr/>
              </a:pPr>
              <a:r>
                <a:rPr lang="en-US" sz="1000" dirty="0">
                  <a:solidFill>
                    <a:schemeClr val="bg1"/>
                  </a:solidFill>
                </a:rPr>
                <a:t>1</a:t>
              </a:r>
            </a:p>
            <a:p>
              <a:pPr>
                <a:defRPr/>
              </a:pPr>
              <a:r>
                <a:rPr lang="en-US" sz="1000" dirty="0">
                  <a:solidFill>
                    <a:schemeClr val="bg1"/>
                  </a:solidFill>
                </a:rPr>
                <a:t>Set </a:t>
              </a:r>
              <a:r>
                <a:rPr lang="en-US" sz="1000" dirty="0" smtClean="0">
                  <a:solidFill>
                    <a:schemeClr val="bg1"/>
                  </a:solidFill>
                </a:rPr>
                <a:t>up </a:t>
              </a:r>
              <a:br>
                <a:rPr lang="en-US" sz="1000" dirty="0" smtClean="0">
                  <a:solidFill>
                    <a:schemeClr val="bg1"/>
                  </a:solidFill>
                </a:rPr>
              </a:br>
              <a:r>
                <a:rPr lang="en-US" sz="1000" dirty="0" smtClean="0">
                  <a:solidFill>
                    <a:schemeClr val="bg1"/>
                  </a:solidFill>
                </a:rPr>
                <a:t>Project</a:t>
              </a:r>
              <a:endParaRPr lang="en-US" sz="1000" dirty="0">
                <a:solidFill>
                  <a:schemeClr val="bg1"/>
                </a:solidFill>
              </a:endParaRPr>
            </a:p>
          </p:txBody>
        </p:sp>
      </p:grpSp>
      <p:graphicFrame>
        <p:nvGraphicFramePr>
          <p:cNvPr id="46" name="Group 244"/>
          <p:cNvGraphicFramePr>
            <a:graphicFrameLocks noGrp="1"/>
          </p:cNvGraphicFramePr>
          <p:nvPr>
            <p:extLst>
              <p:ext uri="{D42A27DB-BD31-4B8C-83A1-F6EECF244321}">
                <p14:modId xmlns:p14="http://schemas.microsoft.com/office/powerpoint/2010/main" xmlns="" val="3900925943"/>
              </p:ext>
            </p:extLst>
          </p:nvPr>
        </p:nvGraphicFramePr>
        <p:xfrm>
          <a:off x="400050" y="3203929"/>
          <a:ext cx="8337550" cy="3215640"/>
        </p:xfrm>
        <a:graphic>
          <a:graphicData uri="http://schemas.openxmlformats.org/drawingml/2006/table">
            <a:tbl>
              <a:tblPr/>
              <a:tblGrid>
                <a:gridCol w="1600200"/>
                <a:gridCol w="6737350"/>
              </a:tblGrid>
              <a:tr h="303213">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Description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After the user validates the estimated hours, he/she reviews the estimated costs. The user should review the rates of the fixed resources based upon the current pricing model. </a:t>
                      </a:r>
                    </a:p>
                    <a:p>
                      <a:pPr marL="0" marR="0" lvl="0" indent="0" algn="l" defTabSz="914400" rtl="0" eaLnBrk="0" fontAlgn="base" latinLnBrk="0" hangingPunct="0">
                        <a:lnSpc>
                          <a:spcPct val="100000"/>
                        </a:lnSpc>
                        <a:spcBef>
                          <a:spcPts val="400"/>
                        </a:spcBef>
                        <a:spcAft>
                          <a:spcPct val="0"/>
                        </a:spcAft>
                        <a:buClrTx/>
                        <a:buSzTx/>
                        <a:buFontTx/>
                        <a:buNone/>
                        <a:tabLst/>
                      </a:pPr>
                      <a:r>
                        <a:rPr kumimoji="0" lang="en-US" sz="1500" b="0" i="0" u="none" strike="noStrike" cap="none" normalizeH="0" baseline="0" dirty="0" smtClean="0">
                          <a:ln>
                            <a:noFill/>
                          </a:ln>
                          <a:solidFill>
                            <a:schemeClr val="tx2"/>
                          </a:solidFill>
                          <a:effectLst/>
                          <a:latin typeface="Arial" pitchFamily="34" charset="0"/>
                        </a:rPr>
                        <a:t>The user can also compare the cost generated by the prototype with the estimates based on the Gartner guideline.</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Prerequisite information</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All SDLC tabs and Fixed Resources tab have been filled out.</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Rates from the latest Deloitte Pricing Model are incorporated.</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100000"/>
                        </a:spcBef>
                        <a:spcAft>
                          <a:spcPct val="0"/>
                        </a:spcAft>
                        <a:buClrTx/>
                        <a:buSzTx/>
                        <a:buFont typeface="Arial" pitchFamily="34" charset="0"/>
                        <a:buNone/>
                        <a:tabLst/>
                      </a:pPr>
                      <a:r>
                        <a:rPr kumimoji="0" lang="en-US" sz="1500" b="1" i="0" u="none" strike="noStrike" cap="none" normalizeH="0" baseline="0" dirty="0" smtClean="0">
                          <a:ln>
                            <a:noFill/>
                          </a:ln>
                          <a:solidFill>
                            <a:schemeClr val="bg1"/>
                          </a:solidFill>
                          <a:effectLst/>
                          <a:latin typeface="Arial" pitchFamily="34" charset="0"/>
                        </a:rPr>
                        <a:t>Key considerations</a:t>
                      </a:r>
                    </a:p>
                  </a:txBody>
                  <a:tcPr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solidFill>
                      <a:schemeClr val="hlink"/>
                    </a:solidFill>
                  </a:tcPr>
                </a:tc>
                <a:tc>
                  <a:txBody>
                    <a:bodyPr/>
                    <a:lstStyle/>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Review the fixed resources roles to ensure that fixed resources (other than the Quality and Project Managers) are not double counted.</a:t>
                      </a:r>
                    </a:p>
                    <a:p>
                      <a:pPr marL="115888" marR="0" lvl="1" indent="-114300" algn="l" defTabSz="914400" rtl="0" eaLnBrk="0" fontAlgn="base" latinLnBrk="0" hangingPunct="0">
                        <a:lnSpc>
                          <a:spcPct val="100000"/>
                        </a:lnSpc>
                        <a:spcBef>
                          <a:spcPts val="400"/>
                        </a:spcBef>
                        <a:spcAft>
                          <a:spcPct val="0"/>
                        </a:spcAft>
                        <a:buClrTx/>
                        <a:buSzTx/>
                        <a:buFontTx/>
                        <a:buChar char="•"/>
                        <a:tabLst/>
                      </a:pPr>
                      <a:r>
                        <a:rPr kumimoji="0" lang="en-US" sz="1500" b="0" i="0" u="none" strike="noStrike" cap="none" normalizeH="0" baseline="0" dirty="0" smtClean="0">
                          <a:ln>
                            <a:noFill/>
                          </a:ln>
                          <a:solidFill>
                            <a:schemeClr val="tx2"/>
                          </a:solidFill>
                          <a:effectLst/>
                          <a:latin typeface="Arial" pitchFamily="34" charset="0"/>
                        </a:rPr>
                        <a:t>The rate of the fixed resources should be reviewed against the current pricing model or against the agreed rate between the project and client. </a:t>
                      </a:r>
                    </a:p>
                  </a:txBody>
                  <a:tcPr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72C7E7"/>
                      </a:solidFill>
                      <a:prstDash val="solid"/>
                      <a:round/>
                      <a:headEnd type="none" w="med" len="med"/>
                      <a:tailEnd type="none" w="med" len="med"/>
                    </a:lnT>
                    <a:lnB w="19050" cap="flat" cmpd="sng" algn="ctr">
                      <a:solidFill>
                        <a:srgbClr val="72C7E7"/>
                      </a:solidFill>
                      <a:prstDash val="solid"/>
                      <a:round/>
                      <a:headEnd type="none" w="med" len="med"/>
                      <a:tailEnd type="none" w="med" len="med"/>
                    </a:lnB>
                    <a:lnTlToBr>
                      <a:noFill/>
                    </a:lnTlToBr>
                    <a:lnBlToTr>
                      <a:noFill/>
                    </a:lnBlToTr>
                    <a:noFill/>
                  </a:tcPr>
                </a:tc>
              </a:tr>
            </a:tbl>
          </a:graphicData>
        </a:graphic>
      </p:graphicFrame>
      <p:sp>
        <p:nvSpPr>
          <p:cNvPr id="13" name="Round Single Corner Rectangle 12"/>
          <p:cNvSpPr/>
          <p:nvPr/>
        </p:nvSpPr>
        <p:spPr>
          <a:xfrm>
            <a:off x="404813" y="2419350"/>
            <a:ext cx="8332787" cy="595827"/>
          </a:xfrm>
          <a:prstGeom prst="round1Rect">
            <a:avLst>
              <a:gd name="adj" fmla="val 0"/>
            </a:avLst>
          </a:prstGeom>
          <a:noFill/>
          <a:ln w="28575" algn="ctr">
            <a:solidFill>
              <a:schemeClr val="accent1"/>
            </a:solidFill>
            <a:miter lim="800000"/>
            <a:headEnd/>
            <a:tailEnd/>
          </a:ln>
        </p:spPr>
        <p:txBody>
          <a:bodyPr lIns="91440" tIns="91440" rIns="91440" bIns="91440" anchor="t" anchorCtr="0"/>
          <a:lstStyle/>
          <a:p>
            <a:pPr algn="l" defTabSz="914189" fontAlgn="auto">
              <a:lnSpc>
                <a:spcPct val="106000"/>
              </a:lnSpc>
              <a:spcBef>
                <a:spcPct val="30000"/>
              </a:spcBef>
              <a:spcAft>
                <a:spcPts val="0"/>
              </a:spcAft>
              <a:buClr>
                <a:prstClr val="black"/>
              </a:buClr>
            </a:pPr>
            <a:r>
              <a:rPr lang="en-US" sz="1500" dirty="0">
                <a:solidFill>
                  <a:schemeClr val="accent1"/>
                </a:solidFill>
                <a:cs typeface="+mn-cs"/>
              </a:rPr>
              <a:t>Objective: </a:t>
            </a:r>
            <a:r>
              <a:rPr lang="en-US" sz="1500" b="0" dirty="0">
                <a:solidFill>
                  <a:schemeClr val="accent1"/>
                </a:solidFill>
                <a:cs typeface="+mn-cs"/>
              </a:rPr>
              <a:t>Review the </a:t>
            </a:r>
            <a:r>
              <a:rPr lang="en-US" sz="1500" b="0" dirty="0" smtClean="0">
                <a:solidFill>
                  <a:schemeClr val="accent1"/>
                </a:solidFill>
                <a:cs typeface="+mn-cs"/>
              </a:rPr>
              <a:t>deliverable cost </a:t>
            </a:r>
            <a:r>
              <a:rPr lang="en-US" sz="1500" b="0" dirty="0">
                <a:solidFill>
                  <a:schemeClr val="accent1"/>
                </a:solidFill>
                <a:cs typeface="+mn-cs"/>
              </a:rPr>
              <a:t>and the fixed resources cost.</a:t>
            </a:r>
          </a:p>
        </p:txBody>
      </p:sp>
    </p:spTree>
    <p:extLst>
      <p:ext uri="{BB962C8B-B14F-4D97-AF65-F5344CB8AC3E}">
        <p14:creationId xmlns:p14="http://schemas.microsoft.com/office/powerpoint/2010/main" xmlns="" val="268397259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Detailed Process </a:t>
            </a:r>
            <a:r>
              <a:rPr lang="en-US" dirty="0"/>
              <a:t>O</a:t>
            </a:r>
            <a:r>
              <a:rPr lang="en-US" dirty="0" smtClean="0"/>
              <a:t>verview</a:t>
            </a:r>
            <a:endParaRPr lang="en-US" dirty="0"/>
          </a:p>
        </p:txBody>
      </p:sp>
    </p:spTree>
    <p:extLst>
      <p:ext uri="{BB962C8B-B14F-4D97-AF65-F5344CB8AC3E}">
        <p14:creationId xmlns:p14="http://schemas.microsoft.com/office/powerpoint/2010/main" xmlns="" val="1204534813"/>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2"/>
          </p:nvPr>
        </p:nvSpPr>
        <p:spPr/>
        <p:txBody>
          <a:bodyPr/>
          <a:lstStyle/>
          <a:p>
            <a:r>
              <a:rPr lang="en-US" sz="1600" dirty="0" smtClean="0"/>
              <a:t>The key elements of the prototype estimation process are: </a:t>
            </a:r>
          </a:p>
          <a:p>
            <a:pPr lvl="1"/>
            <a:r>
              <a:rPr lang="en-US" sz="1600" dirty="0" smtClean="0"/>
              <a:t>The scope of the project and assumptions.</a:t>
            </a:r>
          </a:p>
          <a:p>
            <a:pPr lvl="1"/>
            <a:r>
              <a:rPr lang="en-US" sz="1600" dirty="0" smtClean="0"/>
              <a:t>The project </a:t>
            </a:r>
            <a:r>
              <a:rPr lang="en-US" sz="1600" dirty="0"/>
              <a:t>t</a:t>
            </a:r>
            <a:r>
              <a:rPr lang="en-US" sz="1600" dirty="0" smtClean="0"/>
              <a:t>imeline (Start and End Date)</a:t>
            </a:r>
          </a:p>
          <a:p>
            <a:pPr lvl="1"/>
            <a:r>
              <a:rPr lang="en-US" sz="1600" dirty="0" smtClean="0"/>
              <a:t>The deliverables/work products which were based on the Playbook and EVD methodologies. </a:t>
            </a:r>
          </a:p>
          <a:p>
            <a:pPr lvl="1"/>
            <a:r>
              <a:rPr lang="en-US" sz="1600" dirty="0" smtClean="0"/>
              <a:t>The objects/components (Java, .NET, and Mainframe) which are based on the quantity and the hours, either entered by the user or generated by the tool. </a:t>
            </a:r>
          </a:p>
          <a:p>
            <a:pPr lvl="1"/>
            <a:r>
              <a:rPr lang="en-US" sz="1600" dirty="0" smtClean="0"/>
              <a:t>The fixed resources which are also an estimate of the total headcount of </a:t>
            </a:r>
            <a:r>
              <a:rPr lang="en-US" sz="1600" dirty="0"/>
              <a:t>P</a:t>
            </a:r>
            <a:r>
              <a:rPr lang="en-US" sz="1600" dirty="0" smtClean="0"/>
              <a:t>roject Manager, </a:t>
            </a:r>
            <a:r>
              <a:rPr lang="en-US" sz="1600" dirty="0"/>
              <a:t>Q</a:t>
            </a:r>
            <a:r>
              <a:rPr lang="en-US" sz="1600" dirty="0" smtClean="0"/>
              <a:t>uality Manager, Project Controller etc. the project will need until completion. </a:t>
            </a:r>
          </a:p>
          <a:p>
            <a:pPr lvl="1"/>
            <a:r>
              <a:rPr lang="en-US" sz="1600" dirty="0" smtClean="0"/>
              <a:t>Contingency percentage which is added to each SDLC phase and included in the grand total.</a:t>
            </a:r>
          </a:p>
          <a:p>
            <a:pPr>
              <a:spcBef>
                <a:spcPts val="1800"/>
              </a:spcBef>
            </a:pPr>
            <a:r>
              <a:rPr lang="en-US" sz="1600" dirty="0" smtClean="0"/>
              <a:t>The following slides provide more </a:t>
            </a:r>
            <a:r>
              <a:rPr lang="en-US" sz="1600" dirty="0"/>
              <a:t>details </a:t>
            </a:r>
            <a:r>
              <a:rPr lang="en-US" sz="1600" dirty="0" smtClean="0"/>
              <a:t>on the use of prototype to estimate a SI project.</a:t>
            </a:r>
            <a:endParaRPr lang="en-US" sz="1600" dirty="0"/>
          </a:p>
        </p:txBody>
      </p:sp>
      <p:sp>
        <p:nvSpPr>
          <p:cNvPr id="2" name="Title 1"/>
          <p:cNvSpPr>
            <a:spLocks noGrp="1"/>
          </p:cNvSpPr>
          <p:nvPr>
            <p:ph type="title"/>
          </p:nvPr>
        </p:nvSpPr>
        <p:spPr>
          <a:xfrm>
            <a:off x="414338" y="450279"/>
            <a:ext cx="8330184" cy="333425"/>
          </a:xfrm>
        </p:spPr>
        <p:txBody>
          <a:bodyPr/>
          <a:lstStyle/>
          <a:p>
            <a:pPr lvl="0"/>
            <a:r>
              <a:rPr lang="en-US" dirty="0" smtClean="0"/>
              <a:t>Detailed Process </a:t>
            </a:r>
            <a:r>
              <a:rPr lang="en-US" dirty="0"/>
              <a:t>O</a:t>
            </a:r>
            <a:r>
              <a:rPr lang="en-US" dirty="0" smtClean="0"/>
              <a:t>verview</a:t>
            </a:r>
            <a:endParaRPr lang="en-US" dirty="0"/>
          </a:p>
        </p:txBody>
      </p:sp>
    </p:spTree>
    <p:extLst>
      <p:ext uri="{BB962C8B-B14F-4D97-AF65-F5344CB8AC3E}">
        <p14:creationId xmlns:p14="http://schemas.microsoft.com/office/powerpoint/2010/main" xmlns="" val="79553188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1479" y="1399032"/>
            <a:ext cx="8330184" cy="582168"/>
          </a:xfrm>
        </p:spPr>
        <p:txBody>
          <a:bodyPr/>
          <a:lstStyle/>
          <a:p>
            <a:r>
              <a:rPr lang="en-US" sz="1600" dirty="0" smtClean="0">
                <a:solidFill>
                  <a:srgbClr val="002776"/>
                </a:solidFill>
              </a:rPr>
              <a:t>This is the first page of the prototype and it is mainly an informational page. The user is not required to enter any data.</a:t>
            </a:r>
            <a:endParaRPr lang="en-US" sz="1600" dirty="0">
              <a:solidFill>
                <a:srgbClr val="002776"/>
              </a:solidFill>
            </a:endParaRPr>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Prototype Overview</a:t>
            </a:r>
            <a:endParaRPr lang="en-US" dirty="0">
              <a:solidFill>
                <a:schemeClr val="accent1"/>
              </a:solidFill>
            </a:endParaRPr>
          </a:p>
        </p:txBody>
      </p:sp>
      <p:pic>
        <p:nvPicPr>
          <p:cNvPr id="1026" name="Picture 2"/>
          <p:cNvPicPr>
            <a:picLocks noChangeAspect="1" noChangeArrowheads="1"/>
          </p:cNvPicPr>
          <p:nvPr/>
        </p:nvPicPr>
        <p:blipFill>
          <a:blip r:embed="rId2" cstate="print"/>
          <a:srcRect/>
          <a:stretch>
            <a:fillRect/>
          </a:stretch>
        </p:blipFill>
        <p:spPr bwMode="auto">
          <a:xfrm>
            <a:off x="404812" y="2004136"/>
            <a:ext cx="8332787" cy="4229025"/>
          </a:xfrm>
          <a:prstGeom prst="rect">
            <a:avLst/>
          </a:prstGeom>
          <a:noFill/>
          <a:ln w="38100">
            <a:noFill/>
          </a:ln>
        </p:spPr>
      </p:pic>
    </p:spTree>
    <p:extLst>
      <p:ext uri="{BB962C8B-B14F-4D97-AF65-F5344CB8AC3E}">
        <p14:creationId xmlns:p14="http://schemas.microsoft.com/office/powerpoint/2010/main" xmlns="" val="188300325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sz="quarter" idx="12"/>
          </p:nvPr>
        </p:nvSpPr>
        <p:spPr>
          <a:xfrm>
            <a:off x="411479" y="1399032"/>
            <a:ext cx="8330184" cy="2401072"/>
          </a:xfrm>
        </p:spPr>
        <p:txBody>
          <a:bodyPr/>
          <a:lstStyle/>
          <a:p>
            <a:pPr lvl="1"/>
            <a:r>
              <a:rPr lang="en-US" sz="1600" dirty="0" smtClean="0"/>
              <a:t>The Menu tab is the entry point to the estimation prototype.</a:t>
            </a:r>
          </a:p>
          <a:p>
            <a:pPr lvl="1"/>
            <a:r>
              <a:rPr lang="en-US" sz="1600" dirty="0" smtClean="0"/>
              <a:t>The detailed </a:t>
            </a:r>
            <a:r>
              <a:rPr lang="en-US" sz="1600" dirty="0"/>
              <a:t>e</a:t>
            </a:r>
            <a:r>
              <a:rPr lang="en-US" sz="1600" dirty="0" smtClean="0"/>
              <a:t>stimation by SDLC phase is the only type of estimation method used by the prototype and is available through this tab.</a:t>
            </a:r>
          </a:p>
          <a:p>
            <a:pPr lvl="1"/>
            <a:r>
              <a:rPr lang="en-US" sz="1600" dirty="0" smtClean="0"/>
              <a:t>The Metrics tabs are only available through this Menu tab.</a:t>
            </a:r>
          </a:p>
          <a:p>
            <a:pPr lvl="2"/>
            <a:r>
              <a:rPr lang="en-US" sz="1500" dirty="0" smtClean="0">
                <a:solidFill>
                  <a:schemeClr val="accent1"/>
                </a:solidFill>
              </a:rPr>
              <a:t>The Metrics tab includes the deliverables and objects associated with Project’s SDLC phases.</a:t>
            </a:r>
          </a:p>
          <a:p>
            <a:pPr lvl="2"/>
            <a:r>
              <a:rPr lang="en-US" sz="1500" dirty="0" smtClean="0">
                <a:solidFill>
                  <a:schemeClr val="accent1"/>
                </a:solidFill>
              </a:rPr>
              <a:t>The user can review, but not edit the metrics data through this tab.</a:t>
            </a:r>
          </a:p>
          <a:p>
            <a:pPr lvl="2"/>
            <a:r>
              <a:rPr lang="en-US" sz="1500" dirty="0" smtClean="0">
                <a:solidFill>
                  <a:schemeClr val="accent1"/>
                </a:solidFill>
              </a:rPr>
              <a:t>The user can adjust these metric data/hours by selecting the phase in the “Detailed Estimation By SDLC Phase” table and entering non-standard hours in the “user defined” columns of each phase.</a:t>
            </a:r>
            <a:endParaRPr lang="en-US" sz="1500" dirty="0">
              <a:solidFill>
                <a:schemeClr val="accent1"/>
              </a:solidFill>
            </a:endParaRPr>
          </a:p>
        </p:txBody>
      </p:sp>
      <p:sp>
        <p:nvSpPr>
          <p:cNvPr id="2" name="Title 1"/>
          <p:cNvSpPr>
            <a:spLocks noGrp="1"/>
          </p:cNvSpPr>
          <p:nvPr>
            <p:ph type="title"/>
          </p:nvPr>
        </p:nvSpPr>
        <p:spPr>
          <a:xfrm>
            <a:off x="414338" y="450279"/>
            <a:ext cx="8330184" cy="333425"/>
          </a:xfrm>
        </p:spPr>
        <p:txBody>
          <a:bodyPr/>
          <a:lstStyle/>
          <a:p>
            <a:pPr lvl="0"/>
            <a:r>
              <a:rPr lang="en-US" dirty="0" smtClean="0">
                <a:solidFill>
                  <a:schemeClr val="accent1"/>
                </a:solidFill>
              </a:rPr>
              <a:t>Menu</a:t>
            </a:r>
            <a:endParaRPr lang="en-US" dirty="0">
              <a:solidFill>
                <a:schemeClr val="accent1"/>
              </a:solidFill>
            </a:endParaRPr>
          </a:p>
        </p:txBody>
      </p:sp>
      <p:pic>
        <p:nvPicPr>
          <p:cNvPr id="3074" name="Picture 2"/>
          <p:cNvPicPr>
            <a:picLocks noChangeAspect="1" noChangeArrowheads="1"/>
          </p:cNvPicPr>
          <p:nvPr/>
        </p:nvPicPr>
        <p:blipFill rotWithShape="1">
          <a:blip r:embed="rId2" cstate="print"/>
          <a:srcRect l="760" t="643" r="746"/>
          <a:stretch/>
        </p:blipFill>
        <p:spPr bwMode="auto">
          <a:xfrm>
            <a:off x="1252538" y="3932782"/>
            <a:ext cx="6638925" cy="2429918"/>
          </a:xfrm>
          <a:prstGeom prst="rect">
            <a:avLst/>
          </a:prstGeom>
          <a:noFill/>
          <a:ln w="9525">
            <a:noFill/>
            <a:miter lim="800000"/>
            <a:headEnd/>
            <a:tailEnd/>
          </a:ln>
        </p:spPr>
      </p:pic>
    </p:spTree>
    <p:extLst>
      <p:ext uri="{BB962C8B-B14F-4D97-AF65-F5344CB8AC3E}">
        <p14:creationId xmlns:p14="http://schemas.microsoft.com/office/powerpoint/2010/main" xmlns="" val="56901271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2" cstate="print"/>
          <a:srcRect l="911" t="2143" r="-1"/>
          <a:stretch/>
        </p:blipFill>
        <p:spPr bwMode="auto">
          <a:xfrm>
            <a:off x="404813" y="2234565"/>
            <a:ext cx="7729537" cy="4072035"/>
          </a:xfrm>
          <a:prstGeom prst="rect">
            <a:avLst/>
          </a:prstGeom>
          <a:noFill/>
          <a:ln>
            <a:noFill/>
          </a:ln>
        </p:spPr>
      </p:pic>
      <p:sp>
        <p:nvSpPr>
          <p:cNvPr id="3" name="Content Placeholder 2"/>
          <p:cNvSpPr>
            <a:spLocks noGrp="1"/>
          </p:cNvSpPr>
          <p:nvPr>
            <p:ph sz="quarter" idx="12"/>
          </p:nvPr>
        </p:nvSpPr>
        <p:spPr>
          <a:xfrm>
            <a:off x="411479" y="1399032"/>
            <a:ext cx="8330184" cy="714776"/>
          </a:xfrm>
        </p:spPr>
        <p:txBody>
          <a:bodyPr/>
          <a:lstStyle/>
          <a:p>
            <a:r>
              <a:rPr lang="en-US" sz="1500" dirty="0" smtClean="0"/>
              <a:t>This tab is available through the Menu tab. The user selects the Project Details tab to begin the estimation process. The user adds necessary project information in this tab. The Start and End </a:t>
            </a:r>
            <a:r>
              <a:rPr lang="en-US" sz="1500" dirty="0"/>
              <a:t>D</a:t>
            </a:r>
            <a:r>
              <a:rPr lang="en-US" sz="1500" dirty="0" smtClean="0"/>
              <a:t>ates of the project are mandatory fields; all other fields are optional.</a:t>
            </a:r>
            <a:endParaRPr lang="en-US" sz="1500" dirty="0"/>
          </a:p>
        </p:txBody>
      </p:sp>
      <p:sp>
        <p:nvSpPr>
          <p:cNvPr id="6" name="Title 5"/>
          <p:cNvSpPr>
            <a:spLocks noGrp="1"/>
          </p:cNvSpPr>
          <p:nvPr>
            <p:ph type="title"/>
          </p:nvPr>
        </p:nvSpPr>
        <p:spPr>
          <a:xfrm>
            <a:off x="414338" y="450279"/>
            <a:ext cx="8330184" cy="333425"/>
          </a:xfrm>
        </p:spPr>
        <p:txBody>
          <a:bodyPr/>
          <a:lstStyle/>
          <a:p>
            <a:r>
              <a:rPr lang="en-US" dirty="0" smtClean="0"/>
              <a:t>Project Details</a:t>
            </a:r>
            <a:endParaRPr lang="en-US" dirty="0"/>
          </a:p>
        </p:txBody>
      </p:sp>
      <p:sp>
        <p:nvSpPr>
          <p:cNvPr id="9" name="TextBox 8"/>
          <p:cNvSpPr txBox="1"/>
          <p:nvPr/>
        </p:nvSpPr>
        <p:spPr>
          <a:xfrm>
            <a:off x="7103326" y="2842736"/>
            <a:ext cx="1648787"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defRPr sz="1400">
                <a:solidFill>
                  <a:schemeClr val="bg1"/>
                </a:solidFill>
                <a:latin typeface="Calibri" pitchFamily="34" charset="0"/>
                <a:cs typeface="Calibri" pitchFamily="34" charset="0"/>
              </a:defRPr>
            </a:lvl1pPr>
          </a:lstStyle>
          <a:p>
            <a:pPr algn="l" fontAlgn="auto">
              <a:spcBef>
                <a:spcPts val="0"/>
              </a:spcBef>
              <a:spcAft>
                <a:spcPts val="0"/>
              </a:spcAft>
            </a:pPr>
            <a:r>
              <a:rPr lang="en-US" sz="1200" dirty="0">
                <a:latin typeface="+mj-lt"/>
                <a:cs typeface="Arial" pitchFamily="34" charset="0"/>
              </a:rPr>
              <a:t>*</a:t>
            </a:r>
            <a:r>
              <a:rPr lang="en-US" sz="1200" dirty="0" smtClean="0">
                <a:latin typeface="+mj-lt"/>
                <a:cs typeface="Arial" pitchFamily="34" charset="0"/>
              </a:rPr>
              <a:t>Mandatory project </a:t>
            </a:r>
          </a:p>
          <a:p>
            <a:pPr algn="l" fontAlgn="auto">
              <a:spcBef>
                <a:spcPts val="0"/>
              </a:spcBef>
              <a:spcAft>
                <a:spcPts val="0"/>
              </a:spcAft>
            </a:pPr>
            <a:r>
              <a:rPr lang="en-US" sz="1200" dirty="0">
                <a:latin typeface="+mj-lt"/>
                <a:cs typeface="Arial" pitchFamily="34" charset="0"/>
              </a:rPr>
              <a:t>S</a:t>
            </a:r>
            <a:r>
              <a:rPr lang="en-US" sz="1200" dirty="0" smtClean="0">
                <a:latin typeface="+mj-lt"/>
                <a:cs typeface="Arial" pitchFamily="34" charset="0"/>
              </a:rPr>
              <a:t>tart and End </a:t>
            </a:r>
            <a:r>
              <a:rPr lang="en-US" sz="1200" dirty="0">
                <a:latin typeface="+mj-lt"/>
                <a:cs typeface="Arial" pitchFamily="34" charset="0"/>
              </a:rPr>
              <a:t>D</a:t>
            </a:r>
            <a:r>
              <a:rPr lang="en-US" sz="1200" dirty="0" smtClean="0">
                <a:latin typeface="+mj-lt"/>
                <a:cs typeface="Arial" pitchFamily="34" charset="0"/>
              </a:rPr>
              <a:t>ates</a:t>
            </a:r>
            <a:endParaRPr lang="en-US" sz="1200" dirty="0">
              <a:latin typeface="+mj-lt"/>
              <a:cs typeface="Arial" pitchFamily="34" charset="0"/>
            </a:endParaRPr>
          </a:p>
        </p:txBody>
      </p:sp>
      <p:sp>
        <p:nvSpPr>
          <p:cNvPr id="10" name="TextBox 9"/>
          <p:cNvSpPr txBox="1"/>
          <p:nvPr/>
        </p:nvSpPr>
        <p:spPr>
          <a:xfrm>
            <a:off x="7103326" y="4419600"/>
            <a:ext cx="1648788"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User </a:t>
            </a:r>
            <a:r>
              <a:rPr lang="en-US" dirty="0" smtClean="0"/>
              <a:t>enters project</a:t>
            </a:r>
          </a:p>
          <a:p>
            <a:r>
              <a:rPr lang="en-US" dirty="0" smtClean="0"/>
              <a:t>information</a:t>
            </a:r>
            <a:endParaRPr lang="en-US" dirty="0"/>
          </a:p>
        </p:txBody>
      </p:sp>
      <p:cxnSp>
        <p:nvCxnSpPr>
          <p:cNvPr id="16" name="Straight Connector 15"/>
          <p:cNvCxnSpPr>
            <a:stCxn id="9" idx="1"/>
          </p:cNvCxnSpPr>
          <p:nvPr/>
        </p:nvCxnSpPr>
        <p:spPr bwMode="auto">
          <a:xfrm flipH="1">
            <a:off x="3495676" y="3073569"/>
            <a:ext cx="3607650" cy="345906"/>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11" name="Straight Connector 10"/>
          <p:cNvCxnSpPr>
            <a:stCxn id="10" idx="1"/>
          </p:cNvCxnSpPr>
          <p:nvPr/>
        </p:nvCxnSpPr>
        <p:spPr bwMode="auto">
          <a:xfrm flipH="1">
            <a:off x="5586414" y="4650433"/>
            <a:ext cx="1516912" cy="30779"/>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318993244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338138" y="1343025"/>
            <a:ext cx="8398643" cy="4709014"/>
          </a:xfrm>
          <a:prstGeom prst="rect">
            <a:avLst/>
          </a:prstGeom>
          <a:noFill/>
          <a:ln w="9525">
            <a:noFill/>
            <a:miter lim="800000"/>
            <a:headEnd/>
            <a:tailEnd/>
          </a:ln>
        </p:spPr>
      </p:pic>
      <p:sp>
        <p:nvSpPr>
          <p:cNvPr id="6" name="Title 5"/>
          <p:cNvSpPr>
            <a:spLocks noGrp="1"/>
          </p:cNvSpPr>
          <p:nvPr>
            <p:ph type="title"/>
          </p:nvPr>
        </p:nvSpPr>
        <p:spPr>
          <a:xfrm>
            <a:off x="414338" y="450279"/>
            <a:ext cx="8330184" cy="333425"/>
          </a:xfrm>
        </p:spPr>
        <p:txBody>
          <a:bodyPr/>
          <a:lstStyle/>
          <a:p>
            <a:r>
              <a:rPr lang="en-US" dirty="0" smtClean="0"/>
              <a:t>Project Details (cont.)</a:t>
            </a:r>
            <a:endParaRPr lang="en-US" dirty="0"/>
          </a:p>
        </p:txBody>
      </p:sp>
      <p:sp>
        <p:nvSpPr>
          <p:cNvPr id="13" name="TextBox 12"/>
          <p:cNvSpPr txBox="1"/>
          <p:nvPr/>
        </p:nvSpPr>
        <p:spPr>
          <a:xfrm>
            <a:off x="6984181" y="3960167"/>
            <a:ext cx="1752600"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Enter project</a:t>
            </a:r>
          </a:p>
          <a:p>
            <a:r>
              <a:rPr lang="en-US" dirty="0"/>
              <a:t>constraints if any</a:t>
            </a:r>
          </a:p>
        </p:txBody>
      </p:sp>
      <p:sp>
        <p:nvSpPr>
          <p:cNvPr id="14" name="TextBox 13"/>
          <p:cNvSpPr txBox="1"/>
          <p:nvPr/>
        </p:nvSpPr>
        <p:spPr>
          <a:xfrm>
            <a:off x="6984181" y="2954803"/>
            <a:ext cx="1752600"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Enter project </a:t>
            </a:r>
          </a:p>
          <a:p>
            <a:r>
              <a:rPr lang="en-US" dirty="0"/>
              <a:t>assumptions </a:t>
            </a:r>
            <a:r>
              <a:rPr lang="en-US" dirty="0" smtClean="0"/>
              <a:t>if any</a:t>
            </a:r>
            <a:endParaRPr lang="en-US" dirty="0"/>
          </a:p>
        </p:txBody>
      </p:sp>
      <p:sp>
        <p:nvSpPr>
          <p:cNvPr id="15" name="TextBox 14"/>
          <p:cNvSpPr txBox="1"/>
          <p:nvPr/>
        </p:nvSpPr>
        <p:spPr>
          <a:xfrm>
            <a:off x="6984181" y="2107167"/>
            <a:ext cx="1752600" cy="646331"/>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Select assumptions</a:t>
            </a:r>
          </a:p>
          <a:p>
            <a:r>
              <a:rPr lang="en-US" dirty="0">
                <a:cs typeface="Arial" pitchFamily="34" charset="0"/>
              </a:rPr>
              <a:t>if any from the </a:t>
            </a:r>
          </a:p>
          <a:p>
            <a:r>
              <a:rPr lang="en-US" dirty="0" smtClean="0">
                <a:cs typeface="Arial" pitchFamily="34" charset="0"/>
              </a:rPr>
              <a:t>Drop-down Menu</a:t>
            </a:r>
            <a:endParaRPr lang="en-US" dirty="0">
              <a:cs typeface="Arial" pitchFamily="34" charset="0"/>
            </a:endParaRPr>
          </a:p>
        </p:txBody>
      </p:sp>
      <p:sp>
        <p:nvSpPr>
          <p:cNvPr id="55" name="TextBox 54"/>
          <p:cNvSpPr txBox="1"/>
          <p:nvPr/>
        </p:nvSpPr>
        <p:spPr>
          <a:xfrm>
            <a:off x="6984181" y="5070842"/>
            <a:ext cx="1752600"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Select </a:t>
            </a:r>
            <a:r>
              <a:rPr lang="en-US" dirty="0" smtClean="0"/>
              <a:t>risk responses</a:t>
            </a:r>
          </a:p>
          <a:p>
            <a:r>
              <a:rPr lang="en-US" dirty="0" smtClean="0"/>
              <a:t> </a:t>
            </a:r>
            <a:r>
              <a:rPr lang="en-US" dirty="0"/>
              <a:t>if any</a:t>
            </a:r>
          </a:p>
        </p:txBody>
      </p:sp>
      <p:cxnSp>
        <p:nvCxnSpPr>
          <p:cNvPr id="21" name="Straight Connector 20"/>
          <p:cNvCxnSpPr>
            <a:stCxn id="15" idx="1"/>
          </p:cNvCxnSpPr>
          <p:nvPr/>
        </p:nvCxnSpPr>
        <p:spPr bwMode="auto">
          <a:xfrm flipH="1" flipV="1">
            <a:off x="6003817" y="2268750"/>
            <a:ext cx="980364" cy="16158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3" name="Straight Connector 22"/>
          <p:cNvCxnSpPr>
            <a:stCxn id="14" idx="1"/>
          </p:cNvCxnSpPr>
          <p:nvPr/>
        </p:nvCxnSpPr>
        <p:spPr bwMode="auto">
          <a:xfrm flipH="1">
            <a:off x="5993581" y="3185636"/>
            <a:ext cx="990600" cy="9233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4" name="Straight Connector 23"/>
          <p:cNvCxnSpPr>
            <a:stCxn id="13" idx="1"/>
          </p:cNvCxnSpPr>
          <p:nvPr/>
        </p:nvCxnSpPr>
        <p:spPr bwMode="auto">
          <a:xfrm flipH="1">
            <a:off x="6248401" y="4191000"/>
            <a:ext cx="735780" cy="73967"/>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5" name="Straight Connector 24"/>
          <p:cNvCxnSpPr>
            <a:stCxn id="55" idx="1"/>
          </p:cNvCxnSpPr>
          <p:nvPr/>
        </p:nvCxnSpPr>
        <p:spPr bwMode="auto">
          <a:xfrm flipH="1">
            <a:off x="5993581" y="5301675"/>
            <a:ext cx="990600" cy="6999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145273634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411479" y="1126072"/>
            <a:ext cx="8330184" cy="4882896"/>
          </a:xfrm>
        </p:spPr>
        <p:txBody>
          <a:bodyPr/>
          <a:lstStyle/>
          <a:p>
            <a:pPr lvl="1"/>
            <a:r>
              <a:rPr lang="en-US" sz="1600" dirty="0" smtClean="0"/>
              <a:t>The Estimation </a:t>
            </a:r>
            <a:r>
              <a:rPr lang="en-US" sz="1600" dirty="0"/>
              <a:t>S</a:t>
            </a:r>
            <a:r>
              <a:rPr lang="en-US" sz="1600" dirty="0" smtClean="0"/>
              <a:t>cope tab is used to include or exclude a phase(s) from the total estimation effort.</a:t>
            </a:r>
          </a:p>
          <a:p>
            <a:pPr lvl="1"/>
            <a:r>
              <a:rPr lang="en-US" sz="1600" dirty="0" smtClean="0"/>
              <a:t>Information entered in this tab indicates whether a phase is in scope or out of scope.</a:t>
            </a:r>
          </a:p>
          <a:p>
            <a:pPr lvl="1"/>
            <a:r>
              <a:rPr lang="en-US" sz="1600" dirty="0" smtClean="0"/>
              <a:t>If the user selects certain phases as “In Scope = Yes”, these phases will be included in the total effort. </a:t>
            </a:r>
            <a:r>
              <a:rPr lang="en-US" sz="1600" dirty="0"/>
              <a:t>Based on the phases that are in scope, the user is able to add fixed resource </a:t>
            </a:r>
            <a:r>
              <a:rPr lang="en-US" sz="1600" dirty="0" smtClean="0"/>
              <a:t>assignments and deliverables/work </a:t>
            </a:r>
            <a:r>
              <a:rPr lang="en-US" sz="1600" dirty="0"/>
              <a:t>products associated with these phases.</a:t>
            </a:r>
            <a:endParaRPr lang="en-US" sz="1600" dirty="0" smtClean="0"/>
          </a:p>
          <a:p>
            <a:pPr lvl="1"/>
            <a:r>
              <a:rPr lang="en-US" sz="1600" dirty="0" smtClean="0"/>
              <a:t>If the user selects certain phases as “In Scope = No”, these phases will not be included in the total effort and the user will be restricted from adding any further details (e.g. deliverables and work products) associated with these phases.</a:t>
            </a:r>
            <a:endParaRPr lang="en-US" sz="1600" dirty="0"/>
          </a:p>
        </p:txBody>
      </p:sp>
      <p:sp>
        <p:nvSpPr>
          <p:cNvPr id="6" name="Title 5"/>
          <p:cNvSpPr>
            <a:spLocks noGrp="1"/>
          </p:cNvSpPr>
          <p:nvPr>
            <p:ph type="title"/>
          </p:nvPr>
        </p:nvSpPr>
        <p:spPr>
          <a:xfrm>
            <a:off x="414338" y="450279"/>
            <a:ext cx="8330184" cy="333425"/>
          </a:xfrm>
        </p:spPr>
        <p:txBody>
          <a:bodyPr/>
          <a:lstStyle/>
          <a:p>
            <a:r>
              <a:rPr lang="en-US" dirty="0" smtClean="0"/>
              <a:t>Estimation Scope</a:t>
            </a:r>
            <a:endParaRPr lang="en-US" dirty="0"/>
          </a:p>
        </p:txBody>
      </p:sp>
      <p:grpSp>
        <p:nvGrpSpPr>
          <p:cNvPr id="16" name="Group 15"/>
          <p:cNvGrpSpPr/>
          <p:nvPr/>
        </p:nvGrpSpPr>
        <p:grpSpPr>
          <a:xfrm>
            <a:off x="404813" y="3839795"/>
            <a:ext cx="8342313" cy="2628900"/>
            <a:chOff x="404813" y="3963620"/>
            <a:chExt cx="8342313" cy="2628900"/>
          </a:xfrm>
        </p:grpSpPr>
        <p:pic>
          <p:nvPicPr>
            <p:cNvPr id="1028"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813" y="3963620"/>
              <a:ext cx="8342313" cy="2628900"/>
            </a:xfrm>
            <a:prstGeom prst="rect">
              <a:avLst/>
            </a:prstGeom>
            <a:noFill/>
            <a:ln>
              <a:noFill/>
            </a:ln>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3" name="TextBox 32"/>
            <p:cNvSpPr txBox="1"/>
            <p:nvPr/>
          </p:nvSpPr>
          <p:spPr>
            <a:xfrm>
              <a:off x="6172200" y="4166709"/>
              <a:ext cx="2565400" cy="1015663"/>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Select “Yes” for in scope if you </a:t>
              </a:r>
            </a:p>
            <a:p>
              <a:r>
                <a:rPr lang="en-US" dirty="0">
                  <a:cs typeface="Arial" pitchFamily="34" charset="0"/>
                </a:rPr>
                <a:t>want to include </a:t>
              </a:r>
              <a:r>
                <a:rPr lang="en-US" dirty="0" smtClean="0">
                  <a:cs typeface="Arial" pitchFamily="34" charset="0"/>
                </a:rPr>
                <a:t>estimates in </a:t>
              </a:r>
              <a:r>
                <a:rPr lang="en-US" dirty="0">
                  <a:cs typeface="Arial" pitchFamily="34" charset="0"/>
                </a:rPr>
                <a:t>the</a:t>
              </a:r>
            </a:p>
            <a:p>
              <a:r>
                <a:rPr lang="en-US" dirty="0">
                  <a:cs typeface="Arial" pitchFamily="34" charset="0"/>
                </a:rPr>
                <a:t> total effort and “No” if </a:t>
              </a:r>
              <a:r>
                <a:rPr lang="en-US" dirty="0" smtClean="0">
                  <a:cs typeface="Arial" pitchFamily="34" charset="0"/>
                </a:rPr>
                <a:t>you want</a:t>
              </a:r>
              <a:endParaRPr lang="en-US" dirty="0">
                <a:cs typeface="Arial" pitchFamily="34" charset="0"/>
              </a:endParaRPr>
            </a:p>
            <a:p>
              <a:r>
                <a:rPr lang="en-US" dirty="0">
                  <a:cs typeface="Arial" pitchFamily="34" charset="0"/>
                </a:rPr>
                <a:t> to exclude a phase from the estimation </a:t>
              </a:r>
              <a:r>
                <a:rPr lang="en-US" dirty="0" smtClean="0">
                  <a:cs typeface="Arial" pitchFamily="34" charset="0"/>
                </a:rPr>
                <a:t>effort</a:t>
              </a:r>
              <a:endParaRPr lang="en-US" dirty="0">
                <a:cs typeface="Arial" pitchFamily="34" charset="0"/>
              </a:endParaRPr>
            </a:p>
          </p:txBody>
        </p:sp>
        <p:cxnSp>
          <p:nvCxnSpPr>
            <p:cNvPr id="41" name="Straight Connector 40"/>
            <p:cNvCxnSpPr>
              <a:stCxn id="44" idx="1"/>
            </p:cNvCxnSpPr>
            <p:nvPr/>
          </p:nvCxnSpPr>
          <p:spPr bwMode="auto">
            <a:xfrm flipH="1" flipV="1">
              <a:off x="4556918" y="5551055"/>
              <a:ext cx="1615282" cy="92332"/>
            </a:xfrm>
            <a:prstGeom prst="line">
              <a:avLst/>
            </a:prstGeom>
            <a:solidFill>
              <a:schemeClr val="accent1"/>
            </a:solidFill>
            <a:ln w="28575" cap="flat" cmpd="sng" algn="ctr">
              <a:solidFill>
                <a:schemeClr val="tx1"/>
              </a:solidFill>
              <a:prstDash val="solid"/>
              <a:round/>
              <a:headEnd type="none" w="med" len="med"/>
              <a:tailEnd type="arrow" w="med" len="med"/>
            </a:ln>
            <a:effectLst/>
          </p:spPr>
        </p:cxnSp>
        <p:sp>
          <p:nvSpPr>
            <p:cNvPr id="44" name="TextBox 43"/>
            <p:cNvSpPr txBox="1"/>
            <p:nvPr/>
          </p:nvSpPr>
          <p:spPr>
            <a:xfrm>
              <a:off x="6172200" y="5412554"/>
              <a:ext cx="2574925" cy="461665"/>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Enter comments if any </a:t>
              </a:r>
              <a:r>
                <a:rPr lang="en-US" dirty="0" smtClean="0"/>
                <a:t>in</a:t>
              </a:r>
            </a:p>
            <a:p>
              <a:r>
                <a:rPr lang="en-US" dirty="0" smtClean="0"/>
                <a:t>“Remarks”</a:t>
              </a:r>
              <a:endParaRPr lang="en-US" dirty="0"/>
            </a:p>
          </p:txBody>
        </p:sp>
        <p:cxnSp>
          <p:nvCxnSpPr>
            <p:cNvPr id="132" name="Straight Connector 131"/>
            <p:cNvCxnSpPr>
              <a:stCxn id="33" idx="1"/>
            </p:cNvCxnSpPr>
            <p:nvPr/>
          </p:nvCxnSpPr>
          <p:spPr bwMode="auto">
            <a:xfrm flipH="1">
              <a:off x="3875650" y="4674541"/>
              <a:ext cx="2296550" cy="52204"/>
            </a:xfrm>
            <a:prstGeom prst="line">
              <a:avLst/>
            </a:prstGeom>
            <a:solidFill>
              <a:schemeClr val="accent1"/>
            </a:solidFill>
            <a:ln w="28575" cap="flat" cmpd="sng" algn="ctr">
              <a:solidFill>
                <a:schemeClr val="tx1"/>
              </a:solidFill>
              <a:prstDash val="solid"/>
              <a:round/>
              <a:headEnd type="none" w="med" len="med"/>
              <a:tailEnd type="arrow" w="med" len="med"/>
            </a:ln>
            <a:effectLst/>
          </p:spPr>
        </p:cxnSp>
      </p:grpSp>
      <p:sp>
        <p:nvSpPr>
          <p:cNvPr id="3" name="TextBox 2"/>
          <p:cNvSpPr txBox="1"/>
          <p:nvPr/>
        </p:nvSpPr>
        <p:spPr>
          <a:xfrm>
            <a:off x="533400" y="838200"/>
            <a:ext cx="8382000" cy="369332"/>
          </a:xfrm>
          <a:prstGeom prst="rect">
            <a:avLst/>
          </a:prstGeom>
          <a:noFill/>
        </p:spPr>
        <p:txBody>
          <a:bodyPr wrap="square" rtlCol="0">
            <a:spAutoFit/>
          </a:bodyPr>
          <a:lstStyle/>
          <a:p>
            <a:pPr algn="l" fontAlgn="auto">
              <a:spcBef>
                <a:spcPts val="0"/>
              </a:spcBef>
              <a:spcAft>
                <a:spcPts val="0"/>
              </a:spcAft>
            </a:pPr>
            <a:endParaRPr lang="en-US" sz="1800" b="0" dirty="0" smtClean="0">
              <a:solidFill>
                <a:prstClr val="black"/>
              </a:solidFill>
              <a:cs typeface="+mn-cs"/>
            </a:endParaRPr>
          </a:p>
        </p:txBody>
      </p:sp>
    </p:spTree>
    <p:extLst>
      <p:ext uri="{BB962C8B-B14F-4D97-AF65-F5344CB8AC3E}">
        <p14:creationId xmlns:p14="http://schemas.microsoft.com/office/powerpoint/2010/main" xmlns="" val="94698812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813" y="1400174"/>
            <a:ext cx="8349343" cy="43815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5"/>
          <p:cNvSpPr>
            <a:spLocks noGrp="1"/>
          </p:cNvSpPr>
          <p:nvPr>
            <p:ph type="title"/>
          </p:nvPr>
        </p:nvSpPr>
        <p:spPr>
          <a:xfrm>
            <a:off x="414338" y="450279"/>
            <a:ext cx="8330184" cy="333425"/>
          </a:xfrm>
        </p:spPr>
        <p:txBody>
          <a:bodyPr/>
          <a:lstStyle/>
          <a:p>
            <a:r>
              <a:rPr lang="en-US" dirty="0" smtClean="0">
                <a:solidFill>
                  <a:schemeClr val="accent1"/>
                </a:solidFill>
              </a:rPr>
              <a:t>Estimation Scope (cont</a:t>
            </a:r>
            <a:r>
              <a:rPr lang="en-US" dirty="0">
                <a:solidFill>
                  <a:schemeClr val="accent1"/>
                </a:solidFill>
              </a:rPr>
              <a:t>.)</a:t>
            </a:r>
          </a:p>
        </p:txBody>
      </p:sp>
      <p:sp>
        <p:nvSpPr>
          <p:cNvPr id="9" name="TextBox 8"/>
          <p:cNvSpPr txBox="1"/>
          <p:nvPr/>
        </p:nvSpPr>
        <p:spPr>
          <a:xfrm>
            <a:off x="4470400" y="4267200"/>
            <a:ext cx="4267200" cy="830997"/>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defRPr>
            </a:lvl1pPr>
          </a:lstStyle>
          <a:p>
            <a:r>
              <a:rPr lang="en-US" dirty="0"/>
              <a:t>Initiate and </a:t>
            </a:r>
            <a:r>
              <a:rPr lang="en-US" dirty="0" smtClean="0"/>
              <a:t>Plan </a:t>
            </a:r>
            <a:r>
              <a:rPr lang="en-US" dirty="0"/>
              <a:t>tab is selected as In Scope = No in </a:t>
            </a:r>
          </a:p>
          <a:p>
            <a:r>
              <a:rPr lang="en-US" dirty="0"/>
              <a:t>“Estimation Scope.” The tab is grayed out completely. </a:t>
            </a:r>
          </a:p>
          <a:p>
            <a:r>
              <a:rPr lang="en-US" dirty="0"/>
              <a:t>User can neither enter any value nor delete or </a:t>
            </a:r>
          </a:p>
          <a:p>
            <a:r>
              <a:rPr lang="en-US" dirty="0"/>
              <a:t>modify anything.</a:t>
            </a:r>
          </a:p>
        </p:txBody>
      </p:sp>
    </p:spTree>
    <p:extLst>
      <p:ext uri="{BB962C8B-B14F-4D97-AF65-F5344CB8AC3E}">
        <p14:creationId xmlns:p14="http://schemas.microsoft.com/office/powerpoint/2010/main" xmlns="" val="279835557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pPr lvl="1"/>
            <a:r>
              <a:rPr lang="en-US" sz="1600" dirty="0" smtClean="0">
                <a:latin typeface="+mj-lt"/>
              </a:rPr>
              <a:t>The Project </a:t>
            </a:r>
            <a:r>
              <a:rPr lang="en-US" sz="1600" dirty="0">
                <a:latin typeface="+mj-lt"/>
              </a:rPr>
              <a:t>M</a:t>
            </a:r>
            <a:r>
              <a:rPr lang="en-US" sz="1600" dirty="0" smtClean="0">
                <a:latin typeface="+mj-lt"/>
              </a:rPr>
              <a:t>anager and Quality </a:t>
            </a:r>
            <a:r>
              <a:rPr lang="en-US" sz="1600" dirty="0">
                <a:latin typeface="+mj-lt"/>
              </a:rPr>
              <a:t>M</a:t>
            </a:r>
            <a:r>
              <a:rPr lang="en-US" sz="1600" dirty="0" smtClean="0">
                <a:latin typeface="+mj-lt"/>
              </a:rPr>
              <a:t>anager must be identified as Fixed Resources</a:t>
            </a:r>
          </a:p>
          <a:p>
            <a:pPr lvl="2"/>
            <a:r>
              <a:rPr lang="en-US" sz="1600" dirty="0" smtClean="0">
                <a:latin typeface="+mj-lt"/>
              </a:rPr>
              <a:t>To prevent double counting of hours, the deliverables associated with the Project Manager and Quality Manager have been excluded from the list of possible deliverables at other tabs and are shown on the Fixed Resources tab for reference only. </a:t>
            </a:r>
          </a:p>
          <a:p>
            <a:pPr lvl="1"/>
            <a:r>
              <a:rPr lang="en-US" sz="1600" dirty="0" smtClean="0">
                <a:latin typeface="+mj-lt"/>
              </a:rPr>
              <a:t>User may add up to two </a:t>
            </a:r>
            <a:r>
              <a:rPr lang="en-US" sz="1600" dirty="0">
                <a:latin typeface="+mj-lt"/>
              </a:rPr>
              <a:t>additional </a:t>
            </a:r>
            <a:r>
              <a:rPr lang="en-US" sz="1600" dirty="0" smtClean="0">
                <a:latin typeface="+mj-lt"/>
              </a:rPr>
              <a:t>fixed resources. </a:t>
            </a:r>
            <a:r>
              <a:rPr lang="en-US" sz="1600" dirty="0">
                <a:latin typeface="+mj-lt"/>
              </a:rPr>
              <a:t>However, to prevent </a:t>
            </a:r>
            <a:r>
              <a:rPr lang="en-US" sz="1600" dirty="0" smtClean="0">
                <a:latin typeface="+mj-lt"/>
              </a:rPr>
              <a:t>double counting of hours, ensure that none of the additional fixed resources have any direct contributions to any SDLC phase deliverables. Project controller is a typical example of another fixed resource.</a:t>
            </a:r>
            <a:endParaRPr lang="en-US" sz="1600" dirty="0">
              <a:latin typeface="+mj-lt"/>
            </a:endParaRPr>
          </a:p>
          <a:p>
            <a:pPr lvl="1"/>
            <a:r>
              <a:rPr lang="en-US" sz="1600" dirty="0">
                <a:latin typeface="+mj-lt"/>
              </a:rPr>
              <a:t>The user must enter Start and End Date for each fixed role.</a:t>
            </a:r>
          </a:p>
          <a:p>
            <a:pPr lvl="1"/>
            <a:r>
              <a:rPr lang="en-US" sz="1600" dirty="0" smtClean="0">
                <a:latin typeface="+mj-lt"/>
              </a:rPr>
              <a:t>The user must select the phases applicable to each fixed resource. (</a:t>
            </a:r>
            <a:r>
              <a:rPr lang="en-US" sz="1600" dirty="0">
                <a:latin typeface="+mj-lt"/>
              </a:rPr>
              <a:t>e.g., the </a:t>
            </a:r>
            <a:r>
              <a:rPr lang="en-US" sz="1600" dirty="0" smtClean="0">
                <a:latin typeface="+mj-lt"/>
              </a:rPr>
              <a:t>Quality </a:t>
            </a:r>
            <a:r>
              <a:rPr lang="en-US" sz="1600" dirty="0">
                <a:latin typeface="+mj-lt"/>
              </a:rPr>
              <a:t>M</a:t>
            </a:r>
            <a:r>
              <a:rPr lang="en-US" sz="1600" dirty="0" smtClean="0">
                <a:latin typeface="+mj-lt"/>
              </a:rPr>
              <a:t>anager may be scheduled to join the project late and leave early, thereby contributing to Mange</a:t>
            </a:r>
            <a:r>
              <a:rPr lang="en-US" sz="1600" dirty="0">
                <a:latin typeface="+mj-lt"/>
              </a:rPr>
              <a:t>, </a:t>
            </a:r>
            <a:r>
              <a:rPr lang="en-US" sz="1600" dirty="0" smtClean="0">
                <a:latin typeface="+mj-lt"/>
              </a:rPr>
              <a:t>Test</a:t>
            </a:r>
            <a:r>
              <a:rPr lang="en-US" sz="1600" dirty="0">
                <a:latin typeface="+mj-lt"/>
              </a:rPr>
              <a:t>, and </a:t>
            </a:r>
            <a:r>
              <a:rPr lang="en-US" sz="1600" dirty="0" smtClean="0">
                <a:latin typeface="+mj-lt"/>
              </a:rPr>
              <a:t>Deploy</a:t>
            </a:r>
            <a:r>
              <a:rPr lang="en-US" sz="1600" dirty="0">
                <a:latin typeface="+mj-lt"/>
              </a:rPr>
              <a:t>, but </a:t>
            </a:r>
            <a:r>
              <a:rPr lang="en-US" sz="1600" dirty="0" smtClean="0">
                <a:latin typeface="+mj-lt"/>
              </a:rPr>
              <a:t>may </a:t>
            </a:r>
            <a:r>
              <a:rPr lang="en-US" sz="1600" dirty="0">
                <a:latin typeface="+mj-lt"/>
              </a:rPr>
              <a:t>not </a:t>
            </a:r>
            <a:r>
              <a:rPr lang="en-US" sz="1600" dirty="0" smtClean="0">
                <a:latin typeface="+mj-lt"/>
              </a:rPr>
              <a:t>work on Initiate </a:t>
            </a:r>
            <a:r>
              <a:rPr lang="en-US" sz="1600" dirty="0">
                <a:latin typeface="+mj-lt"/>
              </a:rPr>
              <a:t>and </a:t>
            </a:r>
            <a:r>
              <a:rPr lang="en-US" sz="1600" dirty="0" smtClean="0">
                <a:latin typeface="+mj-lt"/>
              </a:rPr>
              <a:t>Plan and </a:t>
            </a:r>
            <a:r>
              <a:rPr lang="en-US" sz="1600" dirty="0">
                <a:latin typeface="+mj-lt"/>
              </a:rPr>
              <a:t>D</a:t>
            </a:r>
            <a:r>
              <a:rPr lang="en-US" sz="1600" dirty="0" smtClean="0">
                <a:latin typeface="+mj-lt"/>
              </a:rPr>
              <a:t>eploy</a:t>
            </a:r>
            <a:r>
              <a:rPr lang="en-US" sz="1600" dirty="0">
                <a:latin typeface="+mj-lt"/>
              </a:rPr>
              <a:t>)”.</a:t>
            </a:r>
          </a:p>
          <a:p>
            <a:pPr lvl="1"/>
            <a:r>
              <a:rPr lang="en-US" sz="1600" dirty="0" smtClean="0">
                <a:latin typeface="+mj-lt"/>
              </a:rPr>
              <a:t>Estimator must enter billing rate and hours per week.</a:t>
            </a:r>
          </a:p>
          <a:p>
            <a:pPr lvl="2"/>
            <a:r>
              <a:rPr lang="en-US" sz="1600" dirty="0" smtClean="0">
                <a:latin typeface="+mj-lt"/>
              </a:rPr>
              <a:t>A link to Deloitte Pricing Model is included in this tab. The user can refer to the Deloitte Pricing Model for accurate billing rate.</a:t>
            </a:r>
            <a:endParaRPr lang="en-US" sz="1600" dirty="0">
              <a:latin typeface="+mj-lt"/>
            </a:endParaRPr>
          </a:p>
        </p:txBody>
      </p:sp>
      <p:sp>
        <p:nvSpPr>
          <p:cNvPr id="2" name="Title 1"/>
          <p:cNvSpPr>
            <a:spLocks noGrp="1"/>
          </p:cNvSpPr>
          <p:nvPr>
            <p:ph type="title"/>
          </p:nvPr>
        </p:nvSpPr>
        <p:spPr>
          <a:xfrm>
            <a:off x="414338" y="450279"/>
            <a:ext cx="8330184" cy="333425"/>
          </a:xfrm>
        </p:spPr>
        <p:txBody>
          <a:bodyPr/>
          <a:lstStyle/>
          <a:p>
            <a:r>
              <a:rPr lang="en-US" dirty="0" smtClean="0"/>
              <a:t>Fixed Resources</a:t>
            </a:r>
            <a:endParaRPr lang="en-US" dirty="0"/>
          </a:p>
        </p:txBody>
      </p:sp>
    </p:spTree>
    <p:extLst>
      <p:ext uri="{BB962C8B-B14F-4D97-AF65-F5344CB8AC3E}">
        <p14:creationId xmlns:p14="http://schemas.microsoft.com/office/powerpoint/2010/main" xmlns="" val="214465403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r>
              <a:rPr lang="en-US" sz="1600" dirty="0" smtClean="0">
                <a:solidFill>
                  <a:schemeClr val="accent1"/>
                </a:solidFill>
              </a:rPr>
              <a:t>The user begins the estimation process for fixed resources by following the steps below:</a:t>
            </a:r>
          </a:p>
          <a:p>
            <a:pPr lvl="1"/>
            <a:r>
              <a:rPr lang="en-US" sz="1600" dirty="0" smtClean="0">
                <a:solidFill>
                  <a:schemeClr val="accent1"/>
                </a:solidFill>
              </a:rPr>
              <a:t>Enter the Start and End </a:t>
            </a:r>
            <a:r>
              <a:rPr lang="en-US" sz="1600" dirty="0">
                <a:solidFill>
                  <a:schemeClr val="accent1"/>
                </a:solidFill>
              </a:rPr>
              <a:t>D</a:t>
            </a:r>
            <a:r>
              <a:rPr lang="en-US" sz="1600" dirty="0" smtClean="0">
                <a:solidFill>
                  <a:schemeClr val="accent1"/>
                </a:solidFill>
              </a:rPr>
              <a:t>ate for each phase. </a:t>
            </a:r>
          </a:p>
          <a:p>
            <a:pPr lvl="2"/>
            <a:r>
              <a:rPr lang="en-US" sz="1600" dirty="0" smtClean="0">
                <a:solidFill>
                  <a:schemeClr val="accent1"/>
                </a:solidFill>
              </a:rPr>
              <a:t>The Start and End date for the overall project is populated from the Project Details tab, so the user does not need to enter it twice.</a:t>
            </a:r>
          </a:p>
          <a:p>
            <a:pPr lvl="1"/>
            <a:r>
              <a:rPr lang="en-US" sz="1600" dirty="0" smtClean="0">
                <a:solidFill>
                  <a:schemeClr val="accent1"/>
                </a:solidFill>
              </a:rPr>
              <a:t>The user is allowed to enter one resource per “Fixed Resources Assignment” table.</a:t>
            </a:r>
          </a:p>
          <a:p>
            <a:pPr lvl="1"/>
            <a:r>
              <a:rPr lang="en-US" sz="1600" dirty="0" smtClean="0">
                <a:solidFill>
                  <a:schemeClr val="accent1"/>
                </a:solidFill>
              </a:rPr>
              <a:t>The user enters the </a:t>
            </a:r>
            <a:r>
              <a:rPr lang="en-US" sz="1600" dirty="0">
                <a:solidFill>
                  <a:schemeClr val="accent1"/>
                </a:solidFill>
              </a:rPr>
              <a:t>R</a:t>
            </a:r>
            <a:r>
              <a:rPr lang="en-US" sz="1600" dirty="0" smtClean="0">
                <a:solidFill>
                  <a:schemeClr val="accent1"/>
                </a:solidFill>
              </a:rPr>
              <a:t>ole (Project </a:t>
            </a:r>
            <a:r>
              <a:rPr lang="en-US" sz="1600" dirty="0">
                <a:solidFill>
                  <a:schemeClr val="accent1"/>
                </a:solidFill>
              </a:rPr>
              <a:t>M</a:t>
            </a:r>
            <a:r>
              <a:rPr lang="en-US" sz="1600" dirty="0" smtClean="0">
                <a:solidFill>
                  <a:schemeClr val="accent1"/>
                </a:solidFill>
              </a:rPr>
              <a:t>anager, Quality </a:t>
            </a:r>
            <a:r>
              <a:rPr lang="en-US" sz="1600" dirty="0">
                <a:solidFill>
                  <a:schemeClr val="accent1"/>
                </a:solidFill>
              </a:rPr>
              <a:t>M</a:t>
            </a:r>
            <a:r>
              <a:rPr lang="en-US" sz="1600" dirty="0" smtClean="0">
                <a:solidFill>
                  <a:schemeClr val="accent1"/>
                </a:solidFill>
              </a:rPr>
              <a:t>anager, etc.), Start Date and End </a:t>
            </a:r>
            <a:r>
              <a:rPr lang="en-US" sz="1600" dirty="0">
                <a:solidFill>
                  <a:schemeClr val="accent1"/>
                </a:solidFill>
              </a:rPr>
              <a:t>D</a:t>
            </a:r>
            <a:r>
              <a:rPr lang="en-US" sz="1600" dirty="0" smtClean="0">
                <a:solidFill>
                  <a:schemeClr val="accent1"/>
                </a:solidFill>
              </a:rPr>
              <a:t>ate of each fixed resource. </a:t>
            </a:r>
          </a:p>
          <a:p>
            <a:pPr lvl="1"/>
            <a:r>
              <a:rPr lang="en-US" sz="1600" dirty="0" smtClean="0">
                <a:solidFill>
                  <a:schemeClr val="accent1"/>
                </a:solidFill>
              </a:rPr>
              <a:t>For each fixed resource, the user enters the average hours per week the resource is scheduled to work.</a:t>
            </a:r>
          </a:p>
          <a:p>
            <a:pPr lvl="1"/>
            <a:r>
              <a:rPr lang="en-US" sz="1600" dirty="0" smtClean="0">
                <a:solidFill>
                  <a:schemeClr val="accent1"/>
                </a:solidFill>
              </a:rPr>
              <a:t>The user enters the hourly rate of each resource.</a:t>
            </a:r>
          </a:p>
          <a:p>
            <a:pPr lvl="2"/>
            <a:r>
              <a:rPr lang="en-US" sz="1600" dirty="0" smtClean="0">
                <a:solidFill>
                  <a:schemeClr val="accent1"/>
                </a:solidFill>
              </a:rPr>
              <a:t>A link to Deloitte Pricing System is available on this tab.</a:t>
            </a:r>
          </a:p>
          <a:p>
            <a:pPr lvl="1"/>
            <a:r>
              <a:rPr lang="en-US" sz="1600" dirty="0">
                <a:solidFill>
                  <a:schemeClr val="accent1"/>
                </a:solidFill>
              </a:rPr>
              <a:t>The user selects the phases that are applicable to </a:t>
            </a:r>
            <a:r>
              <a:rPr lang="en-US" sz="1600" dirty="0" smtClean="0">
                <a:solidFill>
                  <a:schemeClr val="accent1"/>
                </a:solidFill>
              </a:rPr>
              <a:t>each fixed </a:t>
            </a:r>
            <a:r>
              <a:rPr lang="en-US" sz="1600" dirty="0">
                <a:solidFill>
                  <a:schemeClr val="accent1"/>
                </a:solidFill>
              </a:rPr>
              <a:t>resource. </a:t>
            </a:r>
            <a:endParaRPr lang="en-US" sz="1600" dirty="0" smtClean="0">
              <a:solidFill>
                <a:schemeClr val="accent1"/>
              </a:solidFill>
            </a:endParaRPr>
          </a:p>
          <a:p>
            <a:pPr lvl="1"/>
            <a:r>
              <a:rPr lang="en-US" sz="1600" dirty="0" smtClean="0">
                <a:solidFill>
                  <a:schemeClr val="accent1"/>
                </a:solidFill>
              </a:rPr>
              <a:t>The tool estimates the hours and cost by phase.</a:t>
            </a:r>
          </a:p>
          <a:p>
            <a:pPr lvl="1"/>
            <a:r>
              <a:rPr lang="en-US" sz="1600" dirty="0" smtClean="0">
                <a:solidFill>
                  <a:schemeClr val="accent1"/>
                </a:solidFill>
              </a:rPr>
              <a:t>The tool also provides a grand total of hours and cost for each resource entered.</a:t>
            </a:r>
            <a:endParaRPr lang="en-US" sz="1600" dirty="0">
              <a:solidFill>
                <a:schemeClr val="accent1"/>
              </a:solidFill>
            </a:endParaRPr>
          </a:p>
        </p:txBody>
      </p:sp>
      <p:sp>
        <p:nvSpPr>
          <p:cNvPr id="2" name="Title 1"/>
          <p:cNvSpPr>
            <a:spLocks noGrp="1"/>
          </p:cNvSpPr>
          <p:nvPr>
            <p:ph type="title"/>
          </p:nvPr>
        </p:nvSpPr>
        <p:spPr>
          <a:xfrm>
            <a:off x="414338" y="450279"/>
            <a:ext cx="8330184" cy="333425"/>
          </a:xfrm>
        </p:spPr>
        <p:txBody>
          <a:bodyPr/>
          <a:lstStyle/>
          <a:p>
            <a:r>
              <a:rPr lang="en-US" dirty="0" smtClean="0"/>
              <a:t>Fixed Resources </a:t>
            </a:r>
            <a:r>
              <a:rPr lang="en-US" dirty="0">
                <a:solidFill>
                  <a:srgbClr val="002776"/>
                </a:solidFill>
              </a:rPr>
              <a:t>(cont.)</a:t>
            </a:r>
            <a:endParaRPr lang="en-US" dirty="0"/>
          </a:p>
        </p:txBody>
      </p:sp>
    </p:spTree>
    <p:extLst>
      <p:ext uri="{BB962C8B-B14F-4D97-AF65-F5344CB8AC3E}">
        <p14:creationId xmlns:p14="http://schemas.microsoft.com/office/powerpoint/2010/main" xmlns="" val="272573148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50279"/>
            <a:ext cx="8330184" cy="333425"/>
          </a:xfrm>
        </p:spPr>
        <p:txBody>
          <a:bodyPr/>
          <a:lstStyle/>
          <a:p>
            <a:r>
              <a:rPr lang="en-US" dirty="0" smtClean="0">
                <a:solidFill>
                  <a:srgbClr val="002776"/>
                </a:solidFill>
              </a:rPr>
              <a:t>Fixed Resources (cont.)</a:t>
            </a:r>
            <a:endParaRPr lang="en-US" dirty="0">
              <a:solidFill>
                <a:srgbClr val="002776"/>
              </a:solidFill>
            </a:endParaRPr>
          </a:p>
        </p:txBody>
      </p:sp>
      <p:sp>
        <p:nvSpPr>
          <p:cNvPr id="10" name="TextBox 9"/>
          <p:cNvSpPr txBox="1"/>
          <p:nvPr/>
        </p:nvSpPr>
        <p:spPr>
          <a:xfrm>
            <a:off x="6541590" y="1403538"/>
            <a:ext cx="2196009" cy="1200329"/>
          </a:xfrm>
          <a:prstGeom prst="rect">
            <a:avLst/>
          </a:prstGeom>
          <a:solidFill>
            <a:schemeClr val="accent3"/>
          </a:solidFill>
          <a:ln w="38100">
            <a:solidFill>
              <a:srgbClr val="92D400"/>
            </a:solidFill>
          </a:ln>
        </p:spPr>
        <p:txBody>
          <a:bodyPr wrap="square" rtlCol="0">
            <a:spAutoFit/>
          </a:bodyPr>
          <a:lstStyle>
            <a:defPPr>
              <a:defRPr lang="en-US"/>
            </a:defPPr>
            <a:lvl1pPr marL="342900" indent="-342900" algn="l" fontAlgn="auto">
              <a:spcBef>
                <a:spcPts val="0"/>
              </a:spcBef>
              <a:spcAft>
                <a:spcPts val="0"/>
              </a:spcAft>
              <a:defRPr sz="1200">
                <a:solidFill>
                  <a:schemeClr val="bg1"/>
                </a:solidFill>
                <a:latin typeface="+mj-lt"/>
                <a:cs typeface="Calibri" pitchFamily="34" charset="0"/>
              </a:defRPr>
            </a:lvl1pPr>
          </a:lstStyle>
          <a:p>
            <a:pPr marL="0" indent="0"/>
            <a:r>
              <a:rPr lang="en-US" dirty="0" smtClean="0">
                <a:cs typeface="Arial" pitchFamily="34" charset="0"/>
              </a:rPr>
              <a:t>The </a:t>
            </a:r>
            <a:r>
              <a:rPr lang="en-US" dirty="0">
                <a:cs typeface="Arial" pitchFamily="34" charset="0"/>
              </a:rPr>
              <a:t>S</a:t>
            </a:r>
            <a:r>
              <a:rPr lang="en-US" dirty="0" smtClean="0">
                <a:cs typeface="Arial" pitchFamily="34" charset="0"/>
              </a:rPr>
              <a:t>tart </a:t>
            </a:r>
            <a:r>
              <a:rPr lang="en-US" dirty="0">
                <a:cs typeface="Arial" pitchFamily="34" charset="0"/>
              </a:rPr>
              <a:t>D</a:t>
            </a:r>
            <a:r>
              <a:rPr lang="en-US" dirty="0" smtClean="0">
                <a:cs typeface="Arial" pitchFamily="34" charset="0"/>
              </a:rPr>
              <a:t>ate and End </a:t>
            </a:r>
            <a:r>
              <a:rPr lang="en-US" dirty="0">
                <a:cs typeface="Arial" pitchFamily="34" charset="0"/>
              </a:rPr>
              <a:t>D</a:t>
            </a:r>
            <a:r>
              <a:rPr lang="en-US" dirty="0" smtClean="0">
                <a:cs typeface="Arial" pitchFamily="34" charset="0"/>
              </a:rPr>
              <a:t>ate for </a:t>
            </a:r>
            <a:r>
              <a:rPr lang="en-US" dirty="0">
                <a:cs typeface="Arial" pitchFamily="34" charset="0"/>
              </a:rPr>
              <a:t>the overall </a:t>
            </a:r>
            <a:r>
              <a:rPr lang="en-US" dirty="0" smtClean="0">
                <a:cs typeface="Arial" pitchFamily="34" charset="0"/>
              </a:rPr>
              <a:t>project is populated per </a:t>
            </a:r>
            <a:r>
              <a:rPr lang="en-US" dirty="0">
                <a:cs typeface="Arial" pitchFamily="34" charset="0"/>
              </a:rPr>
              <a:t>the P</a:t>
            </a:r>
            <a:r>
              <a:rPr lang="en-US" dirty="0" smtClean="0">
                <a:cs typeface="Arial" pitchFamily="34" charset="0"/>
              </a:rPr>
              <a:t>roject </a:t>
            </a:r>
            <a:r>
              <a:rPr lang="en-US" dirty="0">
                <a:cs typeface="Arial" pitchFamily="34" charset="0"/>
              </a:rPr>
              <a:t>D</a:t>
            </a:r>
            <a:r>
              <a:rPr lang="en-US" dirty="0" smtClean="0">
                <a:cs typeface="Arial" pitchFamily="34" charset="0"/>
              </a:rPr>
              <a:t>etails tab</a:t>
            </a:r>
            <a:r>
              <a:rPr lang="en-US" dirty="0">
                <a:cs typeface="Arial" pitchFamily="34" charset="0"/>
              </a:rPr>
              <a:t>. The </a:t>
            </a:r>
            <a:r>
              <a:rPr lang="en-US" dirty="0" smtClean="0">
                <a:cs typeface="Arial" pitchFamily="34" charset="0"/>
              </a:rPr>
              <a:t>user needs</a:t>
            </a:r>
          </a:p>
          <a:p>
            <a:pPr marL="0" indent="0"/>
            <a:r>
              <a:rPr lang="en-US" dirty="0" smtClean="0">
                <a:cs typeface="Arial" pitchFamily="34" charset="0"/>
              </a:rPr>
              <a:t>to </a:t>
            </a:r>
            <a:r>
              <a:rPr lang="en-US" dirty="0">
                <a:cs typeface="Arial" pitchFamily="34" charset="0"/>
              </a:rPr>
              <a:t>enter the </a:t>
            </a:r>
            <a:r>
              <a:rPr lang="en-US" dirty="0" smtClean="0">
                <a:cs typeface="Arial" pitchFamily="34" charset="0"/>
              </a:rPr>
              <a:t>Start </a:t>
            </a:r>
            <a:r>
              <a:rPr lang="en-US" dirty="0">
                <a:cs typeface="Arial" pitchFamily="34" charset="0"/>
              </a:rPr>
              <a:t>and E</a:t>
            </a:r>
            <a:r>
              <a:rPr lang="en-US" dirty="0" smtClean="0">
                <a:cs typeface="Arial" pitchFamily="34" charset="0"/>
              </a:rPr>
              <a:t>nd </a:t>
            </a:r>
            <a:r>
              <a:rPr lang="en-US" dirty="0">
                <a:cs typeface="Arial" pitchFamily="34" charset="0"/>
              </a:rPr>
              <a:t>D</a:t>
            </a:r>
            <a:r>
              <a:rPr lang="en-US" dirty="0" smtClean="0">
                <a:cs typeface="Arial" pitchFamily="34" charset="0"/>
              </a:rPr>
              <a:t>ate </a:t>
            </a:r>
            <a:r>
              <a:rPr lang="en-US" dirty="0">
                <a:cs typeface="Arial" pitchFamily="34" charset="0"/>
              </a:rPr>
              <a:t>for each phase. </a:t>
            </a:r>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813" y="1377285"/>
            <a:ext cx="5812046" cy="21945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TextBox 11"/>
          <p:cNvSpPr txBox="1"/>
          <p:nvPr/>
        </p:nvSpPr>
        <p:spPr>
          <a:xfrm>
            <a:off x="6541590" y="3971925"/>
            <a:ext cx="2196010" cy="2308324"/>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The </a:t>
            </a:r>
            <a:r>
              <a:rPr lang="en-US" dirty="0"/>
              <a:t>user enters </a:t>
            </a:r>
            <a:r>
              <a:rPr lang="en-US" dirty="0" smtClean="0"/>
              <a:t>the  </a:t>
            </a:r>
            <a:r>
              <a:rPr lang="en-US" dirty="0"/>
              <a:t>fixed resource </a:t>
            </a:r>
            <a:r>
              <a:rPr lang="en-US" dirty="0" smtClean="0"/>
              <a:t>role (</a:t>
            </a:r>
            <a:r>
              <a:rPr lang="en-US" dirty="0"/>
              <a:t>P</a:t>
            </a:r>
            <a:r>
              <a:rPr lang="en-US" dirty="0" smtClean="0"/>
              <a:t>roject </a:t>
            </a:r>
            <a:r>
              <a:rPr lang="en-US" dirty="0"/>
              <a:t>M</a:t>
            </a:r>
            <a:r>
              <a:rPr lang="en-US" dirty="0" smtClean="0"/>
              <a:t>anager, Quality </a:t>
            </a:r>
            <a:r>
              <a:rPr lang="en-US" dirty="0"/>
              <a:t>M</a:t>
            </a:r>
            <a:r>
              <a:rPr lang="en-US" dirty="0" smtClean="0"/>
              <a:t>anager</a:t>
            </a:r>
            <a:r>
              <a:rPr lang="en-US" dirty="0"/>
              <a:t>, etc.) and S</a:t>
            </a:r>
            <a:r>
              <a:rPr lang="en-US" dirty="0" smtClean="0"/>
              <a:t>tart </a:t>
            </a:r>
            <a:r>
              <a:rPr lang="en-US" dirty="0"/>
              <a:t>D</a:t>
            </a:r>
            <a:r>
              <a:rPr lang="en-US" dirty="0" smtClean="0"/>
              <a:t>ate </a:t>
            </a:r>
            <a:r>
              <a:rPr lang="en-US" dirty="0"/>
              <a:t>and </a:t>
            </a:r>
            <a:r>
              <a:rPr lang="en-US" dirty="0" smtClean="0"/>
              <a:t>End </a:t>
            </a:r>
            <a:r>
              <a:rPr lang="en-US" dirty="0"/>
              <a:t>D</a:t>
            </a:r>
            <a:r>
              <a:rPr lang="en-US" dirty="0" smtClean="0"/>
              <a:t>ate of </a:t>
            </a:r>
            <a:r>
              <a:rPr lang="en-US" dirty="0"/>
              <a:t>his/her role. The user </a:t>
            </a:r>
            <a:r>
              <a:rPr lang="en-US" dirty="0" smtClean="0"/>
              <a:t>can also </a:t>
            </a:r>
            <a:r>
              <a:rPr lang="en-US" dirty="0"/>
              <a:t>enter if a certain </a:t>
            </a:r>
            <a:r>
              <a:rPr lang="en-US" dirty="0" smtClean="0"/>
              <a:t>phase is </a:t>
            </a:r>
            <a:r>
              <a:rPr lang="en-US" dirty="0"/>
              <a:t>applicable for the role or </a:t>
            </a:r>
            <a:r>
              <a:rPr lang="en-US" dirty="0" smtClean="0"/>
              <a:t> not</a:t>
            </a:r>
            <a:r>
              <a:rPr lang="en-US" dirty="0"/>
              <a:t>. The effort hours </a:t>
            </a:r>
            <a:r>
              <a:rPr lang="en-US" dirty="0" smtClean="0"/>
              <a:t>are calculated </a:t>
            </a:r>
            <a:r>
              <a:rPr lang="en-US" dirty="0"/>
              <a:t>only if the </a:t>
            </a:r>
            <a:r>
              <a:rPr lang="en-US" dirty="0" smtClean="0"/>
              <a:t>phase is applicable</a:t>
            </a:r>
            <a:r>
              <a:rPr lang="en-US" dirty="0"/>
              <a:t>.</a:t>
            </a:r>
          </a:p>
          <a:p>
            <a:endParaRPr lang="en-US" dirty="0"/>
          </a:p>
        </p:txBody>
      </p:sp>
      <p:pic>
        <p:nvPicPr>
          <p:cNvPr id="4104" name="Picture 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6238" y="3983363"/>
            <a:ext cx="5881687" cy="1839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7487070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1479" y="1399032"/>
            <a:ext cx="8330184" cy="845404"/>
          </a:xfrm>
        </p:spPr>
        <p:txBody>
          <a:bodyPr/>
          <a:lstStyle/>
          <a:p>
            <a:pPr lvl="0"/>
            <a:r>
              <a:rPr lang="en-US" sz="1600" dirty="0" smtClean="0"/>
              <a:t>If the user changes a Start and/or </a:t>
            </a:r>
            <a:r>
              <a:rPr lang="en-US" sz="1600" dirty="0"/>
              <a:t>E</a:t>
            </a:r>
            <a:r>
              <a:rPr lang="en-US" sz="1600" dirty="0" smtClean="0"/>
              <a:t>nd </a:t>
            </a:r>
            <a:r>
              <a:rPr lang="en-US" sz="1600" dirty="0"/>
              <a:t>D</a:t>
            </a:r>
            <a:r>
              <a:rPr lang="en-US" sz="1600" dirty="0" smtClean="0"/>
              <a:t>ate in the Project </a:t>
            </a:r>
            <a:r>
              <a:rPr lang="en-US" sz="1600" dirty="0"/>
              <a:t>D</a:t>
            </a:r>
            <a:r>
              <a:rPr lang="en-US" sz="1600" dirty="0" smtClean="0"/>
              <a:t>etails tab for the overall project, the tool does not apply the date validation of the new dates in the Fixed </a:t>
            </a:r>
            <a:r>
              <a:rPr lang="en-US" sz="1600" dirty="0"/>
              <a:t>R</a:t>
            </a:r>
            <a:r>
              <a:rPr lang="en-US" sz="1600" dirty="0" smtClean="0"/>
              <a:t>esources tab. It is the estimator’s responsibility to revise the dates in the Fixed Resources tab.</a:t>
            </a:r>
            <a:endParaRPr lang="en-US" sz="1600" dirty="0"/>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Fixed Resources </a:t>
            </a:r>
            <a:r>
              <a:rPr lang="en-US" dirty="0">
                <a:solidFill>
                  <a:schemeClr val="accent1"/>
                </a:solidFill>
              </a:rPr>
              <a:t>L</a:t>
            </a:r>
            <a:r>
              <a:rPr lang="en-US" dirty="0" smtClean="0">
                <a:solidFill>
                  <a:schemeClr val="accent1"/>
                </a:solidFill>
              </a:rPr>
              <a:t>imitation</a:t>
            </a:r>
            <a:endParaRPr lang="en-US" dirty="0">
              <a:solidFill>
                <a:schemeClr val="accent1"/>
              </a:solidFill>
            </a:endParaRPr>
          </a:p>
        </p:txBody>
      </p:sp>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a:stretch/>
        </p:blipFill>
        <p:spPr bwMode="auto">
          <a:xfrm>
            <a:off x="366713" y="2432825"/>
            <a:ext cx="7586662" cy="3056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2651887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r>
              <a:rPr lang="en-US" sz="1600" dirty="0" smtClean="0">
                <a:solidFill>
                  <a:schemeClr val="accent1"/>
                </a:solidFill>
              </a:rPr>
              <a:t>If the user selects a SDLC phase in the Estimation Scope tab as out of scope, the phase is then grayed out (uneditable) on the Fixed </a:t>
            </a:r>
            <a:r>
              <a:rPr lang="en-US" sz="1600" dirty="0">
                <a:solidFill>
                  <a:schemeClr val="accent1"/>
                </a:solidFill>
              </a:rPr>
              <a:t>R</a:t>
            </a:r>
            <a:r>
              <a:rPr lang="en-US" sz="1600" dirty="0" smtClean="0">
                <a:solidFill>
                  <a:schemeClr val="accent1"/>
                </a:solidFill>
              </a:rPr>
              <a:t>esources tab. However, the user must manually select the phase as Applicable = No in the “Fixed Resources Assignment” tab in order to display this change. </a:t>
            </a:r>
            <a:endParaRPr lang="en-US" sz="1600" dirty="0">
              <a:solidFill>
                <a:schemeClr val="accent1"/>
              </a:solidFill>
            </a:endParaRPr>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Fixed Resources </a:t>
            </a:r>
            <a:r>
              <a:rPr lang="en-US" dirty="0">
                <a:solidFill>
                  <a:schemeClr val="accent1"/>
                </a:solidFill>
              </a:rPr>
              <a:t>L</a:t>
            </a:r>
            <a:r>
              <a:rPr lang="en-US" dirty="0" smtClean="0">
                <a:solidFill>
                  <a:schemeClr val="accent1"/>
                </a:solidFill>
              </a:rPr>
              <a:t>imitation (cont.)</a:t>
            </a:r>
            <a:endParaRPr lang="en-US" dirty="0">
              <a:solidFill>
                <a:schemeClr val="accent1"/>
              </a:solidFill>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813" y="2504021"/>
            <a:ext cx="7029451" cy="378247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8314489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1479" y="1399031"/>
            <a:ext cx="8330184" cy="2545172"/>
          </a:xfrm>
        </p:spPr>
        <p:txBody>
          <a:bodyPr/>
          <a:lstStyle/>
          <a:p>
            <a:r>
              <a:rPr lang="en-US" sz="1600" dirty="0"/>
              <a:t>Because the </a:t>
            </a:r>
            <a:r>
              <a:rPr lang="en-US" sz="1600" dirty="0" smtClean="0"/>
              <a:t>SDLC phases may be staggered</a:t>
            </a:r>
            <a:r>
              <a:rPr lang="en-US" sz="1600" dirty="0"/>
              <a:t>, the estimation tool proportionally distributes the total hours of a fixed resource to all the phases assigned to </a:t>
            </a:r>
            <a:r>
              <a:rPr lang="en-US" sz="1600" dirty="0" smtClean="0"/>
              <a:t>him/her. </a:t>
            </a:r>
            <a:r>
              <a:rPr lang="en-US" sz="1600" dirty="0"/>
              <a:t>It calculates the total hours by multiplying the number of hours per week with the duration derived from start and end date of the resource</a:t>
            </a:r>
            <a:r>
              <a:rPr lang="en-US" sz="1600" dirty="0" smtClean="0"/>
              <a:t>. </a:t>
            </a:r>
            <a:r>
              <a:rPr lang="en-US" sz="1600" dirty="0"/>
              <a:t>The distribution of hours by phase works well when a fixed resource is assigned to one or more phases so that there is no idle time for the resource. However, if a fixed resource is assigned to selective </a:t>
            </a:r>
            <a:r>
              <a:rPr lang="en-US" sz="1600" dirty="0" smtClean="0"/>
              <a:t>phases only, </a:t>
            </a:r>
            <a:r>
              <a:rPr lang="en-US" sz="1600" dirty="0"/>
              <a:t>it may introduce an idle time for the resource (depending on the start and end date of </a:t>
            </a:r>
            <a:r>
              <a:rPr lang="en-US" sz="1600" dirty="0" smtClean="0"/>
              <a:t>applicable </a:t>
            </a:r>
            <a:r>
              <a:rPr lang="en-US" sz="1600" dirty="0"/>
              <a:t>phases). In that case, the allocation of total hours by phase may result in allocating excess hours to some phases to make up the loss (of hours) due to the resource’s idle time. The user may resolve this situation by splitting </a:t>
            </a:r>
            <a:r>
              <a:rPr lang="en-US" sz="1600" dirty="0" smtClean="0"/>
              <a:t>a role </a:t>
            </a:r>
            <a:r>
              <a:rPr lang="en-US" sz="1600" dirty="0"/>
              <a:t>into multiple roles so that it does not introduce an idle time.  </a:t>
            </a:r>
          </a:p>
          <a:p>
            <a:endParaRPr lang="en-US" sz="1600" dirty="0" smtClean="0"/>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Fixed Resources </a:t>
            </a:r>
            <a:r>
              <a:rPr lang="en-US" dirty="0">
                <a:solidFill>
                  <a:schemeClr val="accent1"/>
                </a:solidFill>
              </a:rPr>
              <a:t>L</a:t>
            </a:r>
            <a:r>
              <a:rPr lang="en-US" dirty="0" smtClean="0">
                <a:solidFill>
                  <a:schemeClr val="accent1"/>
                </a:solidFill>
              </a:rPr>
              <a:t>imitation (cont.)</a:t>
            </a:r>
            <a:endParaRPr lang="en-US" dirty="0">
              <a:solidFill>
                <a:schemeClr val="accent1"/>
              </a:solidFill>
            </a:endParaRPr>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8137" y="4004527"/>
            <a:ext cx="8511215" cy="263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8507655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1479" y="1399032"/>
            <a:ext cx="8330184" cy="5179898"/>
          </a:xfrm>
        </p:spPr>
        <p:txBody>
          <a:bodyPr/>
          <a:lstStyle/>
          <a:p>
            <a:pPr lvl="1"/>
            <a:r>
              <a:rPr lang="en-US" sz="1600" dirty="0" smtClean="0"/>
              <a:t>Standard deliverables are consistent with the Playbook and EVD methodologies, and are deemed important for accurate estimation of the effort.</a:t>
            </a:r>
          </a:p>
          <a:p>
            <a:pPr lvl="1"/>
            <a:r>
              <a:rPr lang="en-US" sz="1600" dirty="0" smtClean="0"/>
              <a:t>Standard deliverables are defined for each SDLC phase.</a:t>
            </a:r>
          </a:p>
          <a:p>
            <a:pPr lvl="1"/>
            <a:r>
              <a:rPr lang="en-US" sz="1600" dirty="0" smtClean="0"/>
              <a:t>The user needs to complete the standard deliverables details, which include the following:</a:t>
            </a:r>
          </a:p>
          <a:p>
            <a:pPr marL="512763" lvl="2" indent="-342900">
              <a:buFont typeface="+mj-lt"/>
              <a:buAutoNum type="arabicPeriod"/>
            </a:pPr>
            <a:r>
              <a:rPr lang="en-US" sz="1600" dirty="0" smtClean="0"/>
              <a:t>Mark the “In Scope” column to either “Yes” or “No” as determined by the </a:t>
            </a:r>
            <a:br>
              <a:rPr lang="en-US" sz="1600" dirty="0" smtClean="0"/>
            </a:br>
            <a:r>
              <a:rPr lang="en-US" sz="1600" dirty="0" smtClean="0"/>
              <a:t>planned deliverables.</a:t>
            </a:r>
          </a:p>
          <a:p>
            <a:pPr marL="512763" lvl="2" indent="-342900">
              <a:buFont typeface="+mj-lt"/>
              <a:buAutoNum type="arabicPeriod"/>
            </a:pPr>
            <a:r>
              <a:rPr lang="en-US" sz="1600" dirty="0" smtClean="0"/>
              <a:t>Enter the quantity information, which is equal to the number of deliverables (or work products) planned per phase.</a:t>
            </a:r>
          </a:p>
          <a:p>
            <a:pPr marL="512763" lvl="2" indent="-342900">
              <a:buFont typeface="+mj-lt"/>
              <a:buAutoNum type="arabicPeriod"/>
            </a:pPr>
            <a:r>
              <a:rPr lang="en-US" sz="1600" dirty="0"/>
              <a:t>Assign complexity for the deliverables that are in scope. Valid values for the complexity level are Simple, Average, Complex, and Very Complex.</a:t>
            </a:r>
          </a:p>
          <a:p>
            <a:pPr marL="512763" lvl="2" indent="-342900">
              <a:buFont typeface="+mj-lt"/>
              <a:buAutoNum type="arabicPeriod"/>
            </a:pPr>
            <a:r>
              <a:rPr lang="en-US" sz="1600" dirty="0"/>
              <a:t>If the deliverables have predefined metrics, the “Number of Hours” column will be populated for deliverables that are in scope.</a:t>
            </a:r>
          </a:p>
          <a:p>
            <a:pPr marL="512763" lvl="2" indent="-342900">
              <a:buFont typeface="+mj-lt"/>
              <a:buAutoNum type="arabicPeriod"/>
            </a:pPr>
            <a:r>
              <a:rPr lang="en-US" sz="1600" dirty="0"/>
              <a:t>If the deliverables do not have metrics defined for it, the “Number of Hours” column will not be populated, and the user will need to input the hours in the “User -Defined Hours” column.</a:t>
            </a:r>
          </a:p>
          <a:p>
            <a:pPr marL="512763" lvl="2" indent="-342900">
              <a:buFont typeface="+mj-lt"/>
              <a:buAutoNum type="arabicPeriod"/>
            </a:pPr>
            <a:r>
              <a:rPr lang="en-US" sz="1600" dirty="0"/>
              <a:t>The user can also override the predefined metrics by typing in the hours in the “User-Defined Hours” column.</a:t>
            </a:r>
          </a:p>
          <a:p>
            <a:pPr marL="512763" lvl="2" indent="-342900">
              <a:buFont typeface="+mj-lt"/>
              <a:buAutoNum type="arabicPeriod"/>
            </a:pPr>
            <a:r>
              <a:rPr lang="en-US" sz="1600" dirty="0"/>
              <a:t>The “Total” column calculates the total of “quantity” multiplied by the hours as indicated in the “Number of Hours” or the “User-Defined Hours” column.</a:t>
            </a:r>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Entering Details of </a:t>
            </a:r>
            <a:r>
              <a:rPr lang="en-US" dirty="0">
                <a:solidFill>
                  <a:schemeClr val="accent1"/>
                </a:solidFill>
              </a:rPr>
              <a:t>S</a:t>
            </a:r>
            <a:r>
              <a:rPr lang="en-US" dirty="0" smtClean="0">
                <a:solidFill>
                  <a:schemeClr val="accent1"/>
                </a:solidFill>
              </a:rPr>
              <a:t>tandard </a:t>
            </a:r>
            <a:r>
              <a:rPr lang="en-US" dirty="0">
                <a:solidFill>
                  <a:schemeClr val="accent1"/>
                </a:solidFill>
              </a:rPr>
              <a:t>D</a:t>
            </a:r>
            <a:r>
              <a:rPr lang="en-US" dirty="0" smtClean="0">
                <a:solidFill>
                  <a:schemeClr val="accent1"/>
                </a:solidFill>
              </a:rPr>
              <a:t>eliverables</a:t>
            </a:r>
            <a:endParaRPr lang="en-US" dirty="0">
              <a:solidFill>
                <a:schemeClr val="accent1"/>
              </a:solidFill>
            </a:endParaRPr>
          </a:p>
        </p:txBody>
      </p:sp>
    </p:spTree>
    <p:extLst>
      <p:ext uri="{BB962C8B-B14F-4D97-AF65-F5344CB8AC3E}">
        <p14:creationId xmlns:p14="http://schemas.microsoft.com/office/powerpoint/2010/main" xmlns="" val="206286877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pPr lvl="1"/>
            <a:r>
              <a:rPr lang="en-US" sz="1600" dirty="0" smtClean="0"/>
              <a:t>By </a:t>
            </a:r>
            <a:r>
              <a:rPr lang="en-US" sz="1600" dirty="0"/>
              <a:t>selecting the “Add Deliverable” </a:t>
            </a:r>
            <a:r>
              <a:rPr lang="en-US" sz="1600" dirty="0" smtClean="0"/>
              <a:t>option, the user can add additional deliverables that are not listed in the tabs.</a:t>
            </a:r>
          </a:p>
          <a:p>
            <a:pPr lvl="1"/>
            <a:r>
              <a:rPr lang="en-US" sz="1600" dirty="0" smtClean="0"/>
              <a:t>The risk/contingency percentage is defaulted to 10%, but the user can modify this to allow for varying calculations depending on project, specific deliverables, and/or phase.</a:t>
            </a:r>
          </a:p>
          <a:p>
            <a:pPr lvl="1"/>
            <a:r>
              <a:rPr lang="en-US" sz="1600" dirty="0" smtClean="0"/>
              <a:t>The Grand </a:t>
            </a:r>
            <a:r>
              <a:rPr lang="en-US" sz="1600" dirty="0"/>
              <a:t>T</a:t>
            </a:r>
            <a:r>
              <a:rPr lang="en-US" sz="1600" dirty="0" smtClean="0"/>
              <a:t>otal row combines the subtotal information along with the pre-populated or </a:t>
            </a:r>
            <a:r>
              <a:rPr lang="en-US" sz="1600" dirty="0"/>
              <a:t>user-entered risk/contingency </a:t>
            </a:r>
            <a:r>
              <a:rPr lang="en-US" sz="1600" dirty="0" smtClean="0"/>
              <a:t>percentage.</a:t>
            </a:r>
          </a:p>
        </p:txBody>
      </p:sp>
      <p:sp>
        <p:nvSpPr>
          <p:cNvPr id="2" name="Title 1"/>
          <p:cNvSpPr>
            <a:spLocks noGrp="1"/>
          </p:cNvSpPr>
          <p:nvPr>
            <p:ph type="title"/>
          </p:nvPr>
        </p:nvSpPr>
        <p:spPr>
          <a:xfrm>
            <a:off x="414338" y="450279"/>
            <a:ext cx="8330184" cy="333425"/>
          </a:xfrm>
        </p:spPr>
        <p:txBody>
          <a:bodyPr/>
          <a:lstStyle/>
          <a:p>
            <a:r>
              <a:rPr lang="en-US" dirty="0" smtClean="0"/>
              <a:t>Entering Details of </a:t>
            </a:r>
            <a:r>
              <a:rPr lang="en-US" dirty="0"/>
              <a:t>S</a:t>
            </a:r>
            <a:r>
              <a:rPr lang="en-US" dirty="0" smtClean="0"/>
              <a:t>tandard </a:t>
            </a:r>
            <a:r>
              <a:rPr lang="en-US" dirty="0"/>
              <a:t>D</a:t>
            </a:r>
            <a:r>
              <a:rPr lang="en-US" dirty="0" smtClean="0"/>
              <a:t>eliverables (cont.)</a:t>
            </a:r>
            <a:endParaRPr lang="en-US" dirty="0"/>
          </a:p>
        </p:txBody>
      </p:sp>
    </p:spTree>
    <p:extLst>
      <p:ext uri="{BB962C8B-B14F-4D97-AF65-F5344CB8AC3E}">
        <p14:creationId xmlns:p14="http://schemas.microsoft.com/office/powerpoint/2010/main" xmlns="" val="107311606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p:cNvPicPr>
            <a:picLocks noChangeAspect="1" noChangeArrowheads="1"/>
          </p:cNvPicPr>
          <p:nvPr/>
        </p:nvPicPr>
        <p:blipFill>
          <a:blip r:embed="rId2" cstate="print"/>
          <a:srcRect/>
          <a:stretch>
            <a:fillRect/>
          </a:stretch>
        </p:blipFill>
        <p:spPr bwMode="auto">
          <a:xfrm>
            <a:off x="404812" y="1395695"/>
            <a:ext cx="8332787" cy="4704792"/>
          </a:xfrm>
          <a:prstGeom prst="rect">
            <a:avLst/>
          </a:prstGeom>
          <a:noFill/>
          <a:ln w="9525">
            <a:noFill/>
            <a:miter lim="800000"/>
            <a:headEnd/>
            <a:tailEnd/>
          </a:ln>
        </p:spPr>
      </p:pic>
      <p:cxnSp>
        <p:nvCxnSpPr>
          <p:cNvPr id="8" name="Straight Connector 7"/>
          <p:cNvCxnSpPr/>
          <p:nvPr/>
        </p:nvCxnSpPr>
        <p:spPr bwMode="auto">
          <a:xfrm flipH="1">
            <a:off x="4162425" y="4600575"/>
            <a:ext cx="2438402"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9" name="Straight Connector 8"/>
          <p:cNvCxnSpPr/>
          <p:nvPr/>
        </p:nvCxnSpPr>
        <p:spPr bwMode="auto">
          <a:xfrm flipH="1">
            <a:off x="3552825" y="3924300"/>
            <a:ext cx="30480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2" name="TextBox 11"/>
          <p:cNvSpPr txBox="1"/>
          <p:nvPr/>
        </p:nvSpPr>
        <p:spPr>
          <a:xfrm>
            <a:off x="6524625" y="3513118"/>
            <a:ext cx="2114843"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The user enters “Yes” or “No” for In Scope. If “No” is selected, user editable rows will be grayed out.</a:t>
            </a:r>
          </a:p>
        </p:txBody>
      </p:sp>
      <p:sp>
        <p:nvSpPr>
          <p:cNvPr id="15" name="TextBox 14"/>
          <p:cNvSpPr txBox="1"/>
          <p:nvPr/>
        </p:nvSpPr>
        <p:spPr>
          <a:xfrm>
            <a:off x="6524625" y="4543425"/>
            <a:ext cx="2114843"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Enter quantity</a:t>
            </a:r>
          </a:p>
        </p:txBody>
      </p:sp>
      <p:sp>
        <p:nvSpPr>
          <p:cNvPr id="17" name="TextBox 16"/>
          <p:cNvSpPr txBox="1"/>
          <p:nvPr/>
        </p:nvSpPr>
        <p:spPr>
          <a:xfrm>
            <a:off x="6524625" y="4924425"/>
            <a:ext cx="2114843"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Enter complexity</a:t>
            </a:r>
          </a:p>
        </p:txBody>
      </p:sp>
      <p:sp>
        <p:nvSpPr>
          <p:cNvPr id="20" name="TextBox 19"/>
          <p:cNvSpPr txBox="1"/>
          <p:nvPr/>
        </p:nvSpPr>
        <p:spPr>
          <a:xfrm>
            <a:off x="6951345" y="5343525"/>
            <a:ext cx="1688123"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Enter custom hours</a:t>
            </a:r>
          </a:p>
        </p:txBody>
      </p:sp>
      <p:cxnSp>
        <p:nvCxnSpPr>
          <p:cNvPr id="21" name="Straight Connector 20"/>
          <p:cNvCxnSpPr/>
          <p:nvPr/>
        </p:nvCxnSpPr>
        <p:spPr bwMode="auto">
          <a:xfrm flipH="1">
            <a:off x="6160771" y="5462975"/>
            <a:ext cx="761998" cy="13901"/>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3" name="Title 1"/>
          <p:cNvSpPr>
            <a:spLocks noGrp="1"/>
          </p:cNvSpPr>
          <p:nvPr>
            <p:ph type="title"/>
          </p:nvPr>
        </p:nvSpPr>
        <p:spPr>
          <a:xfrm>
            <a:off x="414338" y="450279"/>
            <a:ext cx="8330184" cy="333425"/>
          </a:xfrm>
        </p:spPr>
        <p:txBody>
          <a:bodyPr/>
          <a:lstStyle/>
          <a:p>
            <a:r>
              <a:rPr lang="en-US" dirty="0" smtClean="0">
                <a:solidFill>
                  <a:schemeClr val="accent1"/>
                </a:solidFill>
              </a:rPr>
              <a:t>Entering Details of </a:t>
            </a:r>
            <a:r>
              <a:rPr lang="en-US" dirty="0">
                <a:solidFill>
                  <a:schemeClr val="accent1"/>
                </a:solidFill>
              </a:rPr>
              <a:t>S</a:t>
            </a:r>
            <a:r>
              <a:rPr lang="en-US" dirty="0" smtClean="0">
                <a:solidFill>
                  <a:schemeClr val="accent1"/>
                </a:solidFill>
              </a:rPr>
              <a:t>tandard </a:t>
            </a:r>
            <a:r>
              <a:rPr lang="en-US" dirty="0">
                <a:solidFill>
                  <a:schemeClr val="accent1"/>
                </a:solidFill>
              </a:rPr>
              <a:t>D</a:t>
            </a:r>
            <a:r>
              <a:rPr lang="en-US" dirty="0" smtClean="0">
                <a:solidFill>
                  <a:schemeClr val="accent1"/>
                </a:solidFill>
              </a:rPr>
              <a:t>eliverables (cont.)</a:t>
            </a:r>
            <a:endParaRPr lang="en-US" dirty="0">
              <a:solidFill>
                <a:schemeClr val="accent1"/>
              </a:solidFill>
            </a:endParaRPr>
          </a:p>
        </p:txBody>
      </p:sp>
      <p:cxnSp>
        <p:nvCxnSpPr>
          <p:cNvPr id="23" name="Straight Connector 22"/>
          <p:cNvCxnSpPr/>
          <p:nvPr/>
        </p:nvCxnSpPr>
        <p:spPr bwMode="auto">
          <a:xfrm flipH="1">
            <a:off x="4848225" y="5095875"/>
            <a:ext cx="17526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322352310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3"/>
          <p:cNvPicPr>
            <a:picLocks noChangeAspect="1" noChangeArrowheads="1"/>
          </p:cNvPicPr>
          <p:nvPr/>
        </p:nvPicPr>
        <p:blipFill>
          <a:blip r:embed="rId2" cstate="print"/>
          <a:srcRect/>
          <a:stretch>
            <a:fillRect/>
          </a:stretch>
        </p:blipFill>
        <p:spPr bwMode="auto">
          <a:xfrm>
            <a:off x="409572" y="1232832"/>
            <a:ext cx="7913077" cy="4886325"/>
          </a:xfrm>
          <a:prstGeom prst="rect">
            <a:avLst/>
          </a:prstGeom>
          <a:noFill/>
          <a:ln>
            <a:noFill/>
          </a:ln>
        </p:spPr>
      </p:pic>
      <p:cxnSp>
        <p:nvCxnSpPr>
          <p:cNvPr id="21" name="Straight Connector 20"/>
          <p:cNvCxnSpPr/>
          <p:nvPr/>
        </p:nvCxnSpPr>
        <p:spPr bwMode="auto">
          <a:xfrm flipH="1">
            <a:off x="5476875" y="3675995"/>
            <a:ext cx="12954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5" name="TextBox 14"/>
          <p:cNvSpPr txBox="1"/>
          <p:nvPr/>
        </p:nvSpPr>
        <p:spPr>
          <a:xfrm>
            <a:off x="6438900" y="3594556"/>
            <a:ext cx="2272210"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The user enters the </a:t>
            </a:r>
          </a:p>
          <a:p>
            <a:r>
              <a:rPr lang="en-US" dirty="0"/>
              <a:t>number of additional </a:t>
            </a:r>
          </a:p>
          <a:p>
            <a:r>
              <a:rPr lang="en-US" dirty="0"/>
              <a:t>deliverables to add, then</a:t>
            </a:r>
          </a:p>
          <a:p>
            <a:r>
              <a:rPr lang="en-US" dirty="0"/>
              <a:t>selects OK</a:t>
            </a:r>
          </a:p>
        </p:txBody>
      </p:sp>
      <p:cxnSp>
        <p:nvCxnSpPr>
          <p:cNvPr id="9" name="Straight Connector 8"/>
          <p:cNvCxnSpPr/>
          <p:nvPr/>
        </p:nvCxnSpPr>
        <p:spPr bwMode="auto">
          <a:xfrm flipH="1">
            <a:off x="1209675" y="3257550"/>
            <a:ext cx="5638798"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2" name="TextBox 11"/>
          <p:cNvSpPr txBox="1"/>
          <p:nvPr/>
        </p:nvSpPr>
        <p:spPr>
          <a:xfrm>
            <a:off x="6438900" y="3038475"/>
            <a:ext cx="2272210"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selects “Add</a:t>
            </a:r>
          </a:p>
          <a:p>
            <a:r>
              <a:rPr lang="en-US" dirty="0">
                <a:cs typeface="Arial" pitchFamily="34" charset="0"/>
              </a:rPr>
              <a:t> Deliverable </a:t>
            </a:r>
            <a:r>
              <a:rPr lang="en-US" dirty="0" smtClean="0">
                <a:cs typeface="Arial" pitchFamily="34" charset="0"/>
              </a:rPr>
              <a:t>Type”</a:t>
            </a:r>
            <a:endParaRPr lang="en-US" dirty="0">
              <a:cs typeface="Arial" pitchFamily="34" charset="0"/>
            </a:endParaRPr>
          </a:p>
        </p:txBody>
      </p:sp>
      <p:sp>
        <p:nvSpPr>
          <p:cNvPr id="17" name="TextBox 16"/>
          <p:cNvSpPr txBox="1"/>
          <p:nvPr/>
        </p:nvSpPr>
        <p:spPr>
          <a:xfrm>
            <a:off x="6438900" y="2162175"/>
            <a:ext cx="227221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User selects the gray </a:t>
            </a:r>
          </a:p>
          <a:p>
            <a:r>
              <a:rPr lang="en-US" dirty="0"/>
              <a:t>row in the deliverable type</a:t>
            </a:r>
          </a:p>
          <a:p>
            <a:r>
              <a:rPr lang="en-US" dirty="0"/>
              <a:t>column</a:t>
            </a:r>
          </a:p>
        </p:txBody>
      </p:sp>
      <p:sp>
        <p:nvSpPr>
          <p:cNvPr id="10" name="Title 1"/>
          <p:cNvSpPr>
            <a:spLocks noGrp="1"/>
          </p:cNvSpPr>
          <p:nvPr>
            <p:ph type="title"/>
          </p:nvPr>
        </p:nvSpPr>
        <p:spPr>
          <a:xfrm>
            <a:off x="414338" y="450279"/>
            <a:ext cx="8330184" cy="333425"/>
          </a:xfrm>
        </p:spPr>
        <p:txBody>
          <a:bodyPr/>
          <a:lstStyle/>
          <a:p>
            <a:r>
              <a:rPr lang="en-US" dirty="0" smtClean="0"/>
              <a:t>Add User </a:t>
            </a:r>
            <a:r>
              <a:rPr lang="en-US" dirty="0"/>
              <a:t>D</a:t>
            </a:r>
            <a:r>
              <a:rPr lang="en-US" dirty="0" smtClean="0"/>
              <a:t>efined </a:t>
            </a:r>
            <a:r>
              <a:rPr lang="en-US" dirty="0"/>
              <a:t>D</a:t>
            </a:r>
            <a:r>
              <a:rPr lang="en-US" dirty="0" smtClean="0"/>
              <a:t>eliverable to a Discipline</a:t>
            </a:r>
            <a:endParaRPr lang="en-US" dirty="0"/>
          </a:p>
        </p:txBody>
      </p:sp>
    </p:spTree>
    <p:extLst>
      <p:ext uri="{BB962C8B-B14F-4D97-AF65-F5344CB8AC3E}">
        <p14:creationId xmlns:p14="http://schemas.microsoft.com/office/powerpoint/2010/main" xmlns="" val="313340629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cstate="print"/>
          <a:srcRect/>
          <a:stretch>
            <a:fillRect/>
          </a:stretch>
        </p:blipFill>
        <p:spPr bwMode="auto">
          <a:xfrm>
            <a:off x="404813" y="1400174"/>
            <a:ext cx="8367033" cy="4505325"/>
          </a:xfrm>
          <a:prstGeom prst="rect">
            <a:avLst/>
          </a:prstGeom>
          <a:noFill/>
          <a:ln w="9525">
            <a:noFill/>
            <a:miter lim="800000"/>
            <a:headEnd/>
            <a:tailEnd/>
          </a:ln>
        </p:spPr>
      </p:pic>
      <p:sp>
        <p:nvSpPr>
          <p:cNvPr id="12" name="TextBox 11"/>
          <p:cNvSpPr txBox="1"/>
          <p:nvPr/>
        </p:nvSpPr>
        <p:spPr>
          <a:xfrm>
            <a:off x="6609853" y="3179743"/>
            <a:ext cx="2119810"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“User defined type” is</a:t>
            </a:r>
          </a:p>
          <a:p>
            <a:r>
              <a:rPr lang="en-US" dirty="0">
                <a:cs typeface="Arial" pitchFamily="34" charset="0"/>
              </a:rPr>
              <a:t> editable</a:t>
            </a:r>
            <a:r>
              <a:rPr lang="en-US" dirty="0" smtClean="0">
                <a:cs typeface="Arial" pitchFamily="34" charset="0"/>
              </a:rPr>
              <a:t>. The user</a:t>
            </a:r>
            <a:endParaRPr lang="en-US" dirty="0">
              <a:cs typeface="Arial" pitchFamily="34" charset="0"/>
            </a:endParaRPr>
          </a:p>
          <a:p>
            <a:r>
              <a:rPr lang="en-US" dirty="0">
                <a:cs typeface="Arial" pitchFamily="34" charset="0"/>
              </a:rPr>
              <a:t>edits the name of the </a:t>
            </a:r>
          </a:p>
          <a:p>
            <a:r>
              <a:rPr lang="en-US" dirty="0">
                <a:cs typeface="Arial" pitchFamily="34" charset="0"/>
              </a:rPr>
              <a:t>deliverable appropriately</a:t>
            </a:r>
          </a:p>
        </p:txBody>
      </p:sp>
      <p:sp>
        <p:nvSpPr>
          <p:cNvPr id="15" name="TextBox 14"/>
          <p:cNvSpPr txBox="1"/>
          <p:nvPr/>
        </p:nvSpPr>
        <p:spPr>
          <a:xfrm>
            <a:off x="6609853" y="4272855"/>
            <a:ext cx="2119810" cy="120032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All other values, in scope,</a:t>
            </a:r>
          </a:p>
          <a:p>
            <a:r>
              <a:rPr lang="en-US" dirty="0"/>
              <a:t> quantity, complexity, user</a:t>
            </a:r>
          </a:p>
          <a:p>
            <a:r>
              <a:rPr lang="en-US" dirty="0"/>
              <a:t> defined hours and </a:t>
            </a:r>
          </a:p>
          <a:p>
            <a:r>
              <a:rPr lang="en-US" dirty="0"/>
              <a:t>remarks can be entered </a:t>
            </a:r>
          </a:p>
          <a:p>
            <a:r>
              <a:rPr lang="en-US" dirty="0"/>
              <a:t>similar to the standard </a:t>
            </a:r>
          </a:p>
          <a:p>
            <a:r>
              <a:rPr lang="en-US" dirty="0"/>
              <a:t>deliverables</a:t>
            </a:r>
          </a:p>
        </p:txBody>
      </p:sp>
      <p:sp>
        <p:nvSpPr>
          <p:cNvPr id="17" name="TextBox 16"/>
          <p:cNvSpPr txBox="1"/>
          <p:nvPr/>
        </p:nvSpPr>
        <p:spPr>
          <a:xfrm>
            <a:off x="6609853" y="2328386"/>
            <a:ext cx="211981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Deliverable with a default</a:t>
            </a:r>
          </a:p>
          <a:p>
            <a:r>
              <a:rPr lang="en-US" dirty="0">
                <a:cs typeface="Arial" pitchFamily="34" charset="0"/>
              </a:rPr>
              <a:t> name of “user defined</a:t>
            </a:r>
          </a:p>
          <a:p>
            <a:r>
              <a:rPr lang="en-US" dirty="0">
                <a:cs typeface="Arial" pitchFamily="34" charset="0"/>
              </a:rPr>
              <a:t> type” gets added</a:t>
            </a:r>
          </a:p>
        </p:txBody>
      </p:sp>
      <p:sp>
        <p:nvSpPr>
          <p:cNvPr id="3" name="Title 2"/>
          <p:cNvSpPr>
            <a:spLocks noGrp="1"/>
          </p:cNvSpPr>
          <p:nvPr>
            <p:ph type="title"/>
          </p:nvPr>
        </p:nvSpPr>
        <p:spPr>
          <a:xfrm>
            <a:off x="414338" y="450279"/>
            <a:ext cx="8330184" cy="333425"/>
          </a:xfrm>
        </p:spPr>
        <p:txBody>
          <a:bodyPr/>
          <a:lstStyle/>
          <a:p>
            <a:r>
              <a:rPr lang="en-US" dirty="0" smtClean="0">
                <a:solidFill>
                  <a:srgbClr val="002776"/>
                </a:solidFill>
              </a:rPr>
              <a:t>Entering Details of </a:t>
            </a:r>
            <a:r>
              <a:rPr lang="en-US" dirty="0">
                <a:solidFill>
                  <a:srgbClr val="002776"/>
                </a:solidFill>
              </a:rPr>
              <a:t>U</a:t>
            </a:r>
            <a:r>
              <a:rPr lang="en-US" dirty="0" smtClean="0">
                <a:solidFill>
                  <a:srgbClr val="002776"/>
                </a:solidFill>
              </a:rPr>
              <a:t>ser </a:t>
            </a:r>
            <a:r>
              <a:rPr lang="en-US" dirty="0">
                <a:solidFill>
                  <a:srgbClr val="002776"/>
                </a:solidFill>
              </a:rPr>
              <a:t>D</a:t>
            </a:r>
            <a:r>
              <a:rPr lang="en-US" dirty="0" smtClean="0">
                <a:solidFill>
                  <a:srgbClr val="002776"/>
                </a:solidFill>
              </a:rPr>
              <a:t>efined </a:t>
            </a:r>
            <a:r>
              <a:rPr lang="en-US" dirty="0">
                <a:solidFill>
                  <a:srgbClr val="002776"/>
                </a:solidFill>
              </a:rPr>
              <a:t>D</a:t>
            </a:r>
            <a:r>
              <a:rPr lang="en-US" dirty="0" smtClean="0">
                <a:solidFill>
                  <a:srgbClr val="002776"/>
                </a:solidFill>
              </a:rPr>
              <a:t>eliverables</a:t>
            </a:r>
            <a:endParaRPr lang="en-US" dirty="0">
              <a:solidFill>
                <a:srgbClr val="002776"/>
              </a:solidFill>
            </a:endParaRPr>
          </a:p>
        </p:txBody>
      </p:sp>
    </p:spTree>
    <p:extLst>
      <p:ext uri="{BB962C8B-B14F-4D97-AF65-F5344CB8AC3E}">
        <p14:creationId xmlns:p14="http://schemas.microsoft.com/office/powerpoint/2010/main" xmlns="" val="26822285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404813" y="3495675"/>
            <a:ext cx="7215187" cy="2792458"/>
          </a:xfrm>
          <a:prstGeom prst="rect">
            <a:avLst/>
          </a:prstGeom>
          <a:noFill/>
          <a:ln w="9525">
            <a:noFill/>
            <a:miter lim="800000"/>
            <a:headEnd/>
            <a:tailEnd/>
          </a:ln>
        </p:spPr>
      </p:pic>
      <p:cxnSp>
        <p:nvCxnSpPr>
          <p:cNvPr id="5" name="Straight Connector 4"/>
          <p:cNvCxnSpPr>
            <a:stCxn id="9" idx="1"/>
          </p:cNvCxnSpPr>
          <p:nvPr/>
        </p:nvCxnSpPr>
        <p:spPr bwMode="auto">
          <a:xfrm flipH="1">
            <a:off x="3505200" y="5326798"/>
            <a:ext cx="3571875" cy="193416"/>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6" name="Straight Connector 5"/>
          <p:cNvCxnSpPr>
            <a:stCxn id="13" idx="1"/>
          </p:cNvCxnSpPr>
          <p:nvPr/>
        </p:nvCxnSpPr>
        <p:spPr bwMode="auto">
          <a:xfrm flipH="1">
            <a:off x="2993147" y="4480322"/>
            <a:ext cx="4083928" cy="701278"/>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7" name="Straight Connector 6"/>
          <p:cNvCxnSpPr>
            <a:stCxn id="10" idx="1"/>
          </p:cNvCxnSpPr>
          <p:nvPr/>
        </p:nvCxnSpPr>
        <p:spPr bwMode="auto">
          <a:xfrm flipH="1">
            <a:off x="4124325" y="5631418"/>
            <a:ext cx="2952750" cy="193417"/>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9" name="TextBox 8"/>
          <p:cNvSpPr txBox="1"/>
          <p:nvPr/>
        </p:nvSpPr>
        <p:spPr>
          <a:xfrm>
            <a:off x="7077075" y="5188298"/>
            <a:ext cx="1650999"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10" name="TextBox 9"/>
          <p:cNvSpPr txBox="1"/>
          <p:nvPr/>
        </p:nvSpPr>
        <p:spPr>
          <a:xfrm>
            <a:off x="7077075" y="5492918"/>
            <a:ext cx="1650999"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Enter complexity</a:t>
            </a:r>
          </a:p>
        </p:txBody>
      </p:sp>
      <p:sp>
        <p:nvSpPr>
          <p:cNvPr id="11" name="TextBox 10"/>
          <p:cNvSpPr txBox="1"/>
          <p:nvPr/>
        </p:nvSpPr>
        <p:spPr>
          <a:xfrm>
            <a:off x="7077075" y="5811187"/>
            <a:ext cx="1650999"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hours</a:t>
            </a:r>
          </a:p>
        </p:txBody>
      </p:sp>
      <p:cxnSp>
        <p:nvCxnSpPr>
          <p:cNvPr id="12" name="Straight Connector 11"/>
          <p:cNvCxnSpPr>
            <a:stCxn id="11" idx="1"/>
          </p:cNvCxnSpPr>
          <p:nvPr/>
        </p:nvCxnSpPr>
        <p:spPr bwMode="auto">
          <a:xfrm flipH="1">
            <a:off x="6569075" y="5949687"/>
            <a:ext cx="508000" cy="208865"/>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4" name="Content Placeholder 3"/>
          <p:cNvSpPr>
            <a:spLocks noGrp="1"/>
          </p:cNvSpPr>
          <p:nvPr>
            <p:ph sz="quarter" idx="12"/>
          </p:nvPr>
        </p:nvSpPr>
        <p:spPr>
          <a:xfrm>
            <a:off x="411479" y="1399032"/>
            <a:ext cx="8330184" cy="2144268"/>
          </a:xfrm>
        </p:spPr>
        <p:txBody>
          <a:bodyPr/>
          <a:lstStyle/>
          <a:p>
            <a:r>
              <a:rPr lang="en-US" sz="1550" dirty="0" smtClean="0"/>
              <a:t> Initiate includes the tasks for establishing the project’s charter, defining the project’s scope and business requirements, and planning the project’s “Initiate and Plan” phase. While Plan includes planning the project’s overall approach, resources, tools, budget, controls, and schedule to direct and support effective and efficient project execution, it includes adjusting and refining plans and procedures as the project progresses and evolves.</a:t>
            </a:r>
          </a:p>
          <a:p>
            <a:pPr>
              <a:spcBef>
                <a:spcPts val="1200"/>
              </a:spcBef>
            </a:pPr>
            <a:r>
              <a:rPr lang="en-US" sz="1550" dirty="0" smtClean="0"/>
              <a:t>Please see the “Entering Details for Standard Deliverables” (slide# 27-29) for information on how to complete the effort associated with this tab.</a:t>
            </a:r>
            <a:endParaRPr lang="en-US" sz="1550" dirty="0"/>
          </a:p>
        </p:txBody>
      </p:sp>
      <p:sp>
        <p:nvSpPr>
          <p:cNvPr id="3" name="Title 2"/>
          <p:cNvSpPr>
            <a:spLocks noGrp="1"/>
          </p:cNvSpPr>
          <p:nvPr>
            <p:ph type="title"/>
          </p:nvPr>
        </p:nvSpPr>
        <p:spPr>
          <a:xfrm>
            <a:off x="414338" y="450279"/>
            <a:ext cx="8330184" cy="333425"/>
          </a:xfrm>
        </p:spPr>
        <p:txBody>
          <a:bodyPr/>
          <a:lstStyle/>
          <a:p>
            <a:r>
              <a:rPr lang="en-US" dirty="0" smtClean="0"/>
              <a:t>Initiate and Plan</a:t>
            </a:r>
            <a:endParaRPr lang="en-US" dirty="0"/>
          </a:p>
        </p:txBody>
      </p:sp>
      <p:sp>
        <p:nvSpPr>
          <p:cNvPr id="13" name="TextBox 12"/>
          <p:cNvSpPr txBox="1"/>
          <p:nvPr/>
        </p:nvSpPr>
        <p:spPr>
          <a:xfrm>
            <a:off x="7077075" y="3787824"/>
            <a:ext cx="1650999" cy="138499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r>
              <a:rPr lang="en-US" dirty="0" smtClean="0">
                <a:cs typeface="Arial" pitchFamily="34" charset="0"/>
              </a:rPr>
              <a:t>or </a:t>
            </a:r>
            <a:r>
              <a:rPr lang="en-US" dirty="0">
                <a:cs typeface="Arial" pitchFamily="34" charset="0"/>
              </a:rPr>
              <a:t>“No” </a:t>
            </a:r>
            <a:r>
              <a:rPr lang="en-US" dirty="0" smtClean="0">
                <a:cs typeface="Arial" pitchFamily="34" charset="0"/>
              </a:rPr>
              <a:t>under In Scope column. If </a:t>
            </a:r>
            <a:r>
              <a:rPr lang="en-US" dirty="0">
                <a:cs typeface="Arial" pitchFamily="34" charset="0"/>
              </a:rPr>
              <a:t>“No” </a:t>
            </a:r>
            <a:r>
              <a:rPr lang="en-US" dirty="0" smtClean="0">
                <a:cs typeface="Arial" pitchFamily="34" charset="0"/>
              </a:rPr>
              <a:t>is </a:t>
            </a:r>
            <a:r>
              <a:rPr lang="en-US" dirty="0">
                <a:cs typeface="Arial" pitchFamily="34" charset="0"/>
              </a:rPr>
              <a:t>selected </a:t>
            </a:r>
            <a:r>
              <a:rPr lang="en-US" dirty="0" smtClean="0">
                <a:cs typeface="Arial" pitchFamily="34" charset="0"/>
              </a:rPr>
              <a:t>,user </a:t>
            </a:r>
            <a:r>
              <a:rPr lang="en-US" dirty="0">
                <a:cs typeface="Arial" pitchFamily="34" charset="0"/>
              </a:rPr>
              <a:t>editable </a:t>
            </a:r>
            <a:r>
              <a:rPr lang="en-US" dirty="0" smtClean="0">
                <a:cs typeface="Arial" pitchFamily="34" charset="0"/>
              </a:rPr>
              <a:t>rows </a:t>
            </a:r>
            <a:r>
              <a:rPr lang="en-US" dirty="0">
                <a:cs typeface="Arial" pitchFamily="34" charset="0"/>
              </a:rPr>
              <a:t>will be grayed out.</a:t>
            </a:r>
          </a:p>
        </p:txBody>
      </p:sp>
    </p:spTree>
    <p:extLst>
      <p:ext uri="{BB962C8B-B14F-4D97-AF65-F5344CB8AC3E}">
        <p14:creationId xmlns:p14="http://schemas.microsoft.com/office/powerpoint/2010/main" xmlns="" val="248293214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p:cNvGrpSpPr/>
          <p:nvPr/>
        </p:nvGrpSpPr>
        <p:grpSpPr>
          <a:xfrm>
            <a:off x="404814" y="3056564"/>
            <a:ext cx="8332786" cy="3475434"/>
            <a:chOff x="404814" y="2827377"/>
            <a:chExt cx="8332786" cy="3475434"/>
          </a:xfrm>
        </p:grpSpPr>
        <p:pic>
          <p:nvPicPr>
            <p:cNvPr id="2" name="Picture 2"/>
            <p:cNvPicPr>
              <a:picLocks noChangeAspect="1" noChangeArrowheads="1"/>
            </p:cNvPicPr>
            <p:nvPr/>
          </p:nvPicPr>
          <p:blipFill>
            <a:blip r:embed="rId3" cstate="print"/>
            <a:srcRect/>
            <a:stretch>
              <a:fillRect/>
            </a:stretch>
          </p:blipFill>
          <p:spPr bwMode="auto">
            <a:xfrm>
              <a:off x="404814" y="2827377"/>
              <a:ext cx="7723186" cy="3475434"/>
            </a:xfrm>
            <a:prstGeom prst="rect">
              <a:avLst/>
            </a:prstGeom>
            <a:noFill/>
            <a:ln w="9525">
              <a:noFill/>
              <a:miter lim="800000"/>
              <a:headEnd/>
              <a:tailEnd/>
            </a:ln>
          </p:spPr>
        </p:pic>
        <p:cxnSp>
          <p:nvCxnSpPr>
            <p:cNvPr id="23" name="Straight Connector 22"/>
            <p:cNvCxnSpPr/>
            <p:nvPr/>
          </p:nvCxnSpPr>
          <p:spPr bwMode="auto">
            <a:xfrm flipH="1">
              <a:off x="3518990" y="5102246"/>
              <a:ext cx="32766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4" name="Straight Connector 23"/>
            <p:cNvCxnSpPr/>
            <p:nvPr/>
          </p:nvCxnSpPr>
          <p:spPr bwMode="auto">
            <a:xfrm flipH="1">
              <a:off x="4457700" y="5794406"/>
              <a:ext cx="2352974" cy="0"/>
            </a:xfrm>
            <a:prstGeom prst="line">
              <a:avLst/>
            </a:prstGeom>
            <a:solidFill>
              <a:schemeClr val="accent1"/>
            </a:solidFill>
            <a:ln w="28575" cap="flat" cmpd="sng" algn="ctr">
              <a:solidFill>
                <a:srgbClr val="002776"/>
              </a:solidFill>
              <a:prstDash val="solid"/>
              <a:round/>
              <a:headEnd type="none" w="med" len="med"/>
              <a:tailEnd type="arrow" w="med" len="med"/>
            </a:ln>
            <a:effectLst/>
          </p:spPr>
        </p:cxnSp>
        <p:cxnSp>
          <p:nvCxnSpPr>
            <p:cNvPr id="25" name="Straight Connector 24"/>
            <p:cNvCxnSpPr/>
            <p:nvPr/>
          </p:nvCxnSpPr>
          <p:spPr bwMode="auto">
            <a:xfrm flipH="1">
              <a:off x="6000750" y="6071975"/>
              <a:ext cx="79484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6" name="Straight Connector 25"/>
            <p:cNvCxnSpPr/>
            <p:nvPr/>
          </p:nvCxnSpPr>
          <p:spPr bwMode="auto">
            <a:xfrm flipH="1">
              <a:off x="3905250" y="5395911"/>
              <a:ext cx="2905424"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8" name="TextBox 7"/>
            <p:cNvSpPr txBox="1"/>
            <p:nvPr/>
          </p:nvSpPr>
          <p:spPr>
            <a:xfrm>
              <a:off x="6661530" y="4181066"/>
              <a:ext cx="2076070" cy="1040736"/>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r>
                <a:rPr lang="en-US" dirty="0" smtClean="0">
                  <a:cs typeface="Arial" pitchFamily="34" charset="0"/>
                </a:rPr>
                <a:t>is </a:t>
              </a:r>
              <a:r>
                <a:rPr lang="en-US" dirty="0">
                  <a:cs typeface="Arial" pitchFamily="34" charset="0"/>
                </a:rPr>
                <a:t>selected </a:t>
              </a:r>
              <a:r>
                <a:rPr lang="en-US" dirty="0" smtClean="0">
                  <a:cs typeface="Arial" pitchFamily="34" charset="0"/>
                </a:rPr>
                <a:t>,user </a:t>
              </a:r>
              <a:r>
                <a:rPr lang="en-US" dirty="0">
                  <a:cs typeface="Arial" pitchFamily="34" charset="0"/>
                </a:rPr>
                <a:t>editable </a:t>
              </a:r>
              <a:r>
                <a:rPr lang="en-US" dirty="0" smtClean="0">
                  <a:cs typeface="Arial" pitchFamily="34" charset="0"/>
                </a:rPr>
                <a:t>rows </a:t>
              </a:r>
              <a:r>
                <a:rPr lang="en-US" dirty="0">
                  <a:cs typeface="Arial" pitchFamily="34" charset="0"/>
                </a:rPr>
                <a:t>will be </a:t>
              </a:r>
              <a:r>
                <a:rPr lang="en-US" dirty="0" smtClean="0">
                  <a:cs typeface="Arial" pitchFamily="34" charset="0"/>
                </a:rPr>
                <a:t/>
              </a:r>
              <a:br>
                <a:rPr lang="en-US" dirty="0" smtClean="0">
                  <a:cs typeface="Arial" pitchFamily="34" charset="0"/>
                </a:rPr>
              </a:br>
              <a:r>
                <a:rPr lang="en-US" dirty="0" smtClean="0">
                  <a:cs typeface="Arial" pitchFamily="34" charset="0"/>
                </a:rPr>
                <a:t>grayed out.</a:t>
              </a:r>
              <a:endParaRPr lang="en-US" dirty="0">
                <a:cs typeface="Arial" pitchFamily="34" charset="0"/>
              </a:endParaRPr>
            </a:p>
          </p:txBody>
        </p:sp>
        <p:sp>
          <p:nvSpPr>
            <p:cNvPr id="9" name="TextBox 8"/>
            <p:cNvSpPr txBox="1"/>
            <p:nvPr/>
          </p:nvSpPr>
          <p:spPr>
            <a:xfrm>
              <a:off x="6661529" y="5270944"/>
              <a:ext cx="2076069" cy="28383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10" name="TextBox 9"/>
            <p:cNvSpPr txBox="1"/>
            <p:nvPr/>
          </p:nvSpPr>
          <p:spPr>
            <a:xfrm>
              <a:off x="6661529" y="5622158"/>
              <a:ext cx="2076069" cy="28383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complexity</a:t>
              </a:r>
              <a:endParaRPr lang="en-US" dirty="0">
                <a:cs typeface="Arial" pitchFamily="34" charset="0"/>
              </a:endParaRPr>
            </a:p>
          </p:txBody>
        </p:sp>
        <p:sp>
          <p:nvSpPr>
            <p:cNvPr id="11" name="TextBox 10"/>
            <p:cNvSpPr txBox="1"/>
            <p:nvPr/>
          </p:nvSpPr>
          <p:spPr>
            <a:xfrm>
              <a:off x="6661529" y="5973373"/>
              <a:ext cx="2076069" cy="28383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Hours</a:t>
              </a:r>
            </a:p>
          </p:txBody>
        </p:sp>
      </p:grpSp>
      <p:sp>
        <p:nvSpPr>
          <p:cNvPr id="5" name="Content Placeholder 4"/>
          <p:cNvSpPr>
            <a:spLocks noGrp="1"/>
          </p:cNvSpPr>
          <p:nvPr>
            <p:ph sz="quarter" idx="12"/>
          </p:nvPr>
        </p:nvSpPr>
        <p:spPr>
          <a:xfrm>
            <a:off x="411479" y="1399031"/>
            <a:ext cx="8330184" cy="1569799"/>
          </a:xfrm>
        </p:spPr>
        <p:txBody>
          <a:bodyPr/>
          <a:lstStyle/>
          <a:p>
            <a:r>
              <a:rPr lang="en-US" sz="1600" dirty="0" smtClean="0"/>
              <a:t>The Manage phase begins at project inception and runs in parallel with all other project phases through project closure. </a:t>
            </a:r>
          </a:p>
          <a:p>
            <a:pPr lvl="1"/>
            <a:r>
              <a:rPr lang="en-US" sz="1600" dirty="0" smtClean="0"/>
              <a:t>Please see the “Entering Details for Standard Deliverables” (slide# 27-29) for information on how to complete the effort associated with this tab.</a:t>
            </a:r>
          </a:p>
          <a:p>
            <a:pPr lvl="1"/>
            <a:r>
              <a:rPr lang="en-US" sz="1600" dirty="0" smtClean="0"/>
              <a:t>The Fixed </a:t>
            </a:r>
            <a:r>
              <a:rPr lang="en-US" sz="1600" dirty="0"/>
              <a:t>R</a:t>
            </a:r>
            <a:r>
              <a:rPr lang="en-US" sz="1600" dirty="0" smtClean="0"/>
              <a:t>esources tab also addresses the Project </a:t>
            </a:r>
            <a:r>
              <a:rPr lang="en-US" sz="1600" dirty="0"/>
              <a:t>m</a:t>
            </a:r>
            <a:r>
              <a:rPr lang="en-US" sz="1600" dirty="0" smtClean="0"/>
              <a:t>anager role associated with this tab.</a:t>
            </a:r>
            <a:endParaRPr lang="en-US" sz="1600" dirty="0"/>
          </a:p>
        </p:txBody>
      </p:sp>
      <p:sp>
        <p:nvSpPr>
          <p:cNvPr id="4" name="Title 3"/>
          <p:cNvSpPr>
            <a:spLocks noGrp="1"/>
          </p:cNvSpPr>
          <p:nvPr>
            <p:ph type="title"/>
          </p:nvPr>
        </p:nvSpPr>
        <p:spPr/>
        <p:txBody>
          <a:bodyPr/>
          <a:lstStyle/>
          <a:p>
            <a:r>
              <a:rPr lang="en-US" dirty="0" smtClean="0"/>
              <a:t>Manage </a:t>
            </a:r>
            <a:endParaRPr lang="en-US" dirty="0"/>
          </a:p>
        </p:txBody>
      </p:sp>
    </p:spTree>
    <p:extLst>
      <p:ext uri="{BB962C8B-B14F-4D97-AF65-F5344CB8AC3E}">
        <p14:creationId xmlns:p14="http://schemas.microsoft.com/office/powerpoint/2010/main" xmlns="" val="13974769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404813" y="2388631"/>
            <a:ext cx="8015287" cy="3871791"/>
          </a:xfrm>
          <a:prstGeom prst="rect">
            <a:avLst/>
          </a:prstGeom>
          <a:noFill/>
          <a:ln>
            <a:noFill/>
          </a:ln>
        </p:spPr>
      </p:pic>
      <p:sp>
        <p:nvSpPr>
          <p:cNvPr id="2049" name="Content Placeholder 2048"/>
          <p:cNvSpPr>
            <a:spLocks noGrp="1"/>
          </p:cNvSpPr>
          <p:nvPr>
            <p:ph sz="quarter" idx="12"/>
          </p:nvPr>
        </p:nvSpPr>
        <p:spPr>
          <a:xfrm>
            <a:off x="411479" y="1399032"/>
            <a:ext cx="8330184" cy="821654"/>
          </a:xfrm>
        </p:spPr>
        <p:txBody>
          <a:bodyPr/>
          <a:lstStyle/>
          <a:p>
            <a:r>
              <a:rPr lang="en-US" sz="1600" dirty="0" smtClean="0"/>
              <a:t>The Define phase describes the requirements gathering and project planning processes.</a:t>
            </a:r>
          </a:p>
          <a:p>
            <a:pPr lvl="1"/>
            <a:r>
              <a:rPr lang="en-US" sz="1600" dirty="0" smtClean="0"/>
              <a:t>Please see the “Entering Details for Standard Deliverables” </a:t>
            </a:r>
            <a:r>
              <a:rPr lang="en-US" sz="1600" dirty="0"/>
              <a:t>(slide# 27-29) for </a:t>
            </a:r>
            <a:r>
              <a:rPr lang="en-US" sz="1600" dirty="0" smtClean="0"/>
              <a:t>information on how to complete the effort associated with this tab.</a:t>
            </a:r>
            <a:endParaRPr lang="en-US" sz="1600" dirty="0"/>
          </a:p>
        </p:txBody>
      </p:sp>
      <p:sp>
        <p:nvSpPr>
          <p:cNvPr id="4" name="Title 3"/>
          <p:cNvSpPr>
            <a:spLocks noGrp="1"/>
          </p:cNvSpPr>
          <p:nvPr>
            <p:ph type="title"/>
          </p:nvPr>
        </p:nvSpPr>
        <p:spPr/>
        <p:txBody>
          <a:bodyPr/>
          <a:lstStyle/>
          <a:p>
            <a:r>
              <a:rPr lang="en-US" dirty="0" smtClean="0"/>
              <a:t>Define</a:t>
            </a:r>
            <a:endParaRPr lang="en-US" dirty="0"/>
          </a:p>
        </p:txBody>
      </p:sp>
      <p:cxnSp>
        <p:nvCxnSpPr>
          <p:cNvPr id="24" name="Straight Connector 23"/>
          <p:cNvCxnSpPr/>
          <p:nvPr/>
        </p:nvCxnSpPr>
        <p:spPr bwMode="auto">
          <a:xfrm flipH="1">
            <a:off x="3371850" y="4909212"/>
            <a:ext cx="3093540" cy="20571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5" name="Straight Connector 24"/>
          <p:cNvCxnSpPr/>
          <p:nvPr/>
        </p:nvCxnSpPr>
        <p:spPr bwMode="auto">
          <a:xfrm flipH="1">
            <a:off x="4769338" y="5763296"/>
            <a:ext cx="1711136" cy="60467"/>
          </a:xfrm>
          <a:prstGeom prst="line">
            <a:avLst/>
          </a:prstGeom>
          <a:solidFill>
            <a:schemeClr val="accent1"/>
          </a:solidFill>
          <a:ln w="28575" cap="flat" cmpd="sng" algn="ctr">
            <a:solidFill>
              <a:srgbClr val="002776"/>
            </a:solidFill>
            <a:prstDash val="solid"/>
            <a:round/>
            <a:headEnd type="none" w="med" len="med"/>
            <a:tailEnd type="arrow" w="med" len="med"/>
          </a:ln>
          <a:effectLst/>
        </p:spPr>
      </p:cxnSp>
      <p:sp>
        <p:nvSpPr>
          <p:cNvPr id="26" name="TextBox 25"/>
          <p:cNvSpPr txBox="1"/>
          <p:nvPr/>
        </p:nvSpPr>
        <p:spPr>
          <a:xfrm>
            <a:off x="6465390" y="4202755"/>
            <a:ext cx="2272210"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r>
              <a:rPr lang="en-US" dirty="0" smtClean="0">
                <a:cs typeface="Arial" pitchFamily="34" charset="0"/>
              </a:rPr>
              <a:t>is selected, </a:t>
            </a:r>
            <a:r>
              <a:rPr lang="en-US" dirty="0">
                <a:cs typeface="Arial" pitchFamily="34" charset="0"/>
              </a:rPr>
              <a:t>user editable </a:t>
            </a:r>
            <a:r>
              <a:rPr lang="en-US" dirty="0" smtClean="0">
                <a:cs typeface="Arial" pitchFamily="34" charset="0"/>
              </a:rPr>
              <a:t>rows </a:t>
            </a:r>
            <a:r>
              <a:rPr lang="en-US" dirty="0">
                <a:cs typeface="Arial" pitchFamily="34" charset="0"/>
              </a:rPr>
              <a:t>will </a:t>
            </a:r>
            <a:r>
              <a:rPr lang="en-US" dirty="0" smtClean="0">
                <a:cs typeface="Arial" pitchFamily="34" charset="0"/>
              </a:rPr>
              <a:t>be </a:t>
            </a:r>
            <a:br>
              <a:rPr lang="en-US" dirty="0" smtClean="0">
                <a:cs typeface="Arial" pitchFamily="34" charset="0"/>
              </a:rPr>
            </a:br>
            <a:r>
              <a:rPr lang="en-US" dirty="0" smtClean="0">
                <a:cs typeface="Arial" pitchFamily="34" charset="0"/>
              </a:rPr>
              <a:t>grayed </a:t>
            </a:r>
            <a:r>
              <a:rPr lang="en-US" dirty="0">
                <a:cs typeface="Arial" pitchFamily="34" charset="0"/>
              </a:rPr>
              <a:t>out.</a:t>
            </a:r>
          </a:p>
        </p:txBody>
      </p:sp>
      <p:sp>
        <p:nvSpPr>
          <p:cNvPr id="27" name="TextBox 26"/>
          <p:cNvSpPr txBox="1"/>
          <p:nvPr/>
        </p:nvSpPr>
        <p:spPr>
          <a:xfrm>
            <a:off x="6465390" y="5292633"/>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28" name="TextBox 27"/>
          <p:cNvSpPr txBox="1"/>
          <p:nvPr/>
        </p:nvSpPr>
        <p:spPr>
          <a:xfrm>
            <a:off x="6465390" y="5643847"/>
            <a:ext cx="2272210" cy="276999"/>
          </a:xfrm>
          <a:prstGeom prst="rect">
            <a:avLst/>
          </a:prstGeom>
          <a:solidFill>
            <a:schemeClr val="accent3"/>
          </a:solidFill>
          <a:ln w="28575">
            <a:no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complexity</a:t>
            </a:r>
            <a:endParaRPr lang="en-US" dirty="0">
              <a:cs typeface="Arial" pitchFamily="34" charset="0"/>
            </a:endParaRPr>
          </a:p>
        </p:txBody>
      </p:sp>
      <p:sp>
        <p:nvSpPr>
          <p:cNvPr id="29" name="TextBox 28"/>
          <p:cNvSpPr txBox="1"/>
          <p:nvPr/>
        </p:nvSpPr>
        <p:spPr>
          <a:xfrm>
            <a:off x="6465390" y="5995062"/>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Hours</a:t>
            </a:r>
          </a:p>
        </p:txBody>
      </p:sp>
      <p:cxnSp>
        <p:nvCxnSpPr>
          <p:cNvPr id="30" name="Straight Connector 29"/>
          <p:cNvCxnSpPr/>
          <p:nvPr/>
        </p:nvCxnSpPr>
        <p:spPr bwMode="auto">
          <a:xfrm flipH="1">
            <a:off x="6153150" y="6150234"/>
            <a:ext cx="31224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31" name="Straight Connector 30"/>
          <p:cNvCxnSpPr/>
          <p:nvPr/>
        </p:nvCxnSpPr>
        <p:spPr bwMode="auto">
          <a:xfrm flipH="1">
            <a:off x="4042074" y="5402905"/>
            <a:ext cx="2438400" cy="147677"/>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143836638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a:stretch>
            <a:fillRect/>
          </a:stretch>
        </p:blipFill>
        <p:spPr bwMode="auto">
          <a:xfrm>
            <a:off x="404813" y="2517775"/>
            <a:ext cx="7773987" cy="3752959"/>
          </a:xfrm>
          <a:prstGeom prst="rect">
            <a:avLst/>
          </a:prstGeom>
          <a:noFill/>
          <a:ln w="9525">
            <a:noFill/>
            <a:miter lim="800000"/>
            <a:headEnd/>
            <a:tailEnd/>
          </a:ln>
        </p:spPr>
      </p:pic>
      <p:cxnSp>
        <p:nvCxnSpPr>
          <p:cNvPr id="24" name="Straight Connector 23"/>
          <p:cNvCxnSpPr/>
          <p:nvPr/>
        </p:nvCxnSpPr>
        <p:spPr bwMode="auto">
          <a:xfrm flipH="1">
            <a:off x="3133898" y="4792205"/>
            <a:ext cx="3914106"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5" name="Straight Connector 24"/>
          <p:cNvCxnSpPr/>
          <p:nvPr/>
        </p:nvCxnSpPr>
        <p:spPr bwMode="auto">
          <a:xfrm flipH="1">
            <a:off x="4410075" y="5770984"/>
            <a:ext cx="2653012"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6" name="TextBox 25"/>
          <p:cNvSpPr txBox="1"/>
          <p:nvPr/>
        </p:nvSpPr>
        <p:spPr>
          <a:xfrm>
            <a:off x="6451103" y="4191393"/>
            <a:ext cx="2272210"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r>
              <a:rPr lang="en-US" dirty="0" smtClean="0">
                <a:cs typeface="Arial" pitchFamily="34" charset="0"/>
              </a:rPr>
              <a:t>is </a:t>
            </a:r>
            <a:r>
              <a:rPr lang="en-US" dirty="0">
                <a:cs typeface="Arial" pitchFamily="34" charset="0"/>
              </a:rPr>
              <a:t>selected user editable </a:t>
            </a:r>
            <a:r>
              <a:rPr lang="en-US" dirty="0" smtClean="0">
                <a:cs typeface="Arial" pitchFamily="34" charset="0"/>
              </a:rPr>
              <a:t>rows </a:t>
            </a:r>
            <a:r>
              <a:rPr lang="en-US" dirty="0">
                <a:cs typeface="Arial" pitchFamily="34" charset="0"/>
              </a:rPr>
              <a:t>will be </a:t>
            </a:r>
            <a:r>
              <a:rPr lang="en-US" dirty="0" smtClean="0">
                <a:cs typeface="Arial" pitchFamily="34" charset="0"/>
              </a:rPr>
              <a:t/>
            </a:r>
            <a:br>
              <a:rPr lang="en-US" dirty="0" smtClean="0">
                <a:cs typeface="Arial" pitchFamily="34" charset="0"/>
              </a:rPr>
            </a:br>
            <a:r>
              <a:rPr lang="en-US" dirty="0" smtClean="0">
                <a:cs typeface="Arial" pitchFamily="34" charset="0"/>
              </a:rPr>
              <a:t>grayed out</a:t>
            </a:r>
            <a:endParaRPr lang="en-US" dirty="0">
              <a:cs typeface="Arial" pitchFamily="34" charset="0"/>
            </a:endParaRPr>
          </a:p>
        </p:txBody>
      </p:sp>
      <p:cxnSp>
        <p:nvCxnSpPr>
          <p:cNvPr id="31" name="Straight Connector 30"/>
          <p:cNvCxnSpPr/>
          <p:nvPr/>
        </p:nvCxnSpPr>
        <p:spPr bwMode="auto">
          <a:xfrm flipH="1">
            <a:off x="3757353" y="5435532"/>
            <a:ext cx="3305735"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7" name="TextBox 26"/>
          <p:cNvSpPr txBox="1"/>
          <p:nvPr/>
        </p:nvSpPr>
        <p:spPr>
          <a:xfrm>
            <a:off x="6451103" y="5281271"/>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28" name="TextBox 27"/>
          <p:cNvSpPr txBox="1"/>
          <p:nvPr/>
        </p:nvSpPr>
        <p:spPr>
          <a:xfrm>
            <a:off x="6451103" y="5632485"/>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complexity</a:t>
            </a:r>
            <a:endParaRPr lang="en-US" dirty="0">
              <a:cs typeface="Arial" pitchFamily="34" charset="0"/>
            </a:endParaRPr>
          </a:p>
        </p:txBody>
      </p:sp>
      <p:sp>
        <p:nvSpPr>
          <p:cNvPr id="29" name="TextBox 28"/>
          <p:cNvSpPr txBox="1"/>
          <p:nvPr/>
        </p:nvSpPr>
        <p:spPr>
          <a:xfrm>
            <a:off x="6451103" y="5983700"/>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a:t>
            </a:r>
            <a:r>
              <a:rPr lang="en-US" dirty="0" smtClean="0">
                <a:cs typeface="Arial" pitchFamily="34" charset="0"/>
              </a:rPr>
              <a:t>ours</a:t>
            </a:r>
            <a:endParaRPr lang="en-US" dirty="0">
              <a:cs typeface="Arial" pitchFamily="34" charset="0"/>
            </a:endParaRPr>
          </a:p>
        </p:txBody>
      </p:sp>
      <p:cxnSp>
        <p:nvCxnSpPr>
          <p:cNvPr id="30" name="Straight Connector 29"/>
          <p:cNvCxnSpPr/>
          <p:nvPr/>
        </p:nvCxnSpPr>
        <p:spPr bwMode="auto">
          <a:xfrm flipH="1">
            <a:off x="5736581" y="6022443"/>
            <a:ext cx="714522"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3" name="Content Placeholder 2"/>
          <p:cNvSpPr>
            <a:spLocks noGrp="1"/>
          </p:cNvSpPr>
          <p:nvPr>
            <p:ph sz="quarter" idx="12"/>
          </p:nvPr>
        </p:nvSpPr>
        <p:spPr>
          <a:xfrm>
            <a:off x="411479" y="1399032"/>
            <a:ext cx="8330184" cy="1242568"/>
          </a:xfrm>
        </p:spPr>
        <p:txBody>
          <a:bodyPr/>
          <a:lstStyle/>
          <a:p>
            <a:r>
              <a:rPr lang="en-US" sz="1550" dirty="0" smtClean="0"/>
              <a:t>The Design phase describes the “high level” and detailed design processes. The high-level </a:t>
            </a:r>
            <a:r>
              <a:rPr lang="en-US" sz="1550" dirty="0"/>
              <a:t>d</a:t>
            </a:r>
            <a:r>
              <a:rPr lang="en-US" sz="1550" dirty="0" smtClean="0"/>
              <a:t>esign document provides a conceptual view of the application, while the detailed </a:t>
            </a:r>
            <a:r>
              <a:rPr lang="en-US" sz="1550" dirty="0"/>
              <a:t>d</a:t>
            </a:r>
            <a:r>
              <a:rPr lang="en-US" sz="1550" dirty="0" smtClean="0"/>
              <a:t>esign </a:t>
            </a:r>
            <a:r>
              <a:rPr lang="en-US" sz="1550" dirty="0"/>
              <a:t>d</a:t>
            </a:r>
            <a:r>
              <a:rPr lang="en-US" sz="1550" dirty="0" smtClean="0"/>
              <a:t>ocument serves as the blueprint for development.</a:t>
            </a:r>
          </a:p>
          <a:p>
            <a:pPr lvl="1"/>
            <a:r>
              <a:rPr lang="en-US" sz="1550" dirty="0" smtClean="0"/>
              <a:t>The effort calculation for this tab is identical with the previous tabs.</a:t>
            </a:r>
            <a:endParaRPr lang="en-US" sz="1550" dirty="0"/>
          </a:p>
        </p:txBody>
      </p:sp>
      <p:sp>
        <p:nvSpPr>
          <p:cNvPr id="2" name="Title 1"/>
          <p:cNvSpPr>
            <a:spLocks noGrp="1"/>
          </p:cNvSpPr>
          <p:nvPr>
            <p:ph type="title"/>
          </p:nvPr>
        </p:nvSpPr>
        <p:spPr/>
        <p:txBody>
          <a:bodyPr/>
          <a:lstStyle/>
          <a:p>
            <a:r>
              <a:rPr lang="en-US" dirty="0" smtClean="0"/>
              <a:t>Design</a:t>
            </a:r>
            <a:endParaRPr lang="en-US" dirty="0"/>
          </a:p>
        </p:txBody>
      </p:sp>
    </p:spTree>
    <p:extLst>
      <p:ext uri="{BB962C8B-B14F-4D97-AF65-F5344CB8AC3E}">
        <p14:creationId xmlns:p14="http://schemas.microsoft.com/office/powerpoint/2010/main" xmlns="" val="408963810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r>
              <a:rPr lang="en-US" sz="1600" dirty="0" smtClean="0"/>
              <a:t>The Develop tab is based on four distinct tables:</a:t>
            </a:r>
          </a:p>
          <a:p>
            <a:pPr lvl="1"/>
            <a:r>
              <a:rPr lang="en-US" sz="1600" dirty="0" smtClean="0"/>
              <a:t>The deliverable table, which contains the standard deliverables. </a:t>
            </a:r>
            <a:br>
              <a:rPr lang="en-US" sz="1600" dirty="0" smtClean="0"/>
            </a:br>
            <a:r>
              <a:rPr lang="en-US" sz="1600" dirty="0" smtClean="0"/>
              <a:t>The user has to complete the standard deliverables details, </a:t>
            </a:r>
            <a:br>
              <a:rPr lang="en-US" sz="1600" dirty="0" smtClean="0"/>
            </a:br>
            <a:r>
              <a:rPr lang="en-US" sz="1600" dirty="0" smtClean="0"/>
              <a:t>which include the following:</a:t>
            </a:r>
          </a:p>
          <a:p>
            <a:pPr lvl="2"/>
            <a:r>
              <a:rPr lang="en-US" sz="1600" dirty="0" smtClean="0"/>
              <a:t>Mark the “In Scope” column to either “Yes” or “No” as determined by the planned deliverables for the project.</a:t>
            </a:r>
          </a:p>
          <a:p>
            <a:pPr lvl="2"/>
            <a:r>
              <a:rPr lang="en-US" sz="1600" dirty="0" smtClean="0"/>
              <a:t>Enter the quantity information, which is equal to the number of deliverables planned per phase.</a:t>
            </a:r>
          </a:p>
          <a:p>
            <a:pPr lvl="2"/>
            <a:r>
              <a:rPr lang="en-US" sz="1600" dirty="0" smtClean="0"/>
              <a:t>Assign Complexity to each of the deliverables. </a:t>
            </a:r>
          </a:p>
          <a:p>
            <a:pPr lvl="2"/>
            <a:r>
              <a:rPr lang="en-US" sz="1600" dirty="0" smtClean="0"/>
              <a:t>The user can also add additional deliverables that are not listed in the tabs by selecting the “Add Deliverable” option.</a:t>
            </a:r>
          </a:p>
          <a:p>
            <a:pPr lvl="1"/>
            <a:r>
              <a:rPr lang="en-US" sz="1600" dirty="0" smtClean="0"/>
              <a:t>The three remaining tables contain technology specific (Java, .NET, and Mainframe) objects/components.</a:t>
            </a:r>
          </a:p>
        </p:txBody>
      </p:sp>
      <p:sp>
        <p:nvSpPr>
          <p:cNvPr id="2" name="Title 1"/>
          <p:cNvSpPr>
            <a:spLocks noGrp="1"/>
          </p:cNvSpPr>
          <p:nvPr>
            <p:ph type="title"/>
          </p:nvPr>
        </p:nvSpPr>
        <p:spPr/>
        <p:txBody>
          <a:bodyPr/>
          <a:lstStyle/>
          <a:p>
            <a:r>
              <a:rPr lang="en-US" dirty="0" smtClean="0"/>
              <a:t>Develop</a:t>
            </a:r>
            <a:endParaRPr lang="en-US" dirty="0"/>
          </a:p>
        </p:txBody>
      </p:sp>
    </p:spTree>
    <p:extLst>
      <p:ext uri="{BB962C8B-B14F-4D97-AF65-F5344CB8AC3E}">
        <p14:creationId xmlns:p14="http://schemas.microsoft.com/office/powerpoint/2010/main" xmlns="" val="343887834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p:txBody>
          <a:bodyPr/>
          <a:lstStyle/>
          <a:p>
            <a:pPr lvl="1"/>
            <a:r>
              <a:rPr lang="en-US" sz="1600" dirty="0" smtClean="0"/>
              <a:t>Java, .NET, and Mainframe tables:</a:t>
            </a:r>
          </a:p>
          <a:p>
            <a:pPr lvl="2"/>
            <a:r>
              <a:rPr lang="en-US" sz="1600" dirty="0" smtClean="0"/>
              <a:t>In these tables, the user is provided with the objects “End Products” associated with the technology.</a:t>
            </a:r>
          </a:p>
          <a:p>
            <a:pPr lvl="2"/>
            <a:r>
              <a:rPr lang="en-US" sz="1600" dirty="0" smtClean="0"/>
              <a:t>Similar to the standard estimate table, the user will select whether an end product is in scope or not and input the quantity of each.</a:t>
            </a:r>
          </a:p>
          <a:p>
            <a:pPr lvl="3"/>
            <a:r>
              <a:rPr lang="en-US" sz="1600" dirty="0" smtClean="0"/>
              <a:t>The user can also add additional deliverables that are not listed in the tabs by selecting the “Add Deliverable” option.</a:t>
            </a:r>
          </a:p>
          <a:p>
            <a:pPr lvl="2"/>
            <a:r>
              <a:rPr lang="en-US" sz="1600" dirty="0" smtClean="0"/>
              <a:t>Metrics for deliverable </a:t>
            </a:r>
            <a:r>
              <a:rPr lang="en-US" sz="1600" dirty="0"/>
              <a:t>t</a:t>
            </a:r>
            <a:r>
              <a:rPr lang="en-US" sz="1600" dirty="0" smtClean="0"/>
              <a:t>ypes and products will automatically populate when the user enters all required information (if available).</a:t>
            </a:r>
          </a:p>
          <a:p>
            <a:pPr lvl="2"/>
            <a:r>
              <a:rPr lang="en-US" sz="1600" dirty="0" smtClean="0"/>
              <a:t>The user can also input custom hours for design, develop, and unit Test respectively in the “User-Defined” columns.</a:t>
            </a:r>
          </a:p>
          <a:p>
            <a:pPr lvl="2"/>
            <a:r>
              <a:rPr lang="en-US" sz="1600" dirty="0" smtClean="0"/>
              <a:t>Each table has an individual subtotal row. </a:t>
            </a:r>
          </a:p>
          <a:p>
            <a:pPr lvl="3"/>
            <a:r>
              <a:rPr lang="en-US" sz="1600" dirty="0" smtClean="0"/>
              <a:t>These subtotal rows are factored into the grand total</a:t>
            </a:r>
          </a:p>
          <a:p>
            <a:pPr lvl="3"/>
            <a:r>
              <a:rPr lang="en-US" sz="1600" dirty="0" smtClean="0"/>
              <a:t>When calculating the Grand Total, hours entered in the “User-Defined </a:t>
            </a:r>
            <a:r>
              <a:rPr lang="en-US" sz="1600" dirty="0"/>
              <a:t>H</a:t>
            </a:r>
            <a:r>
              <a:rPr lang="en-US" sz="1600" dirty="0" smtClean="0"/>
              <a:t>ours” column take precedence over the default hours populated by the tool.</a:t>
            </a:r>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Develop (cont.)</a:t>
            </a:r>
            <a:endParaRPr lang="en-US" dirty="0">
              <a:solidFill>
                <a:schemeClr val="accent1"/>
              </a:solidFill>
            </a:endParaRPr>
          </a:p>
        </p:txBody>
      </p:sp>
    </p:spTree>
    <p:extLst>
      <p:ext uri="{BB962C8B-B14F-4D97-AF65-F5344CB8AC3E}">
        <p14:creationId xmlns:p14="http://schemas.microsoft.com/office/powerpoint/2010/main" xmlns="" val="67585307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2" cstate="print"/>
          <a:srcRect/>
          <a:stretch>
            <a:fillRect/>
          </a:stretch>
        </p:blipFill>
        <p:spPr bwMode="auto">
          <a:xfrm>
            <a:off x="404813" y="1400175"/>
            <a:ext cx="8332787" cy="4384524"/>
          </a:xfrm>
          <a:prstGeom prst="rect">
            <a:avLst/>
          </a:prstGeom>
          <a:noFill/>
          <a:ln w="9525">
            <a:noFill/>
            <a:miter lim="800000"/>
            <a:headEnd/>
            <a:tailEnd/>
          </a:ln>
        </p:spPr>
      </p:pic>
      <p:sp>
        <p:nvSpPr>
          <p:cNvPr id="26" name="Title 25"/>
          <p:cNvSpPr>
            <a:spLocks noGrp="1"/>
          </p:cNvSpPr>
          <p:nvPr>
            <p:ph type="title"/>
          </p:nvPr>
        </p:nvSpPr>
        <p:spPr>
          <a:xfrm>
            <a:off x="414338" y="450279"/>
            <a:ext cx="8330184" cy="333425"/>
          </a:xfrm>
        </p:spPr>
        <p:txBody>
          <a:bodyPr/>
          <a:lstStyle/>
          <a:p>
            <a:r>
              <a:rPr lang="en-US" dirty="0" smtClean="0"/>
              <a:t>Entering Details of </a:t>
            </a:r>
            <a:r>
              <a:rPr lang="en-US" dirty="0"/>
              <a:t>D</a:t>
            </a:r>
            <a:r>
              <a:rPr lang="en-US" dirty="0" smtClean="0"/>
              <a:t>evelop</a:t>
            </a:r>
            <a:endParaRPr lang="en-US" dirty="0"/>
          </a:p>
        </p:txBody>
      </p:sp>
      <p:cxnSp>
        <p:nvCxnSpPr>
          <p:cNvPr id="16" name="Straight Connector 15"/>
          <p:cNvCxnSpPr/>
          <p:nvPr/>
        </p:nvCxnSpPr>
        <p:spPr bwMode="auto">
          <a:xfrm flipH="1">
            <a:off x="3518990" y="4123113"/>
            <a:ext cx="3276600" cy="610508"/>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8" name="TextBox 17"/>
          <p:cNvSpPr txBox="1"/>
          <p:nvPr/>
        </p:nvSpPr>
        <p:spPr>
          <a:xfrm>
            <a:off x="6465390" y="3694093"/>
            <a:ext cx="2272210"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r>
              <a:rPr lang="en-US" dirty="0" smtClean="0">
                <a:cs typeface="Arial" pitchFamily="34" charset="0"/>
              </a:rPr>
              <a:t>is </a:t>
            </a:r>
            <a:r>
              <a:rPr lang="en-US" dirty="0">
                <a:cs typeface="Arial" pitchFamily="34" charset="0"/>
              </a:rPr>
              <a:t>selected user editable </a:t>
            </a:r>
            <a:r>
              <a:rPr lang="en-US" dirty="0" smtClean="0">
                <a:cs typeface="Arial" pitchFamily="34" charset="0"/>
              </a:rPr>
              <a:t>rows </a:t>
            </a:r>
            <a:r>
              <a:rPr lang="en-US" dirty="0">
                <a:cs typeface="Arial" pitchFamily="34" charset="0"/>
              </a:rPr>
              <a:t>will be </a:t>
            </a:r>
            <a:r>
              <a:rPr lang="en-US" dirty="0" smtClean="0">
                <a:cs typeface="Arial" pitchFamily="34" charset="0"/>
              </a:rPr>
              <a:t/>
            </a:r>
            <a:br>
              <a:rPr lang="en-US" dirty="0" smtClean="0">
                <a:cs typeface="Arial" pitchFamily="34" charset="0"/>
              </a:rPr>
            </a:br>
            <a:r>
              <a:rPr lang="en-US" dirty="0" smtClean="0">
                <a:cs typeface="Arial" pitchFamily="34" charset="0"/>
              </a:rPr>
              <a:t>grayed </a:t>
            </a:r>
            <a:r>
              <a:rPr lang="en-US" dirty="0">
                <a:cs typeface="Arial" pitchFamily="34" charset="0"/>
              </a:rPr>
              <a:t>out.</a:t>
            </a:r>
          </a:p>
        </p:txBody>
      </p:sp>
      <p:cxnSp>
        <p:nvCxnSpPr>
          <p:cNvPr id="15" name="Straight Connector 14"/>
          <p:cNvCxnSpPr/>
          <p:nvPr/>
        </p:nvCxnSpPr>
        <p:spPr bwMode="auto">
          <a:xfrm flipH="1">
            <a:off x="4297680" y="4922514"/>
            <a:ext cx="249791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19" name="Straight Connector 18"/>
          <p:cNvCxnSpPr/>
          <p:nvPr/>
        </p:nvCxnSpPr>
        <p:spPr bwMode="auto">
          <a:xfrm flipH="1">
            <a:off x="4995949" y="5270262"/>
            <a:ext cx="1799641"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5" name="Straight Connector 24"/>
          <p:cNvCxnSpPr/>
          <p:nvPr/>
        </p:nvCxnSpPr>
        <p:spPr bwMode="auto">
          <a:xfrm flipH="1">
            <a:off x="5895769" y="5638800"/>
            <a:ext cx="899822"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0" name="TextBox 19"/>
          <p:cNvSpPr txBox="1"/>
          <p:nvPr/>
        </p:nvSpPr>
        <p:spPr>
          <a:xfrm>
            <a:off x="6465390" y="4783971"/>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q</a:t>
            </a:r>
            <a:r>
              <a:rPr lang="en-US" dirty="0" smtClean="0">
                <a:cs typeface="Arial" pitchFamily="34" charset="0"/>
              </a:rPr>
              <a:t>uantity</a:t>
            </a:r>
            <a:endParaRPr lang="en-US" dirty="0">
              <a:cs typeface="Arial" pitchFamily="34" charset="0"/>
            </a:endParaRPr>
          </a:p>
        </p:txBody>
      </p:sp>
      <p:sp>
        <p:nvSpPr>
          <p:cNvPr id="21" name="TextBox 20"/>
          <p:cNvSpPr txBox="1"/>
          <p:nvPr/>
        </p:nvSpPr>
        <p:spPr>
          <a:xfrm>
            <a:off x="6465390" y="5135185"/>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complexity</a:t>
            </a:r>
            <a:endParaRPr lang="en-US" dirty="0">
              <a:cs typeface="Arial" pitchFamily="34" charset="0"/>
            </a:endParaRPr>
          </a:p>
        </p:txBody>
      </p:sp>
      <p:sp>
        <p:nvSpPr>
          <p:cNvPr id="22" name="TextBox 21"/>
          <p:cNvSpPr txBox="1"/>
          <p:nvPr/>
        </p:nvSpPr>
        <p:spPr>
          <a:xfrm>
            <a:off x="6465390" y="5486400"/>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Hours</a:t>
            </a:r>
          </a:p>
        </p:txBody>
      </p:sp>
    </p:spTree>
    <p:extLst>
      <p:ext uri="{BB962C8B-B14F-4D97-AF65-F5344CB8AC3E}">
        <p14:creationId xmlns:p14="http://schemas.microsoft.com/office/powerpoint/2010/main" xmlns="" val="61006176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2" cstate="print"/>
          <a:srcRect/>
          <a:stretch>
            <a:fillRect/>
          </a:stretch>
        </p:blipFill>
        <p:spPr bwMode="auto">
          <a:xfrm>
            <a:off x="404813" y="2264864"/>
            <a:ext cx="8332787" cy="3248374"/>
          </a:xfrm>
          <a:prstGeom prst="rect">
            <a:avLst/>
          </a:prstGeom>
          <a:noFill/>
          <a:ln w="9525">
            <a:noFill/>
            <a:miter lim="800000"/>
            <a:headEnd/>
            <a:tailEnd/>
          </a:ln>
        </p:spPr>
      </p:pic>
      <p:sp>
        <p:nvSpPr>
          <p:cNvPr id="4" name="Content Placeholder 3"/>
          <p:cNvSpPr>
            <a:spLocks noGrp="1"/>
          </p:cNvSpPr>
          <p:nvPr>
            <p:ph sz="quarter" idx="12"/>
          </p:nvPr>
        </p:nvSpPr>
        <p:spPr>
          <a:xfrm>
            <a:off x="411479" y="1399032"/>
            <a:ext cx="8330184" cy="810769"/>
          </a:xfrm>
        </p:spPr>
        <p:txBody>
          <a:bodyPr/>
          <a:lstStyle/>
          <a:p>
            <a:r>
              <a:rPr lang="en-US" sz="1600" dirty="0" smtClean="0"/>
              <a:t>In the Java, .NET, and Mainframe estimation tables, the user is provided with a list of “End Products” for each technology (Java, .NET, and Mainframe).</a:t>
            </a:r>
            <a:endParaRPr lang="en-US" sz="1600" dirty="0"/>
          </a:p>
        </p:txBody>
      </p:sp>
      <p:sp>
        <p:nvSpPr>
          <p:cNvPr id="3" name="Title 2"/>
          <p:cNvSpPr>
            <a:spLocks noGrp="1"/>
          </p:cNvSpPr>
          <p:nvPr>
            <p:ph type="title"/>
          </p:nvPr>
        </p:nvSpPr>
        <p:spPr>
          <a:xfrm>
            <a:off x="414338" y="450279"/>
            <a:ext cx="8330184" cy="333425"/>
          </a:xfrm>
        </p:spPr>
        <p:txBody>
          <a:bodyPr/>
          <a:lstStyle/>
          <a:p>
            <a:r>
              <a:rPr lang="en-US" dirty="0" smtClean="0"/>
              <a:t>Entering Details of </a:t>
            </a:r>
            <a:r>
              <a:rPr lang="en-US" dirty="0"/>
              <a:t>D</a:t>
            </a:r>
            <a:r>
              <a:rPr lang="en-US" dirty="0" smtClean="0"/>
              <a:t>evelop (cont.)</a:t>
            </a:r>
            <a:endParaRPr lang="en-US" dirty="0"/>
          </a:p>
        </p:txBody>
      </p:sp>
      <p:sp>
        <p:nvSpPr>
          <p:cNvPr id="22" name="TextBox 21"/>
          <p:cNvSpPr txBox="1"/>
          <p:nvPr/>
        </p:nvSpPr>
        <p:spPr>
          <a:xfrm>
            <a:off x="6262190" y="4013441"/>
            <a:ext cx="227221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Metric quantity for a given</a:t>
            </a:r>
          </a:p>
          <a:p>
            <a:r>
              <a:rPr lang="en-US" dirty="0" smtClean="0">
                <a:cs typeface="Arial" pitchFamily="34" charset="0"/>
              </a:rPr>
              <a:t>complexity </a:t>
            </a:r>
            <a:r>
              <a:rPr lang="en-US" dirty="0">
                <a:cs typeface="Arial" pitchFamily="34" charset="0"/>
              </a:rPr>
              <a:t>is </a:t>
            </a:r>
            <a:r>
              <a:rPr lang="en-US" dirty="0" smtClean="0">
                <a:cs typeface="Arial" pitchFamily="34" charset="0"/>
              </a:rPr>
              <a:t>inputted by </a:t>
            </a:r>
            <a:r>
              <a:rPr lang="en-US" dirty="0">
                <a:cs typeface="Arial" pitchFamily="34" charset="0"/>
              </a:rPr>
              <a:t>the </a:t>
            </a:r>
            <a:r>
              <a:rPr lang="en-US" dirty="0" smtClean="0">
                <a:cs typeface="Arial" pitchFamily="34" charset="0"/>
              </a:rPr>
              <a:t>user</a:t>
            </a:r>
            <a:endParaRPr lang="en-US" dirty="0">
              <a:cs typeface="Arial" pitchFamily="34" charset="0"/>
            </a:endParaRPr>
          </a:p>
        </p:txBody>
      </p:sp>
      <p:sp>
        <p:nvSpPr>
          <p:cNvPr id="23" name="TextBox 22"/>
          <p:cNvSpPr txBox="1"/>
          <p:nvPr/>
        </p:nvSpPr>
        <p:spPr>
          <a:xfrm>
            <a:off x="6248400" y="3071336"/>
            <a:ext cx="227221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a:t>
            </a:r>
            <a:r>
              <a:rPr lang="en-US" dirty="0" smtClean="0">
                <a:cs typeface="Arial" pitchFamily="34" charset="0"/>
              </a:rPr>
              <a:t>whether </a:t>
            </a:r>
            <a:r>
              <a:rPr lang="en-US" dirty="0">
                <a:cs typeface="Arial" pitchFamily="34" charset="0"/>
              </a:rPr>
              <a:t>an end product is in </a:t>
            </a:r>
            <a:r>
              <a:rPr lang="en-US" dirty="0" smtClean="0">
                <a:cs typeface="Arial" pitchFamily="34" charset="0"/>
              </a:rPr>
              <a:t>scope </a:t>
            </a:r>
            <a:r>
              <a:rPr lang="en-US" dirty="0">
                <a:cs typeface="Arial" pitchFamily="34" charset="0"/>
              </a:rPr>
              <a:t>for a particular </a:t>
            </a:r>
            <a:r>
              <a:rPr lang="en-US" dirty="0" smtClean="0">
                <a:cs typeface="Arial" pitchFamily="34" charset="0"/>
              </a:rPr>
              <a:t>complexity</a:t>
            </a:r>
            <a:endParaRPr lang="en-US" dirty="0">
              <a:cs typeface="Arial" pitchFamily="34" charset="0"/>
            </a:endParaRPr>
          </a:p>
        </p:txBody>
      </p:sp>
      <p:cxnSp>
        <p:nvCxnSpPr>
          <p:cNvPr id="24" name="Straight Connector 23"/>
          <p:cNvCxnSpPr/>
          <p:nvPr/>
        </p:nvCxnSpPr>
        <p:spPr bwMode="auto">
          <a:xfrm flipH="1">
            <a:off x="2514600" y="3505200"/>
            <a:ext cx="37338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5" name="Straight Connector 24"/>
          <p:cNvCxnSpPr/>
          <p:nvPr/>
        </p:nvCxnSpPr>
        <p:spPr bwMode="auto">
          <a:xfrm flipH="1">
            <a:off x="2895600" y="4218705"/>
            <a:ext cx="33528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15194058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404813" y="1383549"/>
            <a:ext cx="8332787" cy="3421814"/>
          </a:xfrm>
          <a:prstGeom prst="rect">
            <a:avLst/>
          </a:prstGeom>
          <a:noFill/>
          <a:ln w="9525">
            <a:noFill/>
            <a:miter lim="800000"/>
            <a:headEnd/>
            <a:tailEnd/>
          </a:ln>
        </p:spPr>
      </p:pic>
      <p:cxnSp>
        <p:nvCxnSpPr>
          <p:cNvPr id="9" name="Straight Connector 8"/>
          <p:cNvCxnSpPr/>
          <p:nvPr/>
        </p:nvCxnSpPr>
        <p:spPr bwMode="auto">
          <a:xfrm flipH="1">
            <a:off x="5818909" y="3225309"/>
            <a:ext cx="777239"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8" name="TextBox 7"/>
          <p:cNvSpPr txBox="1"/>
          <p:nvPr/>
        </p:nvSpPr>
        <p:spPr>
          <a:xfrm>
            <a:off x="6443748" y="2996709"/>
            <a:ext cx="2272210"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smtClean="0">
                <a:cs typeface="Arial" pitchFamily="34" charset="0"/>
              </a:rPr>
              <a:t>User-defined </a:t>
            </a:r>
            <a:r>
              <a:rPr lang="en-US" dirty="0">
                <a:cs typeface="Arial" pitchFamily="34" charset="0"/>
              </a:rPr>
              <a:t>hours are split</a:t>
            </a:r>
          </a:p>
          <a:p>
            <a:r>
              <a:rPr lang="en-US" dirty="0">
                <a:cs typeface="Arial" pitchFamily="34" charset="0"/>
              </a:rPr>
              <a:t> into </a:t>
            </a:r>
            <a:r>
              <a:rPr lang="en-US" dirty="0" smtClean="0">
                <a:cs typeface="Arial" pitchFamily="34" charset="0"/>
              </a:rPr>
              <a:t>design</a:t>
            </a:r>
            <a:r>
              <a:rPr lang="en-US" dirty="0">
                <a:cs typeface="Arial" pitchFamily="34" charset="0"/>
              </a:rPr>
              <a:t>, d</a:t>
            </a:r>
            <a:r>
              <a:rPr lang="en-US" dirty="0" smtClean="0">
                <a:cs typeface="Arial" pitchFamily="34" charset="0"/>
              </a:rPr>
              <a:t>evelopment,</a:t>
            </a:r>
            <a:endParaRPr lang="en-US" dirty="0">
              <a:cs typeface="Arial" pitchFamily="34" charset="0"/>
            </a:endParaRPr>
          </a:p>
          <a:p>
            <a:r>
              <a:rPr lang="en-US" dirty="0">
                <a:cs typeface="Arial" pitchFamily="34" charset="0"/>
              </a:rPr>
              <a:t> and </a:t>
            </a:r>
            <a:r>
              <a:rPr lang="en-US" dirty="0" smtClean="0">
                <a:cs typeface="Arial" pitchFamily="34" charset="0"/>
              </a:rPr>
              <a:t>unit </a:t>
            </a:r>
            <a:r>
              <a:rPr lang="en-US" dirty="0">
                <a:cs typeface="Arial" pitchFamily="34" charset="0"/>
              </a:rPr>
              <a:t>Test for each end</a:t>
            </a:r>
          </a:p>
          <a:p>
            <a:r>
              <a:rPr lang="en-US" dirty="0">
                <a:cs typeface="Arial" pitchFamily="34" charset="0"/>
              </a:rPr>
              <a:t> product and associated </a:t>
            </a:r>
          </a:p>
          <a:p>
            <a:r>
              <a:rPr lang="en-US" dirty="0">
                <a:cs typeface="Arial" pitchFamily="34" charset="0"/>
              </a:rPr>
              <a:t>c</a:t>
            </a:r>
            <a:r>
              <a:rPr lang="en-US" dirty="0" smtClean="0">
                <a:cs typeface="Arial" pitchFamily="34" charset="0"/>
              </a:rPr>
              <a:t>omplexity.</a:t>
            </a:r>
            <a:endParaRPr lang="en-US" dirty="0">
              <a:cs typeface="Arial" pitchFamily="34" charset="0"/>
            </a:endParaRPr>
          </a:p>
        </p:txBody>
      </p:sp>
      <p:sp>
        <p:nvSpPr>
          <p:cNvPr id="10" name="TextBox 9"/>
          <p:cNvSpPr txBox="1"/>
          <p:nvPr/>
        </p:nvSpPr>
        <p:spPr>
          <a:xfrm>
            <a:off x="6443748" y="2180682"/>
            <a:ext cx="227221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Standard </a:t>
            </a:r>
            <a:r>
              <a:rPr lang="en-US" dirty="0" smtClean="0">
                <a:cs typeface="Arial" pitchFamily="34" charset="0"/>
              </a:rPr>
              <a:t>hours </a:t>
            </a:r>
            <a:r>
              <a:rPr lang="en-US" dirty="0">
                <a:cs typeface="Arial" pitchFamily="34" charset="0"/>
              </a:rPr>
              <a:t>are listed </a:t>
            </a:r>
          </a:p>
          <a:p>
            <a:r>
              <a:rPr lang="en-US" dirty="0">
                <a:cs typeface="Arial" pitchFamily="34" charset="0"/>
              </a:rPr>
              <a:t>into </a:t>
            </a:r>
            <a:r>
              <a:rPr lang="en-US" dirty="0" smtClean="0">
                <a:cs typeface="Arial" pitchFamily="34" charset="0"/>
              </a:rPr>
              <a:t>design</a:t>
            </a:r>
            <a:r>
              <a:rPr lang="en-US" dirty="0">
                <a:cs typeface="Arial" pitchFamily="34" charset="0"/>
              </a:rPr>
              <a:t>, d</a:t>
            </a:r>
            <a:r>
              <a:rPr lang="en-US" dirty="0" smtClean="0">
                <a:cs typeface="Arial" pitchFamily="34" charset="0"/>
              </a:rPr>
              <a:t>evelopment,</a:t>
            </a:r>
            <a:endParaRPr lang="en-US" dirty="0">
              <a:cs typeface="Arial" pitchFamily="34" charset="0"/>
            </a:endParaRPr>
          </a:p>
          <a:p>
            <a:r>
              <a:rPr lang="en-US" dirty="0">
                <a:cs typeface="Arial" pitchFamily="34" charset="0"/>
              </a:rPr>
              <a:t> and </a:t>
            </a:r>
            <a:r>
              <a:rPr lang="en-US" dirty="0" smtClean="0">
                <a:cs typeface="Arial" pitchFamily="34" charset="0"/>
              </a:rPr>
              <a:t>unit </a:t>
            </a:r>
            <a:r>
              <a:rPr lang="en-US" dirty="0">
                <a:cs typeface="Arial" pitchFamily="34" charset="0"/>
              </a:rPr>
              <a:t>t</a:t>
            </a:r>
            <a:r>
              <a:rPr lang="en-US" dirty="0" smtClean="0">
                <a:cs typeface="Arial" pitchFamily="34" charset="0"/>
              </a:rPr>
              <a:t>est.</a:t>
            </a:r>
            <a:endParaRPr lang="en-US" dirty="0">
              <a:cs typeface="Arial" pitchFamily="34" charset="0"/>
            </a:endParaRPr>
          </a:p>
        </p:txBody>
      </p:sp>
      <p:cxnSp>
        <p:nvCxnSpPr>
          <p:cNvPr id="11" name="Straight Connector 10"/>
          <p:cNvCxnSpPr/>
          <p:nvPr/>
        </p:nvCxnSpPr>
        <p:spPr bwMode="auto">
          <a:xfrm flipH="1">
            <a:off x="5376948" y="2409282"/>
            <a:ext cx="106680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3" name="Title 2"/>
          <p:cNvSpPr>
            <a:spLocks noGrp="1"/>
          </p:cNvSpPr>
          <p:nvPr>
            <p:ph type="title"/>
          </p:nvPr>
        </p:nvSpPr>
        <p:spPr>
          <a:xfrm>
            <a:off x="414338" y="450279"/>
            <a:ext cx="8330184" cy="333425"/>
          </a:xfrm>
        </p:spPr>
        <p:txBody>
          <a:bodyPr/>
          <a:lstStyle/>
          <a:p>
            <a:r>
              <a:rPr lang="en-US" dirty="0" smtClean="0"/>
              <a:t>Entering Details of </a:t>
            </a:r>
            <a:r>
              <a:rPr lang="en-US" dirty="0"/>
              <a:t>D</a:t>
            </a:r>
            <a:r>
              <a:rPr lang="en-US" dirty="0" smtClean="0"/>
              <a:t>evelop (cont.)</a:t>
            </a:r>
            <a:endParaRPr lang="en-US" dirty="0"/>
          </a:p>
        </p:txBody>
      </p:sp>
    </p:spTree>
    <p:extLst>
      <p:ext uri="{BB962C8B-B14F-4D97-AF65-F5344CB8AC3E}">
        <p14:creationId xmlns:p14="http://schemas.microsoft.com/office/powerpoint/2010/main" xmlns="" val="265836551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5"/>
          <p:cNvPicPr>
            <a:picLocks noChangeAspect="1" noChangeArrowheads="1"/>
          </p:cNvPicPr>
          <p:nvPr/>
        </p:nvPicPr>
        <p:blipFill>
          <a:blip r:embed="rId3" cstate="print"/>
          <a:srcRect/>
          <a:stretch>
            <a:fillRect/>
          </a:stretch>
        </p:blipFill>
        <p:spPr bwMode="auto">
          <a:xfrm>
            <a:off x="404813" y="3435804"/>
            <a:ext cx="8328506" cy="2037780"/>
          </a:xfrm>
          <a:prstGeom prst="rect">
            <a:avLst/>
          </a:prstGeom>
          <a:noFill/>
          <a:ln w="9525">
            <a:noFill/>
            <a:miter lim="800000"/>
            <a:headEnd/>
            <a:tailEnd/>
          </a:ln>
        </p:spPr>
      </p:pic>
      <p:sp>
        <p:nvSpPr>
          <p:cNvPr id="4" name="Content Placeholder 3"/>
          <p:cNvSpPr>
            <a:spLocks noGrp="1"/>
          </p:cNvSpPr>
          <p:nvPr>
            <p:ph sz="quarter" idx="12"/>
          </p:nvPr>
        </p:nvSpPr>
        <p:spPr>
          <a:xfrm>
            <a:off x="411479" y="1399032"/>
            <a:ext cx="8330184" cy="1617300"/>
          </a:xfrm>
        </p:spPr>
        <p:txBody>
          <a:bodyPr/>
          <a:lstStyle/>
          <a:p>
            <a:pPr lvl="1"/>
            <a:r>
              <a:rPr lang="en-US" sz="1600" dirty="0"/>
              <a:t>The “subtotal” row is calculated based on the information from the correlating table(s).</a:t>
            </a:r>
          </a:p>
          <a:p>
            <a:pPr lvl="1"/>
            <a:r>
              <a:rPr lang="en-US" sz="1600" dirty="0"/>
              <a:t>The “risk/contingency” row displays 10%, but can be edited by the user, allowing for varying calculations depending on project circumstances.</a:t>
            </a:r>
          </a:p>
          <a:p>
            <a:pPr lvl="1"/>
            <a:r>
              <a:rPr lang="en-US" sz="1600" dirty="0"/>
              <a:t>The “grand total” row combines the subtotal information along with the percentage of user-entered risk/contingency.</a:t>
            </a:r>
          </a:p>
          <a:p>
            <a:pPr lvl="1"/>
            <a:endParaRPr lang="en-US" sz="1600" dirty="0"/>
          </a:p>
        </p:txBody>
      </p:sp>
      <p:sp>
        <p:nvSpPr>
          <p:cNvPr id="3" name="Title 2"/>
          <p:cNvSpPr>
            <a:spLocks noGrp="1"/>
          </p:cNvSpPr>
          <p:nvPr>
            <p:ph type="title"/>
          </p:nvPr>
        </p:nvSpPr>
        <p:spPr>
          <a:xfrm>
            <a:off x="414338" y="450279"/>
            <a:ext cx="8330184" cy="666849"/>
          </a:xfrm>
        </p:spPr>
        <p:txBody>
          <a:bodyPr/>
          <a:lstStyle/>
          <a:p>
            <a:r>
              <a:rPr lang="en-US" dirty="0" smtClean="0"/>
              <a:t>Entering Details of </a:t>
            </a:r>
            <a:r>
              <a:rPr lang="en-US" dirty="0"/>
              <a:t>D</a:t>
            </a:r>
            <a:r>
              <a:rPr lang="en-US" dirty="0" smtClean="0"/>
              <a:t>evelop (cont.)</a:t>
            </a:r>
            <a:br>
              <a:rPr lang="en-US" dirty="0" smtClean="0"/>
            </a:br>
            <a:endParaRPr lang="en-US" dirty="0"/>
          </a:p>
        </p:txBody>
      </p:sp>
    </p:spTree>
    <p:extLst>
      <p:ext uri="{BB962C8B-B14F-4D97-AF65-F5344CB8AC3E}">
        <p14:creationId xmlns:p14="http://schemas.microsoft.com/office/powerpoint/2010/main" xmlns="" val="292469660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2"/>
          </p:nvPr>
        </p:nvSpPr>
        <p:spPr/>
        <p:txBody>
          <a:bodyPr/>
          <a:lstStyle/>
          <a:p>
            <a:pPr marL="1587" lvl="1" indent="0">
              <a:buNone/>
            </a:pPr>
            <a:r>
              <a:rPr lang="en-US" sz="1600" dirty="0"/>
              <a:t>The Testing tab includes system and integration testing, performance testing, regression testing, user acceptance testing, production environment testing, disaster recovery, and security testing.</a:t>
            </a:r>
          </a:p>
          <a:p>
            <a:pPr lvl="1"/>
            <a:r>
              <a:rPr lang="en-US" sz="1600" dirty="0"/>
              <a:t>The user can select any testing type to include in the estimate effort by selecting In Scope = Yes.</a:t>
            </a:r>
          </a:p>
          <a:p>
            <a:pPr lvl="1"/>
            <a:r>
              <a:rPr lang="en-US" sz="1600" dirty="0"/>
              <a:t>If a specific type of testing is not in scope (In Scope = No), the testing effort will not be included in the estimate effort.</a:t>
            </a:r>
          </a:p>
          <a:p>
            <a:pPr lvl="1"/>
            <a:r>
              <a:rPr lang="en-US" sz="1600" dirty="0"/>
              <a:t>The user can select multiple iterations for each test type, up to 10 iterations.</a:t>
            </a:r>
          </a:p>
          <a:p>
            <a:pPr lvl="1"/>
            <a:r>
              <a:rPr lang="en-US" sz="1600" dirty="0" smtClean="0"/>
              <a:t>The user can select any deliverable to be included in each testing type.</a:t>
            </a:r>
          </a:p>
          <a:p>
            <a:pPr lvl="2"/>
            <a:r>
              <a:rPr lang="en-US" sz="1600" dirty="0" smtClean="0"/>
              <a:t>Deliverables to be included in the testing effort should have the value of </a:t>
            </a:r>
            <a:br>
              <a:rPr lang="en-US" sz="1600" dirty="0" smtClean="0"/>
            </a:br>
            <a:r>
              <a:rPr lang="en-US" sz="1600" dirty="0" smtClean="0"/>
              <a:t>“In Scope = Yes”.</a:t>
            </a:r>
          </a:p>
          <a:p>
            <a:pPr lvl="2"/>
            <a:r>
              <a:rPr lang="en-US" sz="1600" dirty="0" smtClean="0"/>
              <a:t>User should input the quantity, complexity and hours for each deliverable to be included in the testing effort.</a:t>
            </a:r>
          </a:p>
          <a:p>
            <a:pPr lvl="1"/>
            <a:r>
              <a:rPr lang="en-US" sz="1600" dirty="0" smtClean="0"/>
              <a:t>The tool has a default contingency percentage of 10%. </a:t>
            </a:r>
            <a:r>
              <a:rPr lang="en-US" sz="1600" dirty="0"/>
              <a:t>H</a:t>
            </a:r>
            <a:r>
              <a:rPr lang="en-US" sz="1600" dirty="0" smtClean="0"/>
              <a:t>owever, the user may change it as necessary. </a:t>
            </a:r>
            <a:endParaRPr lang="en-US" sz="1600" dirty="0"/>
          </a:p>
        </p:txBody>
      </p:sp>
      <p:sp>
        <p:nvSpPr>
          <p:cNvPr id="2" name="Title 1"/>
          <p:cNvSpPr>
            <a:spLocks noGrp="1"/>
          </p:cNvSpPr>
          <p:nvPr>
            <p:ph type="title"/>
          </p:nvPr>
        </p:nvSpPr>
        <p:spPr/>
        <p:txBody>
          <a:bodyPr/>
          <a:lstStyle/>
          <a:p>
            <a:r>
              <a:rPr lang="en-US" dirty="0" smtClean="0"/>
              <a:t>Testing</a:t>
            </a:r>
            <a:endParaRPr lang="en-US" dirty="0"/>
          </a:p>
        </p:txBody>
      </p:sp>
    </p:spTree>
    <p:extLst>
      <p:ext uri="{BB962C8B-B14F-4D97-AF65-F5344CB8AC3E}">
        <p14:creationId xmlns:p14="http://schemas.microsoft.com/office/powerpoint/2010/main" xmlns="" val="39423699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a:stCxn id="29" idx="2"/>
          </p:cNvCxnSpPr>
          <p:nvPr/>
        </p:nvCxnSpPr>
        <p:spPr bwMode="auto">
          <a:xfrm flipH="1">
            <a:off x="6126295" y="4058515"/>
            <a:ext cx="1430205" cy="557439"/>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pic>
        <p:nvPicPr>
          <p:cNvPr id="13316"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408" y="3973485"/>
            <a:ext cx="5721887" cy="21875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62842" y="1569610"/>
            <a:ext cx="5852160" cy="23076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itle 1"/>
          <p:cNvSpPr>
            <a:spLocks noGrp="1"/>
          </p:cNvSpPr>
          <p:nvPr>
            <p:ph type="title"/>
          </p:nvPr>
        </p:nvSpPr>
        <p:spPr>
          <a:xfrm>
            <a:off x="414338" y="450279"/>
            <a:ext cx="8330184" cy="333425"/>
          </a:xfrm>
        </p:spPr>
        <p:txBody>
          <a:bodyPr/>
          <a:lstStyle/>
          <a:p>
            <a:r>
              <a:rPr lang="en-US" dirty="0" smtClean="0"/>
              <a:t>Testing (cont.)</a:t>
            </a:r>
            <a:endParaRPr lang="en-US" dirty="0"/>
          </a:p>
        </p:txBody>
      </p:sp>
      <p:sp>
        <p:nvSpPr>
          <p:cNvPr id="7" name="TextBox 6"/>
          <p:cNvSpPr txBox="1"/>
          <p:nvPr/>
        </p:nvSpPr>
        <p:spPr>
          <a:xfrm>
            <a:off x="404813" y="1154113"/>
            <a:ext cx="1607235"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List of </a:t>
            </a:r>
            <a:r>
              <a:rPr lang="en-US" dirty="0" smtClean="0">
                <a:cs typeface="Arial" pitchFamily="34" charset="0"/>
              </a:rPr>
              <a:t>test </a:t>
            </a:r>
            <a:r>
              <a:rPr lang="en-US" dirty="0">
                <a:cs typeface="Arial" pitchFamily="34" charset="0"/>
              </a:rPr>
              <a:t>p</a:t>
            </a:r>
            <a:r>
              <a:rPr lang="en-US" dirty="0" smtClean="0">
                <a:cs typeface="Arial" pitchFamily="34" charset="0"/>
              </a:rPr>
              <a:t>hases</a:t>
            </a:r>
            <a:endParaRPr lang="en-US" dirty="0">
              <a:cs typeface="Arial" pitchFamily="34" charset="0"/>
            </a:endParaRPr>
          </a:p>
        </p:txBody>
      </p:sp>
      <p:cxnSp>
        <p:nvCxnSpPr>
          <p:cNvPr id="11" name="Straight Connector 10"/>
          <p:cNvCxnSpPr>
            <a:stCxn id="7" idx="2"/>
          </p:cNvCxnSpPr>
          <p:nvPr/>
        </p:nvCxnSpPr>
        <p:spPr bwMode="auto">
          <a:xfrm>
            <a:off x="1208431" y="1431112"/>
            <a:ext cx="412551" cy="1062706"/>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5" name="TextBox 14"/>
          <p:cNvSpPr txBox="1"/>
          <p:nvPr/>
        </p:nvSpPr>
        <p:spPr>
          <a:xfrm>
            <a:off x="6375400" y="1580452"/>
            <a:ext cx="2362200"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smtClean="0">
                <a:cs typeface="Arial" pitchFamily="34" charset="0"/>
              </a:rPr>
              <a:t>User selects </a:t>
            </a:r>
            <a:r>
              <a:rPr lang="en-US" dirty="0">
                <a:cs typeface="Arial" pitchFamily="34" charset="0"/>
              </a:rPr>
              <a:t>“Yes” </a:t>
            </a:r>
            <a:r>
              <a:rPr lang="en-US" dirty="0" smtClean="0">
                <a:cs typeface="Arial" pitchFamily="34" charset="0"/>
              </a:rPr>
              <a:t>if he/she wants </a:t>
            </a:r>
            <a:r>
              <a:rPr lang="en-US" dirty="0">
                <a:cs typeface="Arial" pitchFamily="34" charset="0"/>
              </a:rPr>
              <a:t>to </a:t>
            </a:r>
            <a:r>
              <a:rPr lang="en-US" dirty="0" smtClean="0">
                <a:cs typeface="Arial" pitchFamily="34" charset="0"/>
              </a:rPr>
              <a:t>include test </a:t>
            </a:r>
            <a:r>
              <a:rPr lang="en-US" dirty="0">
                <a:cs typeface="Arial" pitchFamily="34" charset="0"/>
              </a:rPr>
              <a:t>p</a:t>
            </a:r>
            <a:r>
              <a:rPr lang="en-US" dirty="0" smtClean="0">
                <a:cs typeface="Arial" pitchFamily="34" charset="0"/>
              </a:rPr>
              <a:t>hase for </a:t>
            </a:r>
            <a:r>
              <a:rPr lang="en-US" dirty="0">
                <a:cs typeface="Arial" pitchFamily="34" charset="0"/>
              </a:rPr>
              <a:t>estimations and “No” </a:t>
            </a:r>
            <a:r>
              <a:rPr lang="en-US" dirty="0" smtClean="0">
                <a:cs typeface="Arial" pitchFamily="34" charset="0"/>
              </a:rPr>
              <a:t>otherwise</a:t>
            </a:r>
            <a:endParaRPr lang="en-US" dirty="0">
              <a:cs typeface="Arial" pitchFamily="34" charset="0"/>
            </a:endParaRPr>
          </a:p>
        </p:txBody>
      </p:sp>
      <p:cxnSp>
        <p:nvCxnSpPr>
          <p:cNvPr id="22" name="Straight Connector 21"/>
          <p:cNvCxnSpPr/>
          <p:nvPr/>
        </p:nvCxnSpPr>
        <p:spPr bwMode="auto">
          <a:xfrm flipH="1">
            <a:off x="5112328" y="2411449"/>
            <a:ext cx="1729069" cy="182122"/>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9" name="TextBox 28"/>
          <p:cNvSpPr txBox="1"/>
          <p:nvPr/>
        </p:nvSpPr>
        <p:spPr>
          <a:xfrm>
            <a:off x="6375400" y="3412184"/>
            <a:ext cx="2362200"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additional test </a:t>
            </a:r>
            <a:r>
              <a:rPr lang="en-US" dirty="0" smtClean="0">
                <a:cs typeface="Arial" pitchFamily="34" charset="0"/>
              </a:rPr>
              <a:t>iterations. It </a:t>
            </a:r>
            <a:r>
              <a:rPr lang="en-US" dirty="0">
                <a:cs typeface="Arial" pitchFamily="34" charset="0"/>
              </a:rPr>
              <a:t>can be from 1</a:t>
            </a:r>
          </a:p>
          <a:p>
            <a:r>
              <a:rPr lang="en-US" dirty="0">
                <a:cs typeface="Arial" pitchFamily="34" charset="0"/>
              </a:rPr>
              <a:t>to 10</a:t>
            </a:r>
            <a:r>
              <a:rPr lang="en-US" dirty="0" smtClean="0">
                <a:cs typeface="Arial" pitchFamily="34" charset="0"/>
              </a:rPr>
              <a:t>. </a:t>
            </a:r>
            <a:endParaRPr lang="en-US" dirty="0">
              <a:cs typeface="Arial" pitchFamily="34" charset="0"/>
            </a:endParaRPr>
          </a:p>
        </p:txBody>
      </p:sp>
    </p:spTree>
    <p:extLst>
      <p:ext uri="{BB962C8B-B14F-4D97-AF65-F5344CB8AC3E}">
        <p14:creationId xmlns:p14="http://schemas.microsoft.com/office/powerpoint/2010/main" xmlns="" val="214710260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Testing (cont.)</a:t>
            </a:r>
            <a:endParaRPr lang="en-US" dirty="0">
              <a:solidFill>
                <a:schemeClr val="accent1"/>
              </a:solidFill>
            </a:endParaRPr>
          </a:p>
        </p:txBody>
      </p:sp>
      <p:pic>
        <p:nvPicPr>
          <p:cNvPr id="27651" name="Picture 3"/>
          <p:cNvPicPr>
            <a:picLocks noChangeAspect="1" noChangeArrowheads="1"/>
          </p:cNvPicPr>
          <p:nvPr/>
        </p:nvPicPr>
        <p:blipFill>
          <a:blip r:embed="rId2" cstate="print"/>
          <a:srcRect/>
          <a:stretch>
            <a:fillRect/>
          </a:stretch>
        </p:blipFill>
        <p:spPr bwMode="auto">
          <a:xfrm>
            <a:off x="404812" y="1406856"/>
            <a:ext cx="8273675" cy="4808631"/>
          </a:xfrm>
          <a:prstGeom prst="rect">
            <a:avLst/>
          </a:prstGeom>
          <a:noFill/>
          <a:ln w="9525">
            <a:noFill/>
            <a:miter lim="800000"/>
            <a:headEnd/>
            <a:tailEnd/>
          </a:ln>
        </p:spPr>
      </p:pic>
      <p:sp>
        <p:nvSpPr>
          <p:cNvPr id="20" name="TextBox 19"/>
          <p:cNvSpPr txBox="1"/>
          <p:nvPr/>
        </p:nvSpPr>
        <p:spPr>
          <a:xfrm>
            <a:off x="2514600" y="2435423"/>
            <a:ext cx="2686792"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percentage of </a:t>
            </a:r>
            <a:r>
              <a:rPr lang="en-US" dirty="0" smtClean="0">
                <a:cs typeface="Arial" pitchFamily="34" charset="0"/>
              </a:rPr>
              <a:t>total </a:t>
            </a:r>
            <a:r>
              <a:rPr lang="en-US" dirty="0">
                <a:cs typeface="Arial" pitchFamily="34" charset="0"/>
              </a:rPr>
              <a:t>hours</a:t>
            </a:r>
          </a:p>
        </p:txBody>
      </p:sp>
      <p:cxnSp>
        <p:nvCxnSpPr>
          <p:cNvPr id="21" name="Straight Connector 20"/>
          <p:cNvCxnSpPr>
            <a:stCxn id="20" idx="2"/>
          </p:cNvCxnSpPr>
          <p:nvPr/>
        </p:nvCxnSpPr>
        <p:spPr bwMode="auto">
          <a:xfrm>
            <a:off x="3857996" y="2712422"/>
            <a:ext cx="3814651" cy="546167"/>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47" name="TextBox 46"/>
          <p:cNvSpPr txBox="1"/>
          <p:nvPr/>
        </p:nvSpPr>
        <p:spPr>
          <a:xfrm>
            <a:off x="6699736" y="1447800"/>
            <a:ext cx="1301264"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Iteration hours </a:t>
            </a:r>
          </a:p>
          <a:p>
            <a:r>
              <a:rPr lang="en-US" dirty="0">
                <a:cs typeface="Arial" pitchFamily="34" charset="0"/>
              </a:rPr>
              <a:t>calculated by </a:t>
            </a:r>
          </a:p>
          <a:p>
            <a:r>
              <a:rPr lang="en-US" dirty="0">
                <a:cs typeface="Arial" pitchFamily="34" charset="0"/>
              </a:rPr>
              <a:t>applying </a:t>
            </a:r>
            <a:r>
              <a:rPr lang="en-US" dirty="0" smtClean="0">
                <a:cs typeface="Arial" pitchFamily="34" charset="0"/>
              </a:rPr>
              <a:t>percentage to </a:t>
            </a:r>
            <a:r>
              <a:rPr lang="en-US" dirty="0">
                <a:cs typeface="Arial" pitchFamily="34" charset="0"/>
              </a:rPr>
              <a:t>t</a:t>
            </a:r>
            <a:r>
              <a:rPr lang="en-US" dirty="0" smtClean="0">
                <a:cs typeface="Arial" pitchFamily="34" charset="0"/>
              </a:rPr>
              <a:t>otal </a:t>
            </a:r>
            <a:r>
              <a:rPr lang="en-US" dirty="0">
                <a:cs typeface="Arial" pitchFamily="34" charset="0"/>
              </a:rPr>
              <a:t>hours</a:t>
            </a:r>
          </a:p>
        </p:txBody>
      </p:sp>
      <p:cxnSp>
        <p:nvCxnSpPr>
          <p:cNvPr id="52" name="Straight Connector 51"/>
          <p:cNvCxnSpPr>
            <a:stCxn id="47" idx="2"/>
          </p:cNvCxnSpPr>
          <p:nvPr/>
        </p:nvCxnSpPr>
        <p:spPr bwMode="auto">
          <a:xfrm>
            <a:off x="7350368" y="2463463"/>
            <a:ext cx="995610" cy="605759"/>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61" name="TextBox 60"/>
          <p:cNvSpPr txBox="1"/>
          <p:nvPr/>
        </p:nvSpPr>
        <p:spPr>
          <a:xfrm>
            <a:off x="5916304" y="3922693"/>
            <a:ext cx="2084696"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Subtotal for this iteration</a:t>
            </a:r>
          </a:p>
        </p:txBody>
      </p:sp>
      <p:cxnSp>
        <p:nvCxnSpPr>
          <p:cNvPr id="62" name="Straight Connector 61"/>
          <p:cNvCxnSpPr>
            <a:stCxn id="61" idx="2"/>
          </p:cNvCxnSpPr>
          <p:nvPr/>
        </p:nvCxnSpPr>
        <p:spPr bwMode="auto">
          <a:xfrm>
            <a:off x="6958652" y="4199692"/>
            <a:ext cx="1304199" cy="1527777"/>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289120352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sz="quarter" idx="12"/>
          </p:nvPr>
        </p:nvSpPr>
        <p:spPr>
          <a:xfrm>
            <a:off x="411479" y="1399031"/>
            <a:ext cx="8330184" cy="1169997"/>
          </a:xfrm>
        </p:spPr>
        <p:txBody>
          <a:bodyPr/>
          <a:lstStyle/>
          <a:p>
            <a:r>
              <a:rPr lang="en-US" sz="1600" dirty="0" smtClean="0"/>
              <a:t>The Deploy phase describes the process used for transitioning the built and tested software into a production environment.</a:t>
            </a:r>
          </a:p>
          <a:p>
            <a:pPr>
              <a:spcBef>
                <a:spcPts val="1200"/>
              </a:spcBef>
            </a:pPr>
            <a:r>
              <a:rPr lang="en-US" sz="1600" dirty="0" smtClean="0"/>
              <a:t>Please see the “Entering Details for Standard Deliverables” </a:t>
            </a:r>
            <a:r>
              <a:rPr lang="en-US" sz="1600" dirty="0"/>
              <a:t>(slide# 27-29) </a:t>
            </a:r>
            <a:r>
              <a:rPr lang="en-US" sz="1600" dirty="0" smtClean="0"/>
              <a:t>for information on how to complete the effort associated with this tab.</a:t>
            </a:r>
            <a:endParaRPr lang="en-US" sz="1600" dirty="0"/>
          </a:p>
        </p:txBody>
      </p:sp>
      <p:sp>
        <p:nvSpPr>
          <p:cNvPr id="2" name="Title 1"/>
          <p:cNvSpPr>
            <a:spLocks noGrp="1"/>
          </p:cNvSpPr>
          <p:nvPr>
            <p:ph type="title"/>
          </p:nvPr>
        </p:nvSpPr>
        <p:spPr>
          <a:xfrm>
            <a:off x="414338" y="450279"/>
            <a:ext cx="8330184" cy="333425"/>
          </a:xfrm>
        </p:spPr>
        <p:txBody>
          <a:bodyPr/>
          <a:lstStyle/>
          <a:p>
            <a:r>
              <a:rPr lang="en-US" dirty="0" smtClean="0"/>
              <a:t>Deploy </a:t>
            </a:r>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404814" y="2818054"/>
            <a:ext cx="7400539" cy="3653233"/>
          </a:xfrm>
          <a:prstGeom prst="rect">
            <a:avLst/>
          </a:prstGeom>
          <a:noFill/>
          <a:ln w="9525">
            <a:noFill/>
            <a:miter lim="800000"/>
            <a:headEnd/>
            <a:tailEnd/>
          </a:ln>
        </p:spPr>
      </p:pic>
      <p:cxnSp>
        <p:nvCxnSpPr>
          <p:cNvPr id="14" name="Straight Connector 13"/>
          <p:cNvCxnSpPr/>
          <p:nvPr/>
        </p:nvCxnSpPr>
        <p:spPr bwMode="auto">
          <a:xfrm flipH="1">
            <a:off x="6755478" y="4930795"/>
            <a:ext cx="292524" cy="1"/>
          </a:xfrm>
          <a:prstGeom prst="line">
            <a:avLst/>
          </a:prstGeom>
          <a:solidFill>
            <a:schemeClr val="accent1"/>
          </a:solidFill>
          <a:ln w="28575" cap="flat" cmpd="sng" algn="ctr">
            <a:solidFill>
              <a:schemeClr val="tx1"/>
            </a:solidFill>
            <a:prstDash val="solid"/>
            <a:round/>
            <a:headEnd type="none" w="med" len="med"/>
            <a:tailEnd type="arrow" w="med" len="med"/>
          </a:ln>
          <a:effectLst/>
        </p:spPr>
      </p:cxnSp>
      <p:cxnSp>
        <p:nvCxnSpPr>
          <p:cNvPr id="15" name="Straight Connector 14"/>
          <p:cNvCxnSpPr/>
          <p:nvPr/>
        </p:nvCxnSpPr>
        <p:spPr bwMode="auto">
          <a:xfrm flipH="1" flipV="1">
            <a:off x="4222866" y="5453150"/>
            <a:ext cx="2462278" cy="318235"/>
          </a:xfrm>
          <a:prstGeom prst="line">
            <a:avLst/>
          </a:prstGeom>
          <a:solidFill>
            <a:schemeClr val="accent1"/>
          </a:solidFill>
          <a:ln w="28575" cap="flat" cmpd="sng" algn="ctr">
            <a:solidFill>
              <a:srgbClr val="002776"/>
            </a:solidFill>
            <a:prstDash val="solid"/>
            <a:round/>
            <a:headEnd type="none" w="med" len="med"/>
            <a:tailEnd type="arrow" w="med" len="med"/>
          </a:ln>
          <a:effectLst/>
        </p:spPr>
      </p:cxnSp>
      <p:sp>
        <p:nvSpPr>
          <p:cNvPr id="16" name="TextBox 15"/>
          <p:cNvSpPr txBox="1"/>
          <p:nvPr/>
        </p:nvSpPr>
        <p:spPr>
          <a:xfrm>
            <a:off x="6685144" y="4140994"/>
            <a:ext cx="2060394" cy="1015663"/>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r>
              <a:rPr lang="en-US" dirty="0" smtClean="0">
                <a:cs typeface="Arial" pitchFamily="34" charset="0"/>
              </a:rPr>
              <a:t>is </a:t>
            </a:r>
            <a:r>
              <a:rPr lang="en-US" dirty="0">
                <a:cs typeface="Arial" pitchFamily="34" charset="0"/>
              </a:rPr>
              <a:t>selected </a:t>
            </a:r>
            <a:r>
              <a:rPr lang="en-US" dirty="0" smtClean="0">
                <a:cs typeface="Arial" pitchFamily="34" charset="0"/>
              </a:rPr>
              <a:t>,user </a:t>
            </a:r>
            <a:r>
              <a:rPr lang="en-US" dirty="0">
                <a:cs typeface="Arial" pitchFamily="34" charset="0"/>
              </a:rPr>
              <a:t>editable </a:t>
            </a:r>
            <a:r>
              <a:rPr lang="en-US" dirty="0" smtClean="0">
                <a:cs typeface="Arial" pitchFamily="34" charset="0"/>
              </a:rPr>
              <a:t>rows </a:t>
            </a:r>
            <a:r>
              <a:rPr lang="en-US" dirty="0">
                <a:cs typeface="Arial" pitchFamily="34" charset="0"/>
              </a:rPr>
              <a:t>will be grayed out.</a:t>
            </a:r>
          </a:p>
        </p:txBody>
      </p:sp>
      <p:sp>
        <p:nvSpPr>
          <p:cNvPr id="17" name="TextBox 16"/>
          <p:cNvSpPr txBox="1"/>
          <p:nvPr/>
        </p:nvSpPr>
        <p:spPr>
          <a:xfrm>
            <a:off x="6685144" y="5256272"/>
            <a:ext cx="2060394"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18" name="TextBox 17"/>
          <p:cNvSpPr txBox="1"/>
          <p:nvPr/>
        </p:nvSpPr>
        <p:spPr>
          <a:xfrm>
            <a:off x="6685144" y="5632886"/>
            <a:ext cx="2060394"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Enter complexity</a:t>
            </a:r>
          </a:p>
        </p:txBody>
      </p:sp>
      <p:sp>
        <p:nvSpPr>
          <p:cNvPr id="19" name="TextBox 18"/>
          <p:cNvSpPr txBox="1"/>
          <p:nvPr/>
        </p:nvSpPr>
        <p:spPr>
          <a:xfrm>
            <a:off x="6685144" y="6009501"/>
            <a:ext cx="2060394"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a:t>
            </a:r>
            <a:r>
              <a:rPr lang="en-US" dirty="0" smtClean="0">
                <a:cs typeface="Arial" pitchFamily="34" charset="0"/>
              </a:rPr>
              <a:t>ours</a:t>
            </a:r>
            <a:endParaRPr lang="en-US" dirty="0">
              <a:cs typeface="Arial" pitchFamily="34" charset="0"/>
            </a:endParaRPr>
          </a:p>
        </p:txBody>
      </p:sp>
      <p:cxnSp>
        <p:nvCxnSpPr>
          <p:cNvPr id="22" name="Straight Connector 21"/>
          <p:cNvCxnSpPr>
            <a:stCxn id="19" idx="1"/>
          </p:cNvCxnSpPr>
          <p:nvPr/>
        </p:nvCxnSpPr>
        <p:spPr bwMode="auto">
          <a:xfrm flipH="1" flipV="1">
            <a:off x="5544589" y="5771385"/>
            <a:ext cx="1140555" cy="376616"/>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0" name="Straight Connector 19"/>
          <p:cNvCxnSpPr>
            <a:stCxn id="16" idx="1"/>
          </p:cNvCxnSpPr>
          <p:nvPr/>
        </p:nvCxnSpPr>
        <p:spPr bwMode="auto">
          <a:xfrm flipH="1" flipV="1">
            <a:off x="3167150" y="4495800"/>
            <a:ext cx="3517994" cy="153026"/>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1" name="Straight Connector 20"/>
          <p:cNvCxnSpPr>
            <a:stCxn id="17" idx="1"/>
          </p:cNvCxnSpPr>
          <p:nvPr/>
        </p:nvCxnSpPr>
        <p:spPr bwMode="auto">
          <a:xfrm flipH="1" flipV="1">
            <a:off x="3624349" y="5223020"/>
            <a:ext cx="3060795" cy="171752"/>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220372101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404813" y="2608571"/>
            <a:ext cx="8340725" cy="3738440"/>
          </a:xfrm>
          <a:prstGeom prst="rect">
            <a:avLst/>
          </a:prstGeom>
          <a:noFill/>
          <a:ln w="9525">
            <a:noFill/>
            <a:miter lim="800000"/>
            <a:headEnd/>
            <a:tailEnd/>
          </a:ln>
        </p:spPr>
      </p:pic>
      <p:cxnSp>
        <p:nvCxnSpPr>
          <p:cNvPr id="6" name="Straight Connector 5"/>
          <p:cNvCxnSpPr>
            <a:stCxn id="8" idx="1"/>
          </p:cNvCxnSpPr>
          <p:nvPr/>
        </p:nvCxnSpPr>
        <p:spPr bwMode="auto">
          <a:xfrm flipH="1">
            <a:off x="3390900" y="4585843"/>
            <a:ext cx="3082428" cy="812879"/>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7" name="Straight Connector 6"/>
          <p:cNvCxnSpPr>
            <a:stCxn id="10" idx="1"/>
          </p:cNvCxnSpPr>
          <p:nvPr/>
        </p:nvCxnSpPr>
        <p:spPr bwMode="auto">
          <a:xfrm flipH="1">
            <a:off x="4859338" y="5749938"/>
            <a:ext cx="1613990" cy="9041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8" name="TextBox 7"/>
          <p:cNvSpPr txBox="1"/>
          <p:nvPr/>
        </p:nvSpPr>
        <p:spPr>
          <a:xfrm>
            <a:off x="6473328" y="4170344"/>
            <a:ext cx="2272210"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The </a:t>
            </a:r>
            <a:r>
              <a:rPr lang="en-US" dirty="0" smtClean="0">
                <a:cs typeface="Arial" pitchFamily="34" charset="0"/>
              </a:rPr>
              <a:t>user </a:t>
            </a:r>
            <a:r>
              <a:rPr lang="en-US" dirty="0">
                <a:cs typeface="Arial" pitchFamily="34" charset="0"/>
              </a:rPr>
              <a:t>enters “Yes” </a:t>
            </a:r>
          </a:p>
          <a:p>
            <a:r>
              <a:rPr lang="en-US" dirty="0">
                <a:cs typeface="Arial" pitchFamily="34" charset="0"/>
              </a:rPr>
              <a:t>or “No” for In Scope</a:t>
            </a:r>
            <a:r>
              <a:rPr lang="en-US" dirty="0" smtClean="0">
                <a:cs typeface="Arial" pitchFamily="34" charset="0"/>
              </a:rPr>
              <a:t>. If </a:t>
            </a:r>
            <a:r>
              <a:rPr lang="en-US" dirty="0">
                <a:cs typeface="Arial" pitchFamily="34" charset="0"/>
              </a:rPr>
              <a:t>“No” </a:t>
            </a:r>
          </a:p>
          <a:p>
            <a:r>
              <a:rPr lang="en-US" dirty="0">
                <a:cs typeface="Arial" pitchFamily="34" charset="0"/>
              </a:rPr>
              <a:t>is </a:t>
            </a:r>
            <a:r>
              <a:rPr lang="en-US" dirty="0" smtClean="0">
                <a:cs typeface="Arial" pitchFamily="34" charset="0"/>
              </a:rPr>
              <a:t>selected, </a:t>
            </a:r>
            <a:r>
              <a:rPr lang="en-US" dirty="0">
                <a:cs typeface="Arial" pitchFamily="34" charset="0"/>
              </a:rPr>
              <a:t>user editable </a:t>
            </a:r>
          </a:p>
          <a:p>
            <a:r>
              <a:rPr lang="en-US" dirty="0">
                <a:cs typeface="Arial" pitchFamily="34" charset="0"/>
              </a:rPr>
              <a:t>rows will be grayed </a:t>
            </a:r>
            <a:r>
              <a:rPr lang="en-US" dirty="0" smtClean="0">
                <a:cs typeface="Arial" pitchFamily="34" charset="0"/>
              </a:rPr>
              <a:t>out</a:t>
            </a:r>
            <a:endParaRPr lang="en-US" dirty="0">
              <a:cs typeface="Arial" pitchFamily="34" charset="0"/>
            </a:endParaRPr>
          </a:p>
        </p:txBody>
      </p:sp>
      <p:sp>
        <p:nvSpPr>
          <p:cNvPr id="9" name="TextBox 8"/>
          <p:cNvSpPr txBox="1"/>
          <p:nvPr/>
        </p:nvSpPr>
        <p:spPr>
          <a:xfrm>
            <a:off x="6473328" y="5193548"/>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quantity</a:t>
            </a:r>
            <a:endParaRPr lang="en-US" dirty="0">
              <a:cs typeface="Arial" pitchFamily="34" charset="0"/>
            </a:endParaRPr>
          </a:p>
        </p:txBody>
      </p:sp>
      <p:sp>
        <p:nvSpPr>
          <p:cNvPr id="10" name="TextBox 9"/>
          <p:cNvSpPr txBox="1"/>
          <p:nvPr/>
        </p:nvSpPr>
        <p:spPr>
          <a:xfrm>
            <a:off x="6473328" y="5611438"/>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complexity</a:t>
            </a:r>
            <a:endParaRPr lang="en-US" dirty="0">
              <a:cs typeface="Arial" pitchFamily="34" charset="0"/>
            </a:endParaRPr>
          </a:p>
        </p:txBody>
      </p:sp>
      <p:sp>
        <p:nvSpPr>
          <p:cNvPr id="11" name="TextBox 10"/>
          <p:cNvSpPr txBox="1"/>
          <p:nvPr/>
        </p:nvSpPr>
        <p:spPr>
          <a:xfrm>
            <a:off x="6473328" y="6019802"/>
            <a:ext cx="2272210"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Enter </a:t>
            </a:r>
            <a:r>
              <a:rPr lang="en-US" dirty="0" smtClean="0">
                <a:cs typeface="Arial" pitchFamily="34" charset="0"/>
              </a:rPr>
              <a:t>custom </a:t>
            </a:r>
            <a:r>
              <a:rPr lang="en-US" dirty="0">
                <a:cs typeface="Arial" pitchFamily="34" charset="0"/>
              </a:rPr>
              <a:t>h</a:t>
            </a:r>
            <a:r>
              <a:rPr lang="en-US" dirty="0" smtClean="0">
                <a:cs typeface="Arial" pitchFamily="34" charset="0"/>
              </a:rPr>
              <a:t>ours</a:t>
            </a:r>
            <a:endParaRPr lang="en-US" dirty="0">
              <a:cs typeface="Arial" pitchFamily="34" charset="0"/>
            </a:endParaRPr>
          </a:p>
        </p:txBody>
      </p:sp>
      <p:cxnSp>
        <p:nvCxnSpPr>
          <p:cNvPr id="12" name="Straight Connector 11"/>
          <p:cNvCxnSpPr/>
          <p:nvPr/>
        </p:nvCxnSpPr>
        <p:spPr bwMode="auto">
          <a:xfrm flipH="1">
            <a:off x="6154738" y="6172201"/>
            <a:ext cx="318590" cy="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4" name="Title 1"/>
          <p:cNvSpPr txBox="1">
            <a:spLocks/>
          </p:cNvSpPr>
          <p:nvPr/>
        </p:nvSpPr>
        <p:spPr>
          <a:xfrm>
            <a:off x="228600" y="-685800"/>
            <a:ext cx="8839200" cy="2286000"/>
          </a:xfrm>
          <a:prstGeom prst="rect">
            <a:avLst/>
          </a:prstGeom>
        </p:spPr>
        <p:txBody>
          <a:bodyPr vert="horz" lIns="91440" tIns="45720" rIns="91440" bIns="45720" rtlCol="0" anchor="ctr">
            <a:noAutofit/>
          </a:bodyPr>
          <a:lstStyle/>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a:solidFill>
                <a:prstClr val="black"/>
              </a:solidFill>
              <a:cs typeface="+mn-cs"/>
            </a:endParaRPr>
          </a:p>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a:solidFill>
                <a:prstClr val="black"/>
              </a:solidFill>
              <a:cs typeface="+mn-cs"/>
            </a:endParaRPr>
          </a:p>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a:solidFill>
                <a:prstClr val="black"/>
              </a:solidFill>
              <a:cs typeface="+mn-cs"/>
            </a:endParaRPr>
          </a:p>
          <a:p>
            <a:pPr algn="l" fontAlgn="auto">
              <a:spcBef>
                <a:spcPct val="0"/>
              </a:spcBef>
              <a:spcAft>
                <a:spcPts val="0"/>
              </a:spcAft>
              <a:defRPr/>
            </a:pPr>
            <a:endParaRPr lang="en-US" sz="2400" b="0" dirty="0" smtClean="0">
              <a:solidFill>
                <a:prstClr val="black"/>
              </a:solidFill>
              <a:cs typeface="+mn-cs"/>
            </a:endParaRPr>
          </a:p>
          <a:p>
            <a:pPr algn="l" fontAlgn="auto">
              <a:spcBef>
                <a:spcPct val="0"/>
              </a:spcBef>
              <a:spcAft>
                <a:spcPts val="0"/>
              </a:spcAft>
              <a:defRPr/>
            </a:pPr>
            <a:endParaRPr lang="en-US" sz="1800" b="0" dirty="0">
              <a:solidFill>
                <a:prstClr val="black"/>
              </a:solidFill>
              <a:cs typeface="+mn-cs"/>
            </a:endParaRPr>
          </a:p>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smtClean="0">
              <a:solidFill>
                <a:prstClr val="black"/>
              </a:solidFill>
              <a:cs typeface="+mn-cs"/>
            </a:endParaRPr>
          </a:p>
          <a:p>
            <a:pPr algn="l" fontAlgn="auto">
              <a:spcBef>
                <a:spcPct val="0"/>
              </a:spcBef>
              <a:spcAft>
                <a:spcPts val="0"/>
              </a:spcAft>
              <a:defRPr/>
            </a:pPr>
            <a:endParaRPr lang="en-US" sz="1800" b="0" dirty="0">
              <a:solidFill>
                <a:prstClr val="black"/>
              </a:solidFill>
              <a:cs typeface="+mn-cs"/>
            </a:endParaRPr>
          </a:p>
        </p:txBody>
      </p:sp>
      <p:cxnSp>
        <p:nvCxnSpPr>
          <p:cNvPr id="18" name="Straight Connector 17"/>
          <p:cNvCxnSpPr>
            <a:stCxn id="9" idx="1"/>
          </p:cNvCxnSpPr>
          <p:nvPr/>
        </p:nvCxnSpPr>
        <p:spPr bwMode="auto">
          <a:xfrm flipH="1">
            <a:off x="4200525" y="5332048"/>
            <a:ext cx="2272803" cy="211502"/>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4" name="Content Placeholder 3"/>
          <p:cNvSpPr>
            <a:spLocks noGrp="1"/>
          </p:cNvSpPr>
          <p:nvPr>
            <p:ph sz="quarter" idx="12"/>
          </p:nvPr>
        </p:nvSpPr>
        <p:spPr/>
        <p:txBody>
          <a:bodyPr/>
          <a:lstStyle/>
          <a:p>
            <a:r>
              <a:rPr lang="en-US" sz="1600" dirty="0" smtClean="0"/>
              <a:t>Close involves performing the activities and checkpoints needed to confirm completion and close a project phase or the overall engagement.</a:t>
            </a:r>
          </a:p>
          <a:p>
            <a:pPr>
              <a:spcBef>
                <a:spcPts val="1200"/>
              </a:spcBef>
            </a:pPr>
            <a:r>
              <a:rPr lang="en-US" sz="1600" dirty="0" smtClean="0"/>
              <a:t>Please see the “Entering details for Standard Deliverables” </a:t>
            </a:r>
            <a:r>
              <a:rPr lang="en-US" sz="1600" dirty="0"/>
              <a:t>(slide# 27-29) </a:t>
            </a:r>
            <a:r>
              <a:rPr lang="en-US" sz="1600" dirty="0" smtClean="0"/>
              <a:t>for information on how to complete the effort associated with this tab</a:t>
            </a:r>
            <a:endParaRPr lang="en-US" sz="1600" dirty="0"/>
          </a:p>
        </p:txBody>
      </p:sp>
      <p:sp>
        <p:nvSpPr>
          <p:cNvPr id="3" name="Title 2"/>
          <p:cNvSpPr>
            <a:spLocks noGrp="1"/>
          </p:cNvSpPr>
          <p:nvPr>
            <p:ph type="title"/>
          </p:nvPr>
        </p:nvSpPr>
        <p:spPr/>
        <p:txBody>
          <a:bodyPr/>
          <a:lstStyle/>
          <a:p>
            <a:r>
              <a:rPr lang="en-US" dirty="0" smtClean="0"/>
              <a:t>Close </a:t>
            </a:r>
            <a:br>
              <a:rPr lang="en-US" dirty="0" smtClean="0"/>
            </a:br>
            <a:endParaRPr lang="en-US" dirty="0"/>
          </a:p>
        </p:txBody>
      </p:sp>
    </p:spTree>
    <p:extLst>
      <p:ext uri="{BB962C8B-B14F-4D97-AF65-F5344CB8AC3E}">
        <p14:creationId xmlns:p14="http://schemas.microsoft.com/office/powerpoint/2010/main" xmlns="" val="14412106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424542" y="1150838"/>
            <a:ext cx="8330184" cy="4882896"/>
          </a:xfrm>
        </p:spPr>
        <p:txBody>
          <a:bodyPr/>
          <a:lstStyle/>
          <a:p>
            <a:pPr lvl="1"/>
            <a:r>
              <a:rPr lang="en-US" sz="1600" dirty="0" smtClean="0"/>
              <a:t>The  following type of information user can get from the Summary tab:</a:t>
            </a:r>
          </a:p>
          <a:p>
            <a:pPr lvl="2"/>
            <a:r>
              <a:rPr lang="en-US" sz="1400" dirty="0" smtClean="0"/>
              <a:t>Overall summary of the effort </a:t>
            </a:r>
            <a:r>
              <a:rPr lang="en-US" sz="1400" dirty="0"/>
              <a:t>estimated </a:t>
            </a:r>
            <a:r>
              <a:rPr lang="en-US" sz="1400" dirty="0" smtClean="0"/>
              <a:t>for all phases</a:t>
            </a:r>
          </a:p>
          <a:p>
            <a:pPr lvl="2"/>
            <a:r>
              <a:rPr lang="en-US" sz="1400" dirty="0" smtClean="0"/>
              <a:t>The percentage breakup of estimated effort  based </a:t>
            </a:r>
            <a:r>
              <a:rPr lang="en-US" sz="1400" dirty="0"/>
              <a:t>on </a:t>
            </a:r>
            <a:r>
              <a:rPr lang="en-US" sz="1400" dirty="0" smtClean="0"/>
              <a:t>an external </a:t>
            </a:r>
            <a:r>
              <a:rPr lang="en-US" sz="1400" dirty="0"/>
              <a:t>analyst-prescribed </a:t>
            </a:r>
            <a:r>
              <a:rPr lang="en-US" sz="1400" dirty="0" smtClean="0"/>
              <a:t>estimate. Estimator can use this percentage to compare the  efforts estimated by the Project Estimator</a:t>
            </a:r>
          </a:p>
          <a:p>
            <a:pPr lvl="2"/>
            <a:r>
              <a:rPr lang="en-US" sz="1400" dirty="0" smtClean="0"/>
              <a:t>The Dashboard of contain the  productivity metrics , effort distribution chart by complexity &amp; deliverable count. The dashboard provide the key inputs for decision making and rationale in order to analyze and compare the estimated effort.</a:t>
            </a:r>
          </a:p>
          <a:p>
            <a:pPr lvl="2"/>
            <a:endParaRPr lang="en-US" sz="1400" dirty="0" smtClean="0"/>
          </a:p>
          <a:p>
            <a:pPr lvl="1"/>
            <a:r>
              <a:rPr lang="en-US" sz="1600" dirty="0" smtClean="0"/>
              <a:t>The Summary tab includes the grand </a:t>
            </a:r>
            <a:r>
              <a:rPr lang="en-US" sz="1600" dirty="0"/>
              <a:t>t</a:t>
            </a:r>
            <a:r>
              <a:rPr lang="en-US" sz="1600" dirty="0" smtClean="0"/>
              <a:t>otal of the effort estimation using the data entered for each SDLC phase.</a:t>
            </a:r>
          </a:p>
          <a:p>
            <a:pPr lvl="1"/>
            <a:r>
              <a:rPr lang="en-US" sz="1600" dirty="0" smtClean="0"/>
              <a:t>If a phase was selected to be out of scope on the "Assumptions" tab, any effort from that phase will be excluded in the total effort estimation. </a:t>
            </a:r>
          </a:p>
          <a:p>
            <a:pPr lvl="1"/>
            <a:r>
              <a:rPr lang="en-US" sz="1600" dirty="0" smtClean="0"/>
              <a:t>Contingency percentage is included in the Grand </a:t>
            </a:r>
            <a:r>
              <a:rPr lang="en-US" sz="1600" dirty="0"/>
              <a:t>T</a:t>
            </a:r>
            <a:r>
              <a:rPr lang="en-US" sz="1600" dirty="0" smtClean="0"/>
              <a:t>otal of each phase. Therefore, it appears as part of the phase effort in the summary table. </a:t>
            </a:r>
          </a:p>
          <a:p>
            <a:pPr lvl="1"/>
            <a:r>
              <a:rPr lang="en-US" sz="1600" dirty="0" smtClean="0"/>
              <a:t>The Fixed </a:t>
            </a:r>
            <a:r>
              <a:rPr lang="en-US" sz="1600" dirty="0"/>
              <a:t>R</a:t>
            </a:r>
            <a:r>
              <a:rPr lang="en-US" sz="1600" dirty="0" smtClean="0"/>
              <a:t>esources tab is included in a different table, but the grand total effort includes hours from both the Fixed </a:t>
            </a:r>
            <a:r>
              <a:rPr lang="en-US" sz="1600" dirty="0"/>
              <a:t>R</a:t>
            </a:r>
            <a:r>
              <a:rPr lang="en-US" sz="1600" dirty="0" smtClean="0"/>
              <a:t>esources tab and the SDLC estimation tabs.</a:t>
            </a:r>
          </a:p>
          <a:p>
            <a:pPr lvl="1"/>
            <a:r>
              <a:rPr lang="en-US" sz="1600" dirty="0" smtClean="0"/>
              <a:t>The Gartner estimation is provided for the user to compare the effort estimation to an external analyst-prescribed estimate. This is provided for illustration purposes to compare the calculated effort estimation with Gartner-prescribed estimates based on percentage of development.</a:t>
            </a:r>
            <a:endParaRPr lang="en-US" sz="1600" dirty="0"/>
          </a:p>
        </p:txBody>
      </p:sp>
      <p:sp>
        <p:nvSpPr>
          <p:cNvPr id="2" name="Title 1"/>
          <p:cNvSpPr>
            <a:spLocks noGrp="1"/>
          </p:cNvSpPr>
          <p:nvPr>
            <p:ph type="title"/>
          </p:nvPr>
        </p:nvSpPr>
        <p:spPr/>
        <p:txBody>
          <a:bodyPr/>
          <a:lstStyle/>
          <a:p>
            <a:r>
              <a:rPr lang="en-US" dirty="0" smtClean="0"/>
              <a:t>Summary</a:t>
            </a:r>
            <a:endParaRPr lang="en-US" dirty="0"/>
          </a:p>
        </p:txBody>
      </p:sp>
    </p:spTree>
    <p:extLst>
      <p:ext uri="{BB962C8B-B14F-4D97-AF65-F5344CB8AC3E}">
        <p14:creationId xmlns:p14="http://schemas.microsoft.com/office/powerpoint/2010/main" xmlns="" val="56875923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3700" y="3665121"/>
            <a:ext cx="7010400" cy="2266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3" cstate="print"/>
          <a:srcRect r="2316" b="50000"/>
          <a:stretch/>
        </p:blipFill>
        <p:spPr bwMode="auto">
          <a:xfrm>
            <a:off x="461963" y="988199"/>
            <a:ext cx="6629400" cy="2676922"/>
          </a:xfrm>
          <a:prstGeom prst="rect">
            <a:avLst/>
          </a:prstGeom>
          <a:noFill/>
          <a:ln w="9525">
            <a:noFill/>
            <a:miter lim="800000"/>
            <a:headEnd/>
            <a:tailEnd/>
          </a:ln>
        </p:spPr>
      </p:pic>
      <p:sp>
        <p:nvSpPr>
          <p:cNvPr id="2" name="Title 1"/>
          <p:cNvSpPr>
            <a:spLocks noGrp="1"/>
          </p:cNvSpPr>
          <p:nvPr>
            <p:ph type="title"/>
          </p:nvPr>
        </p:nvSpPr>
        <p:spPr>
          <a:xfrm>
            <a:off x="414338" y="450279"/>
            <a:ext cx="8330184" cy="333425"/>
          </a:xfrm>
        </p:spPr>
        <p:txBody>
          <a:bodyPr/>
          <a:lstStyle/>
          <a:p>
            <a:r>
              <a:rPr lang="en-US" dirty="0" smtClean="0"/>
              <a:t>Summary (cont.)</a:t>
            </a:r>
            <a:endParaRPr lang="en-US" dirty="0"/>
          </a:p>
        </p:txBody>
      </p:sp>
      <p:sp>
        <p:nvSpPr>
          <p:cNvPr id="7" name="TextBox 6"/>
          <p:cNvSpPr txBox="1"/>
          <p:nvPr/>
        </p:nvSpPr>
        <p:spPr>
          <a:xfrm>
            <a:off x="7404100" y="2590800"/>
            <a:ext cx="1430338" cy="27699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Project </a:t>
            </a:r>
            <a:r>
              <a:rPr lang="en-US" dirty="0" smtClean="0">
                <a:cs typeface="Arial" pitchFamily="34" charset="0"/>
              </a:rPr>
              <a:t>details</a:t>
            </a:r>
            <a:endParaRPr lang="en-US" dirty="0">
              <a:cs typeface="Arial" pitchFamily="34" charset="0"/>
            </a:endParaRPr>
          </a:p>
        </p:txBody>
      </p:sp>
      <p:cxnSp>
        <p:nvCxnSpPr>
          <p:cNvPr id="8" name="Straight Connector 7"/>
          <p:cNvCxnSpPr>
            <a:stCxn id="7" idx="1"/>
          </p:cNvCxnSpPr>
          <p:nvPr/>
        </p:nvCxnSpPr>
        <p:spPr bwMode="auto">
          <a:xfrm flipH="1">
            <a:off x="6956426" y="2729300"/>
            <a:ext cx="447674" cy="695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2" name="TextBox 11"/>
          <p:cNvSpPr txBox="1"/>
          <p:nvPr/>
        </p:nvSpPr>
        <p:spPr>
          <a:xfrm>
            <a:off x="7561263" y="3948211"/>
            <a:ext cx="1430338"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Fixed </a:t>
            </a:r>
            <a:r>
              <a:rPr lang="en-US" dirty="0" smtClean="0">
                <a:cs typeface="Arial" pitchFamily="34" charset="0"/>
              </a:rPr>
              <a:t>resource </a:t>
            </a:r>
            <a:endParaRPr lang="en-US" dirty="0">
              <a:cs typeface="Arial" pitchFamily="34" charset="0"/>
            </a:endParaRPr>
          </a:p>
          <a:p>
            <a:r>
              <a:rPr lang="en-US" dirty="0">
                <a:cs typeface="Arial" pitchFamily="34" charset="0"/>
              </a:rPr>
              <a:t>Summary</a:t>
            </a:r>
          </a:p>
        </p:txBody>
      </p:sp>
      <p:sp>
        <p:nvSpPr>
          <p:cNvPr id="14" name="TextBox 13"/>
          <p:cNvSpPr txBox="1"/>
          <p:nvPr/>
        </p:nvSpPr>
        <p:spPr>
          <a:xfrm>
            <a:off x="6376194" y="5701238"/>
            <a:ext cx="1430338"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Phase and total summaries</a:t>
            </a:r>
          </a:p>
        </p:txBody>
      </p:sp>
      <p:cxnSp>
        <p:nvCxnSpPr>
          <p:cNvPr id="15" name="Straight Connector 14"/>
          <p:cNvCxnSpPr>
            <a:stCxn id="14" idx="1"/>
          </p:cNvCxnSpPr>
          <p:nvPr/>
        </p:nvCxnSpPr>
        <p:spPr bwMode="auto">
          <a:xfrm flipH="1" flipV="1">
            <a:off x="5499100" y="5379281"/>
            <a:ext cx="877094" cy="55279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28" name="Straight Connector 27"/>
          <p:cNvCxnSpPr/>
          <p:nvPr/>
        </p:nvCxnSpPr>
        <p:spPr bwMode="auto">
          <a:xfrm flipH="1" flipV="1">
            <a:off x="7180263" y="4103588"/>
            <a:ext cx="381000" cy="1488"/>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289844008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88886" y="1877921"/>
            <a:ext cx="4736990" cy="2763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itle 2"/>
          <p:cNvSpPr>
            <a:spLocks noGrp="1"/>
          </p:cNvSpPr>
          <p:nvPr>
            <p:ph type="title"/>
          </p:nvPr>
        </p:nvSpPr>
        <p:spPr>
          <a:xfrm>
            <a:off x="414338" y="450279"/>
            <a:ext cx="8330184" cy="333425"/>
          </a:xfrm>
        </p:spPr>
        <p:txBody>
          <a:bodyPr/>
          <a:lstStyle/>
          <a:p>
            <a:r>
              <a:rPr lang="en-US" dirty="0"/>
              <a:t>Summary (cont.)</a:t>
            </a:r>
          </a:p>
        </p:txBody>
      </p:sp>
      <p:sp>
        <p:nvSpPr>
          <p:cNvPr id="5" name="TextBox 4"/>
          <p:cNvSpPr txBox="1"/>
          <p:nvPr/>
        </p:nvSpPr>
        <p:spPr>
          <a:xfrm>
            <a:off x="6603637" y="1660279"/>
            <a:ext cx="2354499"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a:t>Gartner Estimations Summary for</a:t>
            </a:r>
          </a:p>
          <a:p>
            <a:r>
              <a:rPr lang="en-US" dirty="0"/>
              <a:t> comparison purposes.</a:t>
            </a:r>
          </a:p>
        </p:txBody>
      </p:sp>
      <p:cxnSp>
        <p:nvCxnSpPr>
          <p:cNvPr id="6" name="Straight Connector 5"/>
          <p:cNvCxnSpPr/>
          <p:nvPr/>
        </p:nvCxnSpPr>
        <p:spPr bwMode="auto">
          <a:xfrm flipH="1">
            <a:off x="5441588" y="2135135"/>
            <a:ext cx="1162049" cy="80426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Tree>
    <p:extLst>
      <p:ext uri="{BB962C8B-B14F-4D97-AF65-F5344CB8AC3E}">
        <p14:creationId xmlns:p14="http://schemas.microsoft.com/office/powerpoint/2010/main" xmlns="" val="27782957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5901" y="1749173"/>
            <a:ext cx="8724900" cy="3541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itle 2"/>
          <p:cNvSpPr>
            <a:spLocks noGrp="1"/>
          </p:cNvSpPr>
          <p:nvPr>
            <p:ph type="title"/>
          </p:nvPr>
        </p:nvSpPr>
        <p:spPr>
          <a:xfrm>
            <a:off x="414338" y="450279"/>
            <a:ext cx="5122862" cy="333425"/>
          </a:xfrm>
        </p:spPr>
        <p:txBody>
          <a:bodyPr/>
          <a:lstStyle/>
          <a:p>
            <a:r>
              <a:rPr lang="en-US" dirty="0" smtClean="0"/>
              <a:t>Dashboard Views: Added in the Summary tab</a:t>
            </a:r>
            <a:endParaRPr lang="en-US" dirty="0"/>
          </a:p>
        </p:txBody>
      </p:sp>
      <p:sp>
        <p:nvSpPr>
          <p:cNvPr id="7" name="TextBox 6"/>
          <p:cNvSpPr txBox="1"/>
          <p:nvPr/>
        </p:nvSpPr>
        <p:spPr>
          <a:xfrm>
            <a:off x="6388100" y="5537200"/>
            <a:ext cx="2552701"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Phase wise summary of Effort distribution, count of deliverable, productivity by SDLC phases</a:t>
            </a:r>
            <a:endParaRPr lang="en-US" dirty="0"/>
          </a:p>
        </p:txBody>
      </p:sp>
      <p:cxnSp>
        <p:nvCxnSpPr>
          <p:cNvPr id="8" name="Straight Connector 7"/>
          <p:cNvCxnSpPr/>
          <p:nvPr/>
        </p:nvCxnSpPr>
        <p:spPr bwMode="auto">
          <a:xfrm flipH="1">
            <a:off x="5130800" y="1225047"/>
            <a:ext cx="1099902" cy="69265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9" name="Content Placeholder 11"/>
          <p:cNvSpPr>
            <a:spLocks noGrp="1"/>
          </p:cNvSpPr>
          <p:nvPr>
            <p:ph sz="quarter" idx="12"/>
          </p:nvPr>
        </p:nvSpPr>
        <p:spPr>
          <a:xfrm>
            <a:off x="398779" y="1183132"/>
            <a:ext cx="8330184" cy="305943"/>
          </a:xfrm>
        </p:spPr>
        <p:txBody>
          <a:bodyPr/>
          <a:lstStyle/>
          <a:p>
            <a:r>
              <a:rPr lang="en-US" sz="1600" dirty="0"/>
              <a:t>Below </a:t>
            </a:r>
            <a:r>
              <a:rPr lang="en-US" sz="1600" dirty="0" smtClean="0"/>
              <a:t>the Project Level dashboard view:</a:t>
            </a:r>
            <a:endParaRPr lang="en-US" sz="1600" dirty="0"/>
          </a:p>
        </p:txBody>
      </p:sp>
      <p:cxnSp>
        <p:nvCxnSpPr>
          <p:cNvPr id="10" name="Straight Connector 9"/>
          <p:cNvCxnSpPr>
            <a:stCxn id="7" idx="0"/>
          </p:cNvCxnSpPr>
          <p:nvPr/>
        </p:nvCxnSpPr>
        <p:spPr bwMode="auto">
          <a:xfrm flipV="1">
            <a:off x="7664451" y="3519909"/>
            <a:ext cx="158749" cy="2017291"/>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2" name="TextBox 11"/>
          <p:cNvSpPr txBox="1"/>
          <p:nvPr/>
        </p:nvSpPr>
        <p:spPr>
          <a:xfrm>
            <a:off x="2928701" y="5601591"/>
            <a:ext cx="2735499"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Deliverable count, their productivity categorized by SDLC phases and Complexity</a:t>
            </a:r>
            <a:endParaRPr lang="en-US" dirty="0"/>
          </a:p>
        </p:txBody>
      </p:sp>
      <p:cxnSp>
        <p:nvCxnSpPr>
          <p:cNvPr id="20" name="Straight Connector 19"/>
          <p:cNvCxnSpPr/>
          <p:nvPr/>
        </p:nvCxnSpPr>
        <p:spPr bwMode="auto">
          <a:xfrm flipH="1" flipV="1">
            <a:off x="3263901" y="3822700"/>
            <a:ext cx="393699" cy="175260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2" name="TextBox 21"/>
          <p:cNvSpPr txBox="1"/>
          <p:nvPr/>
        </p:nvSpPr>
        <p:spPr>
          <a:xfrm>
            <a:off x="241300" y="5753991"/>
            <a:ext cx="2494199"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Project level Summary of number of deliverable, overall productivity, estimated effort</a:t>
            </a:r>
            <a:endParaRPr lang="en-US" dirty="0"/>
          </a:p>
        </p:txBody>
      </p:sp>
      <p:cxnSp>
        <p:nvCxnSpPr>
          <p:cNvPr id="23" name="Straight Connector 22"/>
          <p:cNvCxnSpPr/>
          <p:nvPr/>
        </p:nvCxnSpPr>
        <p:spPr bwMode="auto">
          <a:xfrm flipH="1" flipV="1">
            <a:off x="1104900" y="4978400"/>
            <a:ext cx="533400" cy="81280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6" name="TextBox 25"/>
          <p:cNvSpPr txBox="1"/>
          <p:nvPr/>
        </p:nvSpPr>
        <p:spPr>
          <a:xfrm>
            <a:off x="5740400" y="648591"/>
            <a:ext cx="2984500" cy="120032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Quick view of key metrics in form of charts:</a:t>
            </a:r>
          </a:p>
          <a:p>
            <a:pPr>
              <a:buFontTx/>
              <a:buChar char="-"/>
            </a:pPr>
            <a:r>
              <a:rPr lang="en-US" b="0" dirty="0" smtClean="0"/>
              <a:t>Overall Effort distribution across phases</a:t>
            </a:r>
          </a:p>
          <a:p>
            <a:pPr>
              <a:buFontTx/>
              <a:buChar char="-"/>
            </a:pPr>
            <a:r>
              <a:rPr lang="en-US" b="0" dirty="0" smtClean="0"/>
              <a:t>Estimated productivity by phases</a:t>
            </a:r>
          </a:p>
          <a:p>
            <a:pPr>
              <a:buFontTx/>
              <a:buChar char="-"/>
            </a:pPr>
            <a:r>
              <a:rPr lang="en-US" b="0" dirty="0" smtClean="0"/>
              <a:t>Effort distribution &amp; Count of deliverable grouped by complexity</a:t>
            </a:r>
          </a:p>
        </p:txBody>
      </p:sp>
    </p:spTree>
    <p:extLst>
      <p:ext uri="{BB962C8B-B14F-4D97-AF65-F5344CB8AC3E}">
        <p14:creationId xmlns:p14="http://schemas.microsoft.com/office/powerpoint/2010/main" xmlns="" val="277829579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8516" y="2028825"/>
            <a:ext cx="8664184" cy="300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itle 2"/>
          <p:cNvSpPr>
            <a:spLocks noGrp="1"/>
          </p:cNvSpPr>
          <p:nvPr>
            <p:ph type="title"/>
          </p:nvPr>
        </p:nvSpPr>
        <p:spPr>
          <a:xfrm>
            <a:off x="414338" y="450279"/>
            <a:ext cx="8330184" cy="333425"/>
          </a:xfrm>
        </p:spPr>
        <p:txBody>
          <a:bodyPr/>
          <a:lstStyle/>
          <a:p>
            <a:r>
              <a:rPr lang="en-US" dirty="0"/>
              <a:t>Dashboard Views: Added in the Summary </a:t>
            </a:r>
            <a:r>
              <a:rPr lang="en-US" dirty="0" smtClean="0"/>
              <a:t>tab (cont.)</a:t>
            </a:r>
            <a:endParaRPr lang="en-US" dirty="0"/>
          </a:p>
        </p:txBody>
      </p:sp>
      <p:sp>
        <p:nvSpPr>
          <p:cNvPr id="7" name="TextBox 6"/>
          <p:cNvSpPr txBox="1"/>
          <p:nvPr/>
        </p:nvSpPr>
        <p:spPr>
          <a:xfrm>
            <a:off x="6388100" y="5702300"/>
            <a:ext cx="2552701"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Discipline wise summary of Effort distribution, count of deliverable, productivity estimated for each </a:t>
            </a:r>
            <a:r>
              <a:rPr lang="en-US" dirty="0" err="1" smtClean="0"/>
              <a:t>discpline</a:t>
            </a:r>
            <a:r>
              <a:rPr lang="en-US" dirty="0" smtClean="0"/>
              <a:t> </a:t>
            </a:r>
            <a:endParaRPr lang="en-US" dirty="0"/>
          </a:p>
        </p:txBody>
      </p:sp>
      <p:cxnSp>
        <p:nvCxnSpPr>
          <p:cNvPr id="8" name="Straight Connector 7"/>
          <p:cNvCxnSpPr/>
          <p:nvPr/>
        </p:nvCxnSpPr>
        <p:spPr bwMode="auto">
          <a:xfrm flipH="1">
            <a:off x="5130800" y="1390147"/>
            <a:ext cx="1099902" cy="692653"/>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9" name="Content Placeholder 11"/>
          <p:cNvSpPr>
            <a:spLocks noGrp="1"/>
          </p:cNvSpPr>
          <p:nvPr>
            <p:ph sz="quarter" idx="12"/>
          </p:nvPr>
        </p:nvSpPr>
        <p:spPr>
          <a:xfrm>
            <a:off x="398779" y="1030732"/>
            <a:ext cx="8330184" cy="305943"/>
          </a:xfrm>
        </p:spPr>
        <p:txBody>
          <a:bodyPr/>
          <a:lstStyle/>
          <a:p>
            <a:r>
              <a:rPr lang="en-US" sz="1600" dirty="0"/>
              <a:t>Below </a:t>
            </a:r>
            <a:r>
              <a:rPr lang="en-US" sz="1600" dirty="0" smtClean="0"/>
              <a:t>is a Typical view of the Phase Level dashboard:</a:t>
            </a:r>
            <a:endParaRPr lang="en-US" sz="1600" dirty="0"/>
          </a:p>
        </p:txBody>
      </p:sp>
      <p:cxnSp>
        <p:nvCxnSpPr>
          <p:cNvPr id="10" name="Straight Connector 9"/>
          <p:cNvCxnSpPr>
            <a:stCxn id="7" idx="0"/>
          </p:cNvCxnSpPr>
          <p:nvPr/>
        </p:nvCxnSpPr>
        <p:spPr bwMode="auto">
          <a:xfrm flipH="1" flipV="1">
            <a:off x="7302501" y="3784600"/>
            <a:ext cx="361950" cy="191770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12" name="TextBox 11"/>
          <p:cNvSpPr txBox="1"/>
          <p:nvPr/>
        </p:nvSpPr>
        <p:spPr>
          <a:xfrm>
            <a:off x="2928701" y="5766691"/>
            <a:ext cx="2735499" cy="830997"/>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Deliverable count, their productivity categorized by different disciplines in the phase and Complexity</a:t>
            </a:r>
            <a:endParaRPr lang="en-US" dirty="0"/>
          </a:p>
        </p:txBody>
      </p:sp>
      <p:cxnSp>
        <p:nvCxnSpPr>
          <p:cNvPr id="20" name="Straight Connector 19"/>
          <p:cNvCxnSpPr/>
          <p:nvPr/>
        </p:nvCxnSpPr>
        <p:spPr bwMode="auto">
          <a:xfrm flipH="1" flipV="1">
            <a:off x="3263901" y="3987800"/>
            <a:ext cx="393699" cy="175260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2" name="TextBox 21"/>
          <p:cNvSpPr txBox="1"/>
          <p:nvPr/>
        </p:nvSpPr>
        <p:spPr>
          <a:xfrm>
            <a:off x="241300" y="5919091"/>
            <a:ext cx="2494199" cy="646331"/>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Phase level Summary of number of deliverable, overall productivity, estimated effort</a:t>
            </a:r>
            <a:endParaRPr lang="en-US" dirty="0"/>
          </a:p>
        </p:txBody>
      </p:sp>
      <p:cxnSp>
        <p:nvCxnSpPr>
          <p:cNvPr id="23" name="Straight Connector 22"/>
          <p:cNvCxnSpPr/>
          <p:nvPr/>
        </p:nvCxnSpPr>
        <p:spPr bwMode="auto">
          <a:xfrm flipH="1" flipV="1">
            <a:off x="1488399" y="4743450"/>
            <a:ext cx="149901" cy="121285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26" name="TextBox 25"/>
          <p:cNvSpPr txBox="1"/>
          <p:nvPr/>
        </p:nvSpPr>
        <p:spPr>
          <a:xfrm>
            <a:off x="5740400" y="813691"/>
            <a:ext cx="3162300" cy="1200329"/>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defRPr>
            </a:lvl1pPr>
          </a:lstStyle>
          <a:p>
            <a:r>
              <a:rPr lang="en-US" dirty="0" smtClean="0"/>
              <a:t>Quick view of phase level  key metrics in form of charts:</a:t>
            </a:r>
          </a:p>
          <a:p>
            <a:pPr>
              <a:buFontTx/>
              <a:buChar char="-"/>
            </a:pPr>
            <a:r>
              <a:rPr lang="en-US" b="0" dirty="0" smtClean="0"/>
              <a:t>Overall Effort distribution across disciplines</a:t>
            </a:r>
          </a:p>
          <a:p>
            <a:pPr>
              <a:buFontTx/>
              <a:buChar char="-"/>
            </a:pPr>
            <a:r>
              <a:rPr lang="en-US" b="0" dirty="0" smtClean="0"/>
              <a:t>Estimated productivity by disciplines</a:t>
            </a:r>
          </a:p>
          <a:p>
            <a:pPr>
              <a:buFontTx/>
              <a:buChar char="-"/>
            </a:pPr>
            <a:r>
              <a:rPr lang="en-US" b="0" dirty="0" smtClean="0"/>
              <a:t>Effort distribution &amp; Count of deliverable grouped by complexity</a:t>
            </a:r>
          </a:p>
        </p:txBody>
      </p:sp>
    </p:spTree>
    <p:extLst>
      <p:ext uri="{BB962C8B-B14F-4D97-AF65-F5344CB8AC3E}">
        <p14:creationId xmlns:p14="http://schemas.microsoft.com/office/powerpoint/2010/main" xmlns="" val="27782957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1479" y="1399032"/>
            <a:ext cx="8330184" cy="1842932"/>
          </a:xfrm>
        </p:spPr>
        <p:txBody>
          <a:bodyPr/>
          <a:lstStyle/>
          <a:p>
            <a:pPr lvl="0"/>
            <a:r>
              <a:rPr lang="en-US" sz="1600" dirty="0" smtClean="0"/>
              <a:t>The tool calculates the effort based on the metrics (SI standard estimate) associated with each deliverable/object. Some of these metrics are predefined and some are left blank for user input in appropriate tabs. The metrics value is based on the project complexity. The user can also chose to override the metrics defined data by entering hours in the “User-Defined </a:t>
            </a:r>
            <a:r>
              <a:rPr lang="en-US" sz="1600" dirty="0"/>
              <a:t>H</a:t>
            </a:r>
            <a:r>
              <a:rPr lang="en-US" sz="1600" dirty="0" smtClean="0"/>
              <a:t>ours” column.</a:t>
            </a:r>
          </a:p>
          <a:p>
            <a:pPr lvl="1"/>
            <a:r>
              <a:rPr lang="en-US" sz="1600" dirty="0" smtClean="0"/>
              <a:t>The user can select each phase in the below table to access the metrics associated with it; however, these pages are protected and the user can not edit the values in this tab.</a:t>
            </a:r>
            <a:endParaRPr lang="en-US" sz="1600" dirty="0"/>
          </a:p>
        </p:txBody>
      </p:sp>
      <p:sp>
        <p:nvSpPr>
          <p:cNvPr id="2" name="Title 1"/>
          <p:cNvSpPr>
            <a:spLocks noGrp="1"/>
          </p:cNvSpPr>
          <p:nvPr>
            <p:ph type="title"/>
          </p:nvPr>
        </p:nvSpPr>
        <p:spPr/>
        <p:txBody>
          <a:bodyPr/>
          <a:lstStyle/>
          <a:p>
            <a:r>
              <a:rPr lang="en-US" dirty="0" smtClean="0"/>
              <a:t>Metrics</a:t>
            </a:r>
            <a:endParaRPr lang="en-US" dirty="0"/>
          </a:p>
        </p:txBody>
      </p:sp>
      <p:pic>
        <p:nvPicPr>
          <p:cNvPr id="8196"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36270" y="3449255"/>
            <a:ext cx="7086242" cy="27243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8472598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sz="quarter" idx="12"/>
          </p:nvPr>
        </p:nvSpPr>
        <p:spPr>
          <a:xfrm>
            <a:off x="411479" y="1399032"/>
            <a:ext cx="8330184" cy="305943"/>
          </a:xfrm>
        </p:spPr>
        <p:txBody>
          <a:bodyPr/>
          <a:lstStyle/>
          <a:p>
            <a:r>
              <a:rPr lang="en-US" sz="1600" dirty="0"/>
              <a:t>Below is the design, </a:t>
            </a:r>
            <a:r>
              <a:rPr lang="en-US" sz="1600" dirty="0" smtClean="0"/>
              <a:t>development, and </a:t>
            </a:r>
            <a:r>
              <a:rPr lang="en-US" sz="1600" dirty="0"/>
              <a:t>unit test hours for some of the Java objects.</a:t>
            </a:r>
          </a:p>
        </p:txBody>
      </p:sp>
      <p:sp>
        <p:nvSpPr>
          <p:cNvPr id="2" name="Title 1"/>
          <p:cNvSpPr>
            <a:spLocks noGrp="1"/>
          </p:cNvSpPr>
          <p:nvPr>
            <p:ph type="title"/>
          </p:nvPr>
        </p:nvSpPr>
        <p:spPr>
          <a:xfrm>
            <a:off x="414338" y="450279"/>
            <a:ext cx="8330184" cy="333425"/>
          </a:xfrm>
        </p:spPr>
        <p:txBody>
          <a:bodyPr/>
          <a:lstStyle/>
          <a:p>
            <a:r>
              <a:rPr lang="en-US" dirty="0" smtClean="0">
                <a:solidFill>
                  <a:schemeClr val="accent1"/>
                </a:solidFill>
              </a:rPr>
              <a:t>Metrics (cont.)</a:t>
            </a:r>
            <a:endParaRPr lang="en-US" dirty="0">
              <a:solidFill>
                <a:schemeClr val="accent1"/>
              </a:solidFill>
            </a:endParaRPr>
          </a:p>
        </p:txBody>
      </p:sp>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829" b="2027"/>
          <a:stretch/>
        </p:blipFill>
        <p:spPr bwMode="auto">
          <a:xfrm>
            <a:off x="357217" y="2017486"/>
            <a:ext cx="8440835" cy="36285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9849247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Admin Tab</a:t>
            </a:r>
            <a:endParaRPr lang="en-US" dirty="0"/>
          </a:p>
        </p:txBody>
      </p:sp>
    </p:spTree>
    <p:extLst>
      <p:ext uri="{BB962C8B-B14F-4D97-AF65-F5344CB8AC3E}">
        <p14:creationId xmlns:p14="http://schemas.microsoft.com/office/powerpoint/2010/main" xmlns="" val="701753974"/>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50279"/>
            <a:ext cx="8330184" cy="333425"/>
          </a:xfrm>
        </p:spPr>
        <p:txBody>
          <a:bodyPr/>
          <a:lstStyle/>
          <a:p>
            <a:r>
              <a:rPr lang="en-US" dirty="0" smtClean="0"/>
              <a:t> Admin Tab</a:t>
            </a:r>
            <a:endParaRPr lang="en-US" dirty="0"/>
          </a:p>
        </p:txBody>
      </p:sp>
      <p:sp>
        <p:nvSpPr>
          <p:cNvPr id="9" name="Slide Number Placeholder 8"/>
          <p:cNvSpPr>
            <a:spLocks noGrp="1"/>
          </p:cNvSpPr>
          <p:nvPr>
            <p:ph type="sldNum" sz="quarter" idx="4294967295"/>
          </p:nvPr>
        </p:nvSpPr>
        <p:spPr>
          <a:xfrm>
            <a:off x="7010400" y="6492875"/>
            <a:ext cx="2133600" cy="365125"/>
          </a:xfrm>
          <a:prstGeom prst="rect">
            <a:avLst/>
          </a:prstGeom>
        </p:spPr>
        <p:txBody>
          <a:bodyPr/>
          <a:lstStyle/>
          <a:p>
            <a:fld id="{5D735C3C-4A40-4819-AB96-022ADC1715F5}" type="slidenum">
              <a:rPr lang="en-US" smtClean="0">
                <a:solidFill>
                  <a:prstClr val="black">
                    <a:tint val="75000"/>
                  </a:prstClr>
                </a:solidFill>
              </a:rPr>
              <a:pPr/>
              <a:t>55</a:t>
            </a:fld>
            <a:endParaRPr lang="en-US" dirty="0">
              <a:solidFill>
                <a:prstClr val="black">
                  <a:tint val="75000"/>
                </a:prstClr>
              </a:solidFill>
            </a:endParaRPr>
          </a:p>
        </p:txBody>
      </p:sp>
      <p:pic>
        <p:nvPicPr>
          <p:cNvPr id="5" name="Picture 2"/>
          <p:cNvPicPr>
            <a:picLocks noChangeAspect="1" noChangeArrowheads="1"/>
          </p:cNvPicPr>
          <p:nvPr/>
        </p:nvPicPr>
        <p:blipFill rotWithShape="1">
          <a:blip r:embed="rId2" cstate="print"/>
          <a:srcRect r="476"/>
          <a:stretch/>
        </p:blipFill>
        <p:spPr bwMode="auto">
          <a:xfrm>
            <a:off x="404813" y="1400175"/>
            <a:ext cx="8340725" cy="4811848"/>
          </a:xfrm>
          <a:prstGeom prst="rect">
            <a:avLst/>
          </a:prstGeom>
          <a:noFill/>
          <a:ln w="9525">
            <a:noFill/>
            <a:miter lim="800000"/>
            <a:headEnd/>
            <a:tailEnd/>
          </a:ln>
        </p:spPr>
      </p:pic>
      <p:sp>
        <p:nvSpPr>
          <p:cNvPr id="6" name="TextBox 5"/>
          <p:cNvSpPr txBox="1"/>
          <p:nvPr/>
        </p:nvSpPr>
        <p:spPr>
          <a:xfrm>
            <a:off x="1600200" y="1442740"/>
            <a:ext cx="2286000"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From “Menu” tab, click on </a:t>
            </a:r>
          </a:p>
          <a:p>
            <a:r>
              <a:rPr lang="en-US" dirty="0">
                <a:cs typeface="Arial" pitchFamily="34" charset="0"/>
              </a:rPr>
              <a:t>“Admin” button</a:t>
            </a:r>
          </a:p>
        </p:txBody>
      </p:sp>
      <p:cxnSp>
        <p:nvCxnSpPr>
          <p:cNvPr id="7" name="Straight Connector 6"/>
          <p:cNvCxnSpPr>
            <a:stCxn id="6" idx="2"/>
          </p:cNvCxnSpPr>
          <p:nvPr/>
        </p:nvCxnSpPr>
        <p:spPr bwMode="auto">
          <a:xfrm flipH="1">
            <a:off x="962025" y="1904405"/>
            <a:ext cx="1781175" cy="876895"/>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sp>
        <p:nvSpPr>
          <p:cNvPr id="8" name="Line Callout 1 7"/>
          <p:cNvSpPr>
            <a:spLocks noChangeAspect="1"/>
          </p:cNvSpPr>
          <p:nvPr/>
        </p:nvSpPr>
        <p:spPr bwMode="auto">
          <a:xfrm flipV="1">
            <a:off x="8151018" y="6212023"/>
            <a:ext cx="747713" cy="230832"/>
          </a:xfrm>
          <a:prstGeom prst="borderCallout1">
            <a:avLst>
              <a:gd name="adj1" fmla="val 51093"/>
              <a:gd name="adj2" fmla="val 0"/>
              <a:gd name="adj3" fmla="val -60483"/>
              <a:gd name="adj4" fmla="val -15145"/>
            </a:avLst>
          </a:prstGeom>
          <a:solidFill>
            <a:srgbClr val="FFFFFF"/>
          </a:solidFill>
          <a:ln w="9525">
            <a:solidFill>
              <a:srgbClr val="000000"/>
            </a:solidFill>
            <a:miter lim="800000"/>
            <a:headEnd/>
            <a:tailEnd/>
          </a:ln>
        </p:spPr>
        <p:txBody>
          <a:bodyPr rot="0" vert="horz" wrap="square" lIns="91440" tIns="45720" rIns="91440" bIns="45720" anchor="t" anchorCtr="0" upright="1">
            <a:spAutoFit/>
          </a:bodyPr>
          <a:lstStyle/>
          <a:p>
            <a:pPr marL="0" marR="0" algn="l">
              <a:spcBef>
                <a:spcPts val="0"/>
              </a:spcBef>
              <a:spcAft>
                <a:spcPts val="0"/>
              </a:spcAft>
            </a:pPr>
            <a:r>
              <a:rPr lang="en-US" sz="900" b="0" dirty="0" smtClean="0">
                <a:solidFill>
                  <a:srgbClr val="000308"/>
                </a:solidFill>
                <a:effectLst/>
                <a:latin typeface="Times New Roman"/>
                <a:ea typeface="Times New Roman"/>
              </a:rPr>
              <a:t>Delete “55”</a:t>
            </a:r>
            <a:endParaRPr lang="en-US" sz="900" b="0" dirty="0">
              <a:solidFill>
                <a:srgbClr val="000308"/>
              </a:solidFill>
              <a:effectLst/>
              <a:latin typeface="Times New Roman"/>
              <a:ea typeface="Times New Roman"/>
            </a:endParaRPr>
          </a:p>
        </p:txBody>
      </p:sp>
    </p:spTree>
    <p:extLst>
      <p:ext uri="{BB962C8B-B14F-4D97-AF65-F5344CB8AC3E}">
        <p14:creationId xmlns:p14="http://schemas.microsoft.com/office/powerpoint/2010/main" xmlns="" val="138591218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50279"/>
            <a:ext cx="8330184" cy="333425"/>
          </a:xfrm>
        </p:spPr>
        <p:txBody>
          <a:bodyPr/>
          <a:lstStyle/>
          <a:p>
            <a:r>
              <a:rPr lang="en-US" dirty="0" smtClean="0"/>
              <a:t>Admin Tab </a:t>
            </a:r>
            <a:r>
              <a:rPr lang="en-US" b="0" dirty="0">
                <a:solidFill>
                  <a:srgbClr val="000308"/>
                </a:solidFill>
                <a:latin typeface="Times New Roman"/>
                <a:ea typeface="Times New Roman"/>
              </a:rPr>
              <a:t>— </a:t>
            </a:r>
            <a:r>
              <a:rPr lang="en-US" dirty="0" smtClean="0"/>
              <a:t>Hide or Unhide all </a:t>
            </a:r>
            <a:r>
              <a:rPr lang="en-US" dirty="0"/>
              <a:t>T</a:t>
            </a:r>
            <a:r>
              <a:rPr lang="en-US" dirty="0" smtClean="0"/>
              <a:t>abs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04813" y="1400175"/>
            <a:ext cx="8340725" cy="4777530"/>
          </a:xfrm>
          <a:prstGeom prst="rect">
            <a:avLst/>
          </a:prstGeom>
          <a:noFill/>
          <a:ln w="9525">
            <a:noFill/>
            <a:miter lim="800000"/>
            <a:headEnd/>
            <a:tailEnd/>
          </a:ln>
        </p:spPr>
      </p:pic>
      <p:sp>
        <p:nvSpPr>
          <p:cNvPr id="8" name="TextBox 7"/>
          <p:cNvSpPr txBox="1"/>
          <p:nvPr/>
        </p:nvSpPr>
        <p:spPr>
          <a:xfrm>
            <a:off x="3019425" y="1504950"/>
            <a:ext cx="2743200"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smtClean="0">
                <a:cs typeface="Arial" pitchFamily="34" charset="0"/>
              </a:rPr>
              <a:t>Click Hide </a:t>
            </a:r>
            <a:r>
              <a:rPr lang="en-US" dirty="0">
                <a:cs typeface="Arial" pitchFamily="34" charset="0"/>
              </a:rPr>
              <a:t>All or Unhide All to </a:t>
            </a:r>
            <a:r>
              <a:rPr lang="en-US" dirty="0" smtClean="0">
                <a:cs typeface="Arial" pitchFamily="34" charset="0"/>
              </a:rPr>
              <a:t>hide/unhide </a:t>
            </a:r>
            <a:r>
              <a:rPr lang="en-US" dirty="0">
                <a:cs typeface="Arial" pitchFamily="34" charset="0"/>
              </a:rPr>
              <a:t>all </a:t>
            </a:r>
            <a:r>
              <a:rPr lang="en-US" dirty="0" smtClean="0">
                <a:cs typeface="Arial" pitchFamily="34" charset="0"/>
              </a:rPr>
              <a:t>tabs</a:t>
            </a:r>
            <a:r>
              <a:rPr lang="en-US" dirty="0">
                <a:cs typeface="Arial" pitchFamily="34" charset="0"/>
              </a:rPr>
              <a:t>. </a:t>
            </a:r>
          </a:p>
        </p:txBody>
      </p:sp>
      <p:cxnSp>
        <p:nvCxnSpPr>
          <p:cNvPr id="9" name="Straight Connector 8"/>
          <p:cNvCxnSpPr>
            <a:stCxn id="8" idx="2"/>
          </p:cNvCxnSpPr>
          <p:nvPr/>
        </p:nvCxnSpPr>
        <p:spPr bwMode="auto">
          <a:xfrm>
            <a:off x="4391025" y="1966615"/>
            <a:ext cx="685800" cy="2464708"/>
          </a:xfrm>
          <a:prstGeom prst="line">
            <a:avLst/>
          </a:prstGeom>
          <a:solidFill>
            <a:schemeClr val="accent1"/>
          </a:solidFill>
          <a:ln w="28575" cap="flat" cmpd="sng" algn="ctr">
            <a:solidFill>
              <a:schemeClr val="tx1"/>
            </a:solidFill>
            <a:prstDash val="solid"/>
            <a:round/>
            <a:headEnd type="none" w="med" len="med"/>
            <a:tailEnd type="arrow" w="med" len="med"/>
          </a:ln>
          <a:effectLst/>
        </p:spPr>
      </p:cxnSp>
      <p:sp>
        <p:nvSpPr>
          <p:cNvPr id="26" name="TextBox 25"/>
          <p:cNvSpPr txBox="1"/>
          <p:nvPr/>
        </p:nvSpPr>
        <p:spPr>
          <a:xfrm>
            <a:off x="585788" y="1504950"/>
            <a:ext cx="2057400" cy="461665"/>
          </a:xfrm>
          <a:prstGeom prst="rect">
            <a:avLst/>
          </a:prstGeom>
          <a:solidFill>
            <a:schemeClr val="accent3"/>
          </a:solidFill>
          <a:ln w="38100">
            <a:solidFill>
              <a:srgbClr val="92D400"/>
            </a:solidFill>
          </a:ln>
        </p:spPr>
        <p:txBody>
          <a:bodyPr wrap="square" rtlCol="0">
            <a:spAutoFit/>
          </a:bodyPr>
          <a:lstStyle>
            <a:defPPr>
              <a:defRPr lang="en-US"/>
            </a:defPPr>
            <a:lvl1pPr marL="0" indent="0" algn="l" fontAlgn="auto">
              <a:spcBef>
                <a:spcPts val="0"/>
              </a:spcBef>
              <a:spcAft>
                <a:spcPts val="0"/>
              </a:spcAft>
              <a:defRPr sz="1200">
                <a:solidFill>
                  <a:schemeClr val="bg1"/>
                </a:solidFill>
                <a:latin typeface="+mj-lt"/>
                <a:cs typeface="Calibri" pitchFamily="34" charset="0"/>
              </a:defRPr>
            </a:lvl1pPr>
          </a:lstStyle>
          <a:p>
            <a:r>
              <a:rPr lang="en-US" dirty="0">
                <a:cs typeface="Arial" pitchFamily="34" charset="0"/>
              </a:rPr>
              <a:t>Click on “Menu” button </a:t>
            </a:r>
          </a:p>
          <a:p>
            <a:r>
              <a:rPr lang="en-US" dirty="0">
                <a:cs typeface="Arial" pitchFamily="34" charset="0"/>
              </a:rPr>
              <a:t>to go to a specific </a:t>
            </a:r>
            <a:r>
              <a:rPr lang="en-US" dirty="0" smtClean="0">
                <a:cs typeface="Arial" pitchFamily="34" charset="0"/>
              </a:rPr>
              <a:t>tab.</a:t>
            </a:r>
            <a:endParaRPr lang="en-US" dirty="0">
              <a:cs typeface="Arial" pitchFamily="34" charset="0"/>
            </a:endParaRPr>
          </a:p>
        </p:txBody>
      </p:sp>
      <p:cxnSp>
        <p:nvCxnSpPr>
          <p:cNvPr id="27" name="Straight Connector 26"/>
          <p:cNvCxnSpPr>
            <a:stCxn id="26" idx="2"/>
          </p:cNvCxnSpPr>
          <p:nvPr/>
        </p:nvCxnSpPr>
        <p:spPr bwMode="auto">
          <a:xfrm flipH="1">
            <a:off x="1152526" y="1966615"/>
            <a:ext cx="461962" cy="1319510"/>
          </a:xfrm>
          <a:prstGeom prst="line">
            <a:avLst/>
          </a:prstGeom>
          <a:solidFill>
            <a:schemeClr val="accent1"/>
          </a:solidFill>
          <a:ln w="28575" cap="flat" cmpd="sng" algn="ctr">
            <a:solidFill>
              <a:schemeClr val="accent1"/>
            </a:solidFill>
            <a:prstDash val="solid"/>
            <a:round/>
            <a:headEnd type="none" w="med" len="med"/>
            <a:tailEnd type="arrow" w="med" len="med"/>
          </a:ln>
          <a:effectLst/>
        </p:spPr>
      </p:cxnSp>
      <p:cxnSp>
        <p:nvCxnSpPr>
          <p:cNvPr id="10" name="Straight Connector 9"/>
          <p:cNvCxnSpPr>
            <a:stCxn id="8" idx="2"/>
          </p:cNvCxnSpPr>
          <p:nvPr/>
        </p:nvCxnSpPr>
        <p:spPr bwMode="auto">
          <a:xfrm>
            <a:off x="4391025" y="1966615"/>
            <a:ext cx="2390775" cy="2464708"/>
          </a:xfrm>
          <a:prstGeom prst="line">
            <a:avLst/>
          </a:prstGeom>
          <a:solidFill>
            <a:schemeClr val="accent1"/>
          </a:solidFill>
          <a:ln w="28575" cap="flat" cmpd="sng" algn="ctr">
            <a:solidFill>
              <a:schemeClr val="tx1"/>
            </a:solidFill>
            <a:prstDash val="solid"/>
            <a:round/>
            <a:headEnd type="none" w="med" len="med"/>
            <a:tailEnd type="arrow" w="med" len="med"/>
          </a:ln>
          <a:effectLst/>
        </p:spPr>
      </p:cxnSp>
    </p:spTree>
    <p:extLst>
      <p:ext uri="{BB962C8B-B14F-4D97-AF65-F5344CB8AC3E}">
        <p14:creationId xmlns:p14="http://schemas.microsoft.com/office/powerpoint/2010/main" xmlns="" val="90429597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bwMode="gray">
          <a:xfrm>
            <a:off x="402336" y="6286500"/>
            <a:ext cx="5244084" cy="324612"/>
          </a:xfrm>
        </p:spPr>
        <p:txBody>
          <a:bodyPr/>
          <a:lstStyle/>
          <a:p>
            <a:pPr lvl="0">
              <a:lnSpc>
                <a:spcPts val="900"/>
              </a:lnSpc>
            </a:pPr>
            <a:r>
              <a:rPr lang="en-US" dirty="0" smtClean="0"/>
              <a:t/>
            </a:r>
            <a:br>
              <a:rPr lang="en-US" dirty="0" smtClean="0"/>
            </a:br>
            <a:r>
              <a:rPr lang="en-US" dirty="0" smtClean="0"/>
              <a:t/>
            </a:r>
            <a:br>
              <a:rPr lang="en-US" dirty="0" smtClean="0"/>
            </a:br>
            <a:r>
              <a:rPr lang="en-US" dirty="0" smtClean="0"/>
              <a:t>Copyright © 2011 Deloitte Development LLC. All rights reserved.</a:t>
            </a:r>
            <a:br>
              <a:rPr lang="en-US" dirty="0" smtClean="0"/>
            </a:br>
            <a:r>
              <a:rPr lang="en-US" dirty="0" smtClean="0"/>
              <a:t>Member of Deloitte Touche Tohmatsu Limited</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loitte Screen Medium US07 3May11">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2"/>
          </a:solidFill>
        </a:ln>
      </a:spPr>
      <a:bodyPr rtlCol="0" anchor="ctr"/>
      <a:lstStyle>
        <a:defPPr algn="ctr">
          <a:defRPr sz="2000" b="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themeOverride>
</file>

<file path=docProps/app.xml><?xml version="1.0" encoding="utf-8"?>
<Properties xmlns="http://schemas.openxmlformats.org/officeDocument/2006/extended-properties" xmlns:vt="http://schemas.openxmlformats.org/officeDocument/2006/docPropsVTypes">
  <Template>Deloitte Screen Medium US07 3May11</Template>
  <TotalTime>0</TotalTime>
  <Words>4693</Words>
  <Application>Microsoft Office PowerPoint</Application>
  <PresentationFormat>On-screen Show (4:3)</PresentationFormat>
  <Paragraphs>554</Paragraphs>
  <Slides>58</Slides>
  <Notes>16</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Deloitte Screen Medium US07 3May11</vt:lpstr>
      <vt:lpstr>SI Project Estimator Prototype  User Guide for SI  Practitioners</vt:lpstr>
      <vt:lpstr>Contents</vt:lpstr>
      <vt:lpstr>Goals and Objectives</vt:lpstr>
      <vt:lpstr>Goals and Objectives of SI Project Estimator Prototype</vt:lpstr>
      <vt:lpstr>Detailed Estimation Process</vt:lpstr>
      <vt:lpstr>Overview</vt:lpstr>
      <vt:lpstr>Set up Project</vt:lpstr>
      <vt:lpstr>Define Estimation Scope</vt:lpstr>
      <vt:lpstr>Fixed Resources</vt:lpstr>
      <vt:lpstr>Select Phase Deliverables</vt:lpstr>
      <vt:lpstr>Define System Objects</vt:lpstr>
      <vt:lpstr>Define Testing Requirements</vt:lpstr>
      <vt:lpstr>Summary</vt:lpstr>
      <vt:lpstr>Detailed Process Overview</vt:lpstr>
      <vt:lpstr>Detailed Process Overview</vt:lpstr>
      <vt:lpstr>Prototype Overview</vt:lpstr>
      <vt:lpstr>Menu</vt:lpstr>
      <vt:lpstr>Project Details</vt:lpstr>
      <vt:lpstr>Project Details (cont.)</vt:lpstr>
      <vt:lpstr>Estimation Scope</vt:lpstr>
      <vt:lpstr>Estimation Scope (cont.)</vt:lpstr>
      <vt:lpstr>Fixed Resources</vt:lpstr>
      <vt:lpstr>Fixed Resources (cont.)</vt:lpstr>
      <vt:lpstr>Fixed Resources (cont.)</vt:lpstr>
      <vt:lpstr>Fixed Resources Limitation</vt:lpstr>
      <vt:lpstr>Fixed Resources Limitation (cont.)</vt:lpstr>
      <vt:lpstr>Fixed Resources Limitation (cont.)</vt:lpstr>
      <vt:lpstr>Entering Details of Standard Deliverables</vt:lpstr>
      <vt:lpstr>Entering Details of Standard Deliverables (cont.)</vt:lpstr>
      <vt:lpstr>Entering Details of Standard Deliverables (cont.)</vt:lpstr>
      <vt:lpstr>Add User Defined Deliverable to a Discipline</vt:lpstr>
      <vt:lpstr>Entering Details of User Defined Deliverables</vt:lpstr>
      <vt:lpstr>Initiate and Plan</vt:lpstr>
      <vt:lpstr>Manage </vt:lpstr>
      <vt:lpstr>Define</vt:lpstr>
      <vt:lpstr>Design</vt:lpstr>
      <vt:lpstr>Develop</vt:lpstr>
      <vt:lpstr>Develop (cont.)</vt:lpstr>
      <vt:lpstr>Entering Details of Develop</vt:lpstr>
      <vt:lpstr>Entering Details of Develop (cont.)</vt:lpstr>
      <vt:lpstr>Entering Details of Develop (cont.)</vt:lpstr>
      <vt:lpstr>Entering Details of Develop (cont.) </vt:lpstr>
      <vt:lpstr>Testing</vt:lpstr>
      <vt:lpstr>Testing (cont.)</vt:lpstr>
      <vt:lpstr>Testing (cont.)</vt:lpstr>
      <vt:lpstr>Deploy </vt:lpstr>
      <vt:lpstr>Close  </vt:lpstr>
      <vt:lpstr>Summary</vt:lpstr>
      <vt:lpstr>Summary (cont.)</vt:lpstr>
      <vt:lpstr>Summary (cont.)</vt:lpstr>
      <vt:lpstr>Dashboard Views: Added in the Summary tab</vt:lpstr>
      <vt:lpstr>Dashboard Views: Added in the Summary tab (cont.)</vt:lpstr>
      <vt:lpstr>Metrics</vt:lpstr>
      <vt:lpstr>Metrics (cont.)</vt:lpstr>
      <vt:lpstr>Admin Tab</vt:lpstr>
      <vt:lpstr> Admin Tab</vt:lpstr>
      <vt:lpstr>Admin Tab — Hide or Unhide all Tabs</vt:lpstr>
      <vt:lpstr>Slide 57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2011-11-29T11:09:13Z</dcterms:created>
  <dcterms:modified xsi:type="dcterms:W3CDTF">2012-03-12T07:28:30Z</dcterms:modified>
</cp:coreProperties>
</file>